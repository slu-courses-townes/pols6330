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85" r:id="rId1"/>
  </p:sldMasterIdLst>
  <p:notesMasterIdLst>
    <p:notesMasterId r:id="rId18"/>
  </p:notesMasterIdLst>
  <p:sldIdLst>
    <p:sldId id="256" r:id="rId2"/>
    <p:sldId id="258" r:id="rId3"/>
    <p:sldId id="325" r:id="rId4"/>
    <p:sldId id="334" r:id="rId5"/>
    <p:sldId id="326" r:id="rId6"/>
    <p:sldId id="335" r:id="rId7"/>
    <p:sldId id="327" r:id="rId8"/>
    <p:sldId id="336" r:id="rId9"/>
    <p:sldId id="280" r:id="rId10"/>
    <p:sldId id="328" r:id="rId11"/>
    <p:sldId id="278" r:id="rId12"/>
    <p:sldId id="330" r:id="rId13"/>
    <p:sldId id="331" r:id="rId14"/>
    <p:sldId id="337" r:id="rId15"/>
    <p:sldId id="332" r:id="rId16"/>
    <p:sldId id="32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5F4FF4-BB63-45FB-EC4D-DE7644D66AC5}" v="381" dt="2020-02-03T20:32:17.9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65" autoAdjust="0"/>
    <p:restoredTop sz="94637"/>
  </p:normalViewPr>
  <p:slideViewPr>
    <p:cSldViewPr snapToGrid="0">
      <p:cViewPr varScale="1">
        <p:scale>
          <a:sx n="108" d="100"/>
          <a:sy n="108" d="100"/>
        </p:scale>
        <p:origin x="488" y="192"/>
      </p:cViewPr>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p:scale>
          <a:sx n="155" d="100"/>
          <a:sy n="155" d="100"/>
        </p:scale>
        <p:origin x="2432" y="-176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DCDD20-1DA4-4948-A45E-B4EAF1C8F7EC}" type="datetimeFigureOut">
              <a:rPr lang="en-US"/>
              <a:t>2/24/2020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5F53B2-A49D-4A37-9E56-F75F47C17036}" type="slidenum">
              <a:rPr lang="en-US"/>
              <a:t>‹#›</a:t>
            </a:fld>
            <a:endParaRPr lang="en-US"/>
          </a:p>
        </p:txBody>
      </p:sp>
    </p:spTree>
    <p:extLst>
      <p:ext uri="{BB962C8B-B14F-4D97-AF65-F5344CB8AC3E}">
        <p14:creationId xmlns:p14="http://schemas.microsoft.com/office/powerpoint/2010/main" val="13028334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B5F53B2-A49D-4A37-9E56-F75F47C17036}" type="slidenum">
              <a:rPr lang="en-US" smtClean="0"/>
              <a:t>2</a:t>
            </a:fld>
            <a:endParaRPr lang="en-US"/>
          </a:p>
        </p:txBody>
      </p:sp>
    </p:spTree>
    <p:extLst>
      <p:ext uri="{BB962C8B-B14F-4D97-AF65-F5344CB8AC3E}">
        <p14:creationId xmlns:p14="http://schemas.microsoft.com/office/powerpoint/2010/main" val="8256459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2" eaLnBrk="1" hangingPunct="1"/>
            <a:r>
              <a:rPr lang="en-US" altLang="en-US" sz="900" b="1" dirty="0">
                <a:ea typeface="ＭＳ Ｐゴシック" pitchFamily="34" charset="-128"/>
              </a:rPr>
              <a:t>THE UTILITY POSSIBILITIES CURVE</a:t>
            </a:r>
          </a:p>
          <a:p>
            <a:pPr marL="0" lvl="2" eaLnBrk="1" hangingPunct="1"/>
            <a:r>
              <a:rPr lang="en-US" altLang="en-US" sz="900" dirty="0">
                <a:ea typeface="ＭＳ Ｐゴシック" pitchFamily="34" charset="-128"/>
              </a:rPr>
              <a:t>The utility possibilities curve gives the maximum level of utility that one individual (Friday) can achieve, given the level of utility of the other individual (Crusoe). Along the frontier, it is not possible for Crusoe to consume more unless Friday consumes less. Therefore, the utility possibilities curve is downward sloping: the higher Crusoe’s utility, the lower the maximum level of Friday’s utility.</a:t>
            </a:r>
          </a:p>
          <a:p>
            <a:pPr marL="0" lvl="2"/>
            <a:endParaRPr lang="en-US" altLang="en-US" sz="900" dirty="0">
              <a:ea typeface="ＭＳ Ｐゴシック" pitchFamily="34" charset="-128"/>
              <a:cs typeface="Calibri"/>
            </a:endParaRPr>
          </a:p>
          <a:p>
            <a:pPr marL="0" lvl="2"/>
            <a:r>
              <a:rPr lang="en-US" altLang="en-US" sz="900">
                <a:ea typeface="ＭＳ Ｐゴシック"/>
                <a:cs typeface="Calibri"/>
              </a:rPr>
              <a:t>Later on, comparing utility for 2 or more commodities. </a:t>
            </a:r>
            <a:endParaRPr lang="en-US" altLang="en-US" sz="900" dirty="0">
              <a:ea typeface="ＭＳ Ｐゴシック" pitchFamily="34" charset="-128"/>
              <a:cs typeface="Calibri"/>
            </a:endParaRPr>
          </a:p>
        </p:txBody>
      </p:sp>
      <p:sp>
        <p:nvSpPr>
          <p:cNvPr id="1024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85702A48-5BCC-4D44-9458-2BC76956E289}" type="slidenum">
              <a:rPr lang="en-US" altLang="en-US" sz="1200"/>
              <a:pPr/>
              <a:t>3</a:t>
            </a:fld>
            <a:endParaRPr lang="en-US" altLang="en-US" sz="1200"/>
          </a:p>
        </p:txBody>
      </p:sp>
    </p:spTree>
    <p:extLst>
      <p:ext uri="{BB962C8B-B14F-4D97-AF65-F5344CB8AC3E}">
        <p14:creationId xmlns:p14="http://schemas.microsoft.com/office/powerpoint/2010/main" val="38316918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example:</a:t>
            </a:r>
          </a:p>
          <a:p>
            <a:r>
              <a:rPr lang="en-US" dirty="0"/>
              <a:t>Tom has $1,000 to spend on movies or going to bars.</a:t>
            </a:r>
          </a:p>
          <a:p>
            <a:r>
              <a:rPr lang="en-US" dirty="0"/>
              <a:t>Linda has $500 to spend on eating in or eating out.</a:t>
            </a:r>
          </a:p>
          <a:p>
            <a:endParaRPr lang="en-US" dirty="0"/>
          </a:p>
          <a:p>
            <a:r>
              <a:rPr lang="en-US" dirty="0"/>
              <a:t>Each of these activities provides each individual with a certain number of </a:t>
            </a:r>
            <a:r>
              <a:rPr lang="en-US" dirty="0" err="1"/>
              <a:t>utils</a:t>
            </a:r>
            <a:r>
              <a:rPr lang="en-US" dirty="0"/>
              <a:t>, which represents the satisfaction the individual derives from the activity.</a:t>
            </a:r>
          </a:p>
        </p:txBody>
      </p:sp>
      <p:sp>
        <p:nvSpPr>
          <p:cNvPr id="4" name="Slide Number Placeholder 3"/>
          <p:cNvSpPr>
            <a:spLocks noGrp="1"/>
          </p:cNvSpPr>
          <p:nvPr>
            <p:ph type="sldNum" sz="quarter" idx="5"/>
          </p:nvPr>
        </p:nvSpPr>
        <p:spPr/>
        <p:txBody>
          <a:bodyPr/>
          <a:lstStyle/>
          <a:p>
            <a:fld id="{EB5F53B2-A49D-4A37-9E56-F75F47C17036}" type="slidenum">
              <a:rPr lang="en-US" smtClean="0"/>
              <a:t>4</a:t>
            </a:fld>
            <a:endParaRPr lang="en-US"/>
          </a:p>
        </p:txBody>
      </p:sp>
    </p:spTree>
    <p:extLst>
      <p:ext uri="{BB962C8B-B14F-4D97-AF65-F5344CB8AC3E}">
        <p14:creationId xmlns:p14="http://schemas.microsoft.com/office/powerpoint/2010/main" val="33461543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2" eaLnBrk="1" hangingPunct="1"/>
            <a:r>
              <a:rPr lang="en-US" altLang="en-US" sz="900" b="1" dirty="0">
                <a:ea typeface="ＭＳ Ｐゴシック" pitchFamily="34" charset="-128"/>
              </a:rPr>
              <a:t>CRUSOE’S BUDGET CONSTRAINT</a:t>
            </a:r>
          </a:p>
          <a:p>
            <a:pPr marL="0" lvl="2" eaLnBrk="1" hangingPunct="1"/>
            <a:endParaRPr lang="en-US" altLang="en-US" sz="900" dirty="0">
              <a:ea typeface="ＭＳ Ｐゴシック" pitchFamily="34" charset="-128"/>
            </a:endParaRPr>
          </a:p>
          <a:p>
            <a:pPr marL="0" lvl="2"/>
            <a:r>
              <a:rPr lang="en-US" sz="900" dirty="0"/>
              <a:t>In a budget constraint line, the quantity of one good is measured on the horizontal axis and the quantity of the other good is measured on the vertical axis. The budget constraint line shows the various combinations of two goods that are affordable given consumer income.</a:t>
            </a:r>
          </a:p>
          <a:p>
            <a:pPr marL="0" lvl="2"/>
            <a:endParaRPr lang="en-US" altLang="en-US" sz="900" dirty="0">
              <a:ea typeface="ＭＳ Ｐゴシック" pitchFamily="34" charset="-128"/>
            </a:endParaRPr>
          </a:p>
          <a:p>
            <a:pPr marL="0" lvl="2" eaLnBrk="1" hangingPunct="1"/>
            <a:r>
              <a:rPr lang="en-US" altLang="en-US" sz="900" dirty="0">
                <a:ea typeface="ＭＳ Ｐゴシック" pitchFamily="34" charset="-128"/>
              </a:rPr>
              <a:t>Given income of $100, the price of oranges of $2, and the price of apples of $1, an individual can purchase any combination of apples and oranges along or to the left of the budget constraint. Any combination to the right of the budget constraint is unaffordable. The slope of the budget constraint is based on the relative price of oranges and apples.</a:t>
            </a:r>
          </a:p>
          <a:p>
            <a:pPr marL="0" lvl="2" eaLnBrk="1" hangingPunct="1"/>
            <a:endParaRPr lang="en-US" altLang="en-US" sz="900" dirty="0">
              <a:ea typeface="ＭＳ Ｐゴシック" pitchFamily="34" charset="-128"/>
            </a:endParaRPr>
          </a:p>
          <a:p>
            <a:pPr marL="0" lvl="2" eaLnBrk="1" hangingPunct="1"/>
            <a:r>
              <a:rPr lang="en-US" altLang="en-US" sz="900" dirty="0">
                <a:ea typeface="ＭＳ Ｐゴシック" pitchFamily="34" charset="-128"/>
              </a:rPr>
              <a:t>Examples:</a:t>
            </a:r>
          </a:p>
          <a:p>
            <a:pPr marL="0" lvl="2" eaLnBrk="1" hangingPunct="1"/>
            <a:r>
              <a:rPr lang="en-US" altLang="en-US" sz="900" dirty="0">
                <a:ea typeface="ＭＳ Ｐゴシック" pitchFamily="34" charset="-128"/>
              </a:rPr>
              <a:t>If C. wants 100 apples how many oranges can he by? 0</a:t>
            </a:r>
          </a:p>
          <a:p>
            <a:pPr marL="0" lvl="2" eaLnBrk="1" hangingPunct="1"/>
            <a:r>
              <a:rPr lang="en-US" altLang="en-US" sz="900" dirty="0">
                <a:ea typeface="ＭＳ Ｐゴシック" pitchFamily="34" charset="-128"/>
              </a:rPr>
              <a:t>If he wants 10 oranges, how many apples can he buy? 80</a:t>
            </a:r>
          </a:p>
          <a:p>
            <a:pPr marL="0" lvl="2" eaLnBrk="1" hangingPunct="1"/>
            <a:r>
              <a:rPr lang="en-US" altLang="en-US" sz="900" dirty="0">
                <a:ea typeface="ＭＳ Ｐゴシック" pitchFamily="34" charset="-128"/>
              </a:rPr>
              <a:t>If he wants 20 apples, how many oranges can he get? 40</a:t>
            </a:r>
          </a:p>
        </p:txBody>
      </p:sp>
      <p:sp>
        <p:nvSpPr>
          <p:cNvPr id="1229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0EB1FA71-ABEF-4890-BA80-38E262308382}" type="slidenum">
              <a:rPr lang="en-US" altLang="en-US" sz="1200"/>
              <a:pPr/>
              <a:t>5</a:t>
            </a:fld>
            <a:endParaRPr lang="en-US" altLang="en-US" sz="1200"/>
          </a:p>
        </p:txBody>
      </p:sp>
    </p:spTree>
    <p:extLst>
      <p:ext uri="{BB962C8B-B14F-4D97-AF65-F5344CB8AC3E}">
        <p14:creationId xmlns:p14="http://schemas.microsoft.com/office/powerpoint/2010/main" val="30058646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José wishes to choose the combination that will provide him with the greatest </a:t>
            </a:r>
            <a:r>
              <a:rPr lang="en-US" b="1" dirty="0"/>
              <a:t>utility</a:t>
            </a:r>
            <a:r>
              <a:rPr lang="en-US" dirty="0"/>
              <a:t>, which is the term economists use to describe a person’s level of satisfaction or happiness with his or her choices.</a:t>
            </a:r>
          </a:p>
          <a:p>
            <a:endParaRPr lang="en-US" dirty="0"/>
          </a:p>
          <a:p>
            <a:r>
              <a:rPr lang="en-US" dirty="0"/>
              <a:t>Marginal utility diminishes as additional units are consumed, which means that each subsequent unit of a good consumed provides less </a:t>
            </a:r>
            <a:r>
              <a:rPr lang="en-US" i="1" dirty="0"/>
              <a:t>additional</a:t>
            </a:r>
            <a:r>
              <a:rPr lang="en-US" dirty="0"/>
              <a:t> utility. The marginal utility curve is downward sloping.</a:t>
            </a:r>
          </a:p>
          <a:p>
            <a:endParaRPr lang="en-US" dirty="0"/>
          </a:p>
          <a:p>
            <a:r>
              <a:rPr lang="en-US" dirty="0"/>
              <a:t>In simple terms, this means that a consumer’s satisfaction lessens with consumption of each additional unit of something. That decline becomes more marked at a certain point that is different for each person.</a:t>
            </a:r>
          </a:p>
          <a:p>
            <a:endParaRPr lang="en-US" dirty="0"/>
          </a:p>
          <a:p>
            <a:r>
              <a:rPr lang="en-US" dirty="0"/>
              <a:t>Rule for Maximizing Utility—how to get the most “bang for your buck” when choosing goods to consume. In other words, how do you maximize total utility with your budget constraint?</a:t>
            </a:r>
          </a:p>
          <a:p>
            <a:r>
              <a:rPr lang="en-US" dirty="0"/>
              <a:t>The general rule can also be expressed as </a:t>
            </a:r>
            <a:r>
              <a:rPr lang="en-US" i="1" dirty="0"/>
              <a:t>the ratio of the prices of the two goods should be equal to the ratio of the marginal utilities.</a:t>
            </a:r>
          </a:p>
          <a:p>
            <a:r>
              <a:rPr lang="en-US" b="1" dirty="0"/>
              <a:t>This is known as consumer equilibrium</a:t>
            </a:r>
            <a:r>
              <a:rPr lang="en-US" dirty="0"/>
              <a:t>, can be written in algebraic form:</a:t>
            </a:r>
          </a:p>
          <a:p>
            <a:r>
              <a:rPr lang="en-US" dirty="0"/>
              <a:t>P1/P2=MU1/MU2</a:t>
            </a:r>
          </a:p>
          <a:p>
            <a:endParaRPr lang="en-US" dirty="0"/>
          </a:p>
        </p:txBody>
      </p:sp>
      <p:sp>
        <p:nvSpPr>
          <p:cNvPr id="4" name="Slide Number Placeholder 3"/>
          <p:cNvSpPr>
            <a:spLocks noGrp="1"/>
          </p:cNvSpPr>
          <p:nvPr>
            <p:ph type="sldNum" sz="quarter" idx="5"/>
          </p:nvPr>
        </p:nvSpPr>
        <p:spPr/>
        <p:txBody>
          <a:bodyPr/>
          <a:lstStyle/>
          <a:p>
            <a:fld id="{EB5F53B2-A49D-4A37-9E56-F75F47C17036}" type="slidenum">
              <a:rPr lang="en-US" smtClean="0"/>
              <a:t>6</a:t>
            </a:fld>
            <a:endParaRPr lang="en-US"/>
          </a:p>
        </p:txBody>
      </p:sp>
    </p:spTree>
    <p:extLst>
      <p:ext uri="{BB962C8B-B14F-4D97-AF65-F5344CB8AC3E}">
        <p14:creationId xmlns:p14="http://schemas.microsoft.com/office/powerpoint/2010/main" val="7609955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2" eaLnBrk="1" hangingPunct="1"/>
            <a:r>
              <a:rPr lang="en-US" altLang="en-US" sz="900" b="1" dirty="0">
                <a:ea typeface="ＭＳ Ｐゴシック" pitchFamily="34" charset="-128"/>
              </a:rPr>
              <a:t>THE CONSUMER’S CHOICE PROBLEM</a:t>
            </a:r>
          </a:p>
          <a:p>
            <a:pPr marL="0" lvl="2" eaLnBrk="1" hangingPunct="1"/>
            <a:r>
              <a:rPr lang="en-US" altLang="en-US" sz="900" dirty="0">
                <a:ea typeface="ＭＳ Ｐゴシック" pitchFamily="34" charset="-128"/>
              </a:rPr>
              <a:t>The budget constraint gives the combinations of apples and oranges that Crusoe can buy, given his income and given the price of apples and oranges. The indifference curve gives the combinations of apples and oranges among which Crusoe is indifferent. </a:t>
            </a:r>
            <a:r>
              <a:rPr lang="en-US" altLang="en-US" sz="900" i="1" dirty="0">
                <a:ea typeface="ＭＳ Ｐゴシック" pitchFamily="34" charset="-128"/>
              </a:rPr>
              <a:t>A</a:t>
            </a:r>
            <a:r>
              <a:rPr lang="en-US" altLang="en-US" sz="900" dirty="0">
                <a:ea typeface="ＭＳ Ｐゴシック" pitchFamily="34" charset="-128"/>
              </a:rPr>
              <a:t> and </a:t>
            </a:r>
            <a:r>
              <a:rPr lang="en-US" altLang="en-US" sz="900" i="1" dirty="0">
                <a:ea typeface="ＭＳ Ｐゴシック" pitchFamily="34" charset="-128"/>
              </a:rPr>
              <a:t>B</a:t>
            </a:r>
            <a:r>
              <a:rPr lang="en-US" altLang="en-US" sz="900" dirty="0">
                <a:ea typeface="ＭＳ Ｐゴシック" pitchFamily="34" charset="-128"/>
              </a:rPr>
              <a:t> are on the same indifference curve; Crusoe is indifferent between them. Other individuals prefer combinations of apples and oranges that are on a higher indifference curve. Thus, point </a:t>
            </a:r>
            <a:r>
              <a:rPr lang="en-US" altLang="en-US" sz="900" i="1" dirty="0">
                <a:ea typeface="ＭＳ Ｐゴシック" pitchFamily="34" charset="-128"/>
              </a:rPr>
              <a:t>F</a:t>
            </a:r>
            <a:r>
              <a:rPr lang="en-US" altLang="en-US" sz="900" dirty="0">
                <a:ea typeface="ＭＳ Ｐゴシック" pitchFamily="34" charset="-128"/>
              </a:rPr>
              <a:t> is preferred to either </a:t>
            </a:r>
            <a:r>
              <a:rPr lang="en-US" altLang="en-US" sz="900" i="1" dirty="0">
                <a:ea typeface="ＭＳ Ｐゴシック" pitchFamily="34" charset="-128"/>
              </a:rPr>
              <a:t>A</a:t>
            </a:r>
            <a:r>
              <a:rPr lang="en-US" altLang="en-US" sz="900" dirty="0">
                <a:ea typeface="ＭＳ Ｐゴシック" pitchFamily="34" charset="-128"/>
              </a:rPr>
              <a:t> or </a:t>
            </a:r>
            <a:r>
              <a:rPr lang="en-US" altLang="en-US" sz="900" i="1" dirty="0">
                <a:ea typeface="ＭＳ Ｐゴシック" pitchFamily="34" charset="-128"/>
              </a:rPr>
              <a:t>B</a:t>
            </a:r>
            <a:r>
              <a:rPr lang="en-US" altLang="en-US" sz="900" dirty="0">
                <a:ea typeface="ＭＳ Ｐゴシック" pitchFamily="34" charset="-128"/>
              </a:rPr>
              <a:t>. Crusoe chooses the point along the budget constraint that he most prefers; that is, the point at which the indifference curve </a:t>
            </a:r>
            <a:r>
              <a:rPr lang="en-US" altLang="en-US" sz="900" i="1" dirty="0" err="1">
                <a:ea typeface="ＭＳ Ｐゴシック" pitchFamily="34" charset="-128"/>
              </a:rPr>
              <a:t>I</a:t>
            </a:r>
            <a:r>
              <a:rPr lang="en-US" altLang="en-US" sz="900" baseline="-25000" dirty="0" err="1">
                <a:ea typeface="ＭＳ Ｐゴシック" pitchFamily="34" charset="-128"/>
              </a:rPr>
              <a:t>0</a:t>
            </a:r>
            <a:r>
              <a:rPr lang="en-US" altLang="en-US" sz="900" dirty="0">
                <a:ea typeface="ＭＳ Ｐゴシック" pitchFamily="34" charset="-128"/>
              </a:rPr>
              <a:t> is tangent to the budget constraint (point </a:t>
            </a:r>
            <a:r>
              <a:rPr lang="en-US" altLang="en-US" sz="900" i="1" dirty="0">
                <a:ea typeface="ＭＳ Ｐゴシック" pitchFamily="34" charset="-128"/>
              </a:rPr>
              <a:t>E</a:t>
            </a:r>
            <a:r>
              <a:rPr lang="en-US" altLang="en-US" sz="900" dirty="0">
                <a:ea typeface="ＭＳ Ｐゴシック" pitchFamily="34" charset="-128"/>
              </a:rPr>
              <a:t>).</a:t>
            </a:r>
          </a:p>
        </p:txBody>
      </p:sp>
      <p:sp>
        <p:nvSpPr>
          <p:cNvPr id="1433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5BBB99D6-E223-47DA-AF35-F9E6DA9FD4D2}" type="slidenum">
              <a:rPr lang="en-US" altLang="en-US" sz="1200"/>
              <a:pPr/>
              <a:t>7</a:t>
            </a:fld>
            <a:endParaRPr lang="en-US" altLang="en-US" sz="1200"/>
          </a:p>
        </p:txBody>
      </p:sp>
    </p:spTree>
    <p:extLst>
      <p:ext uri="{BB962C8B-B14F-4D97-AF65-F5344CB8AC3E}">
        <p14:creationId xmlns:p14="http://schemas.microsoft.com/office/powerpoint/2010/main" val="30090093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budget constraint</a:t>
            </a:r>
            <a:r>
              <a:rPr lang="en-US" dirty="0"/>
              <a:t> that represents Kimberly’s choice between concert tickets at $50 each and getting away overnight to a bed-and-breakfast for $200 per night. Kimberly has $1,000 per year to spend between these two choices. After thinking about her total utility and marginal utility and applying the decision rule that the ratio of the marginal utilities to the prices should be equal between the two products, Kimberly chooses point M, with eight concerts and three overnight getaways as her utility-maximizing choice.</a:t>
            </a:r>
          </a:p>
          <a:p>
            <a:endParaRPr lang="en-US" dirty="0"/>
          </a:p>
          <a:p>
            <a:r>
              <a:rPr lang="en-US" dirty="0"/>
              <a:t>When income rises, the most common reaction is to purchase more of both goods, like choice N, which is to the upper right relative to Kimberly’s original choice M, although exactly how much more of each good will vary according to personal taste.</a:t>
            </a:r>
          </a:p>
        </p:txBody>
      </p:sp>
      <p:sp>
        <p:nvSpPr>
          <p:cNvPr id="4" name="Slide Number Placeholder 3"/>
          <p:cNvSpPr>
            <a:spLocks noGrp="1"/>
          </p:cNvSpPr>
          <p:nvPr>
            <p:ph type="sldNum" sz="quarter" idx="5"/>
          </p:nvPr>
        </p:nvSpPr>
        <p:spPr/>
        <p:txBody>
          <a:bodyPr/>
          <a:lstStyle/>
          <a:p>
            <a:fld id="{EB5F53B2-A49D-4A37-9E56-F75F47C17036}" type="slidenum">
              <a:rPr lang="en-US" smtClean="0"/>
              <a:t>8</a:t>
            </a:fld>
            <a:endParaRPr lang="en-US"/>
          </a:p>
        </p:txBody>
      </p:sp>
    </p:spTree>
    <p:extLst>
      <p:ext uri="{BB962C8B-B14F-4D97-AF65-F5344CB8AC3E}">
        <p14:creationId xmlns:p14="http://schemas.microsoft.com/office/powerpoint/2010/main" val="29883127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B5F53B2-A49D-4A37-9E56-F75F47C17036}" type="slidenum">
              <a:rPr lang="en-US" smtClean="0"/>
              <a:t>9</a:t>
            </a:fld>
            <a:endParaRPr lang="en-US"/>
          </a:p>
        </p:txBody>
      </p:sp>
    </p:spTree>
    <p:extLst>
      <p:ext uri="{BB962C8B-B14F-4D97-AF65-F5344CB8AC3E}">
        <p14:creationId xmlns:p14="http://schemas.microsoft.com/office/powerpoint/2010/main" val="14633124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2" eaLnBrk="1" hangingPunct="1"/>
            <a:r>
              <a:rPr lang="en-US" altLang="en-US" sz="900" b="1" dirty="0">
                <a:ea typeface="ＭＳ Ｐゴシック" pitchFamily="34" charset="-128"/>
              </a:rPr>
              <a:t>EXCHANGE EFFICIENCY</a:t>
            </a:r>
          </a:p>
          <a:p>
            <a:pPr marL="0" lvl="2" eaLnBrk="1" hangingPunct="1"/>
            <a:r>
              <a:rPr lang="en-US" altLang="en-US" sz="900" dirty="0">
                <a:ea typeface="ＭＳ Ｐゴシック" pitchFamily="34" charset="-128"/>
              </a:rPr>
              <a:t>The sides of this </a:t>
            </a:r>
            <a:r>
              <a:rPr lang="en-US" altLang="en-US" sz="900" dirty="0" err="1">
                <a:ea typeface="ＭＳ Ｐゴシック" pitchFamily="34" charset="-128"/>
              </a:rPr>
              <a:t>Edgeworth</a:t>
            </a:r>
            <a:r>
              <a:rPr lang="en-US" altLang="en-US" sz="900" dirty="0">
                <a:ea typeface="ＭＳ Ｐゴシック" pitchFamily="34" charset="-128"/>
              </a:rPr>
              <a:t>–</a:t>
            </a:r>
            <a:r>
              <a:rPr lang="en-US" altLang="en-US" sz="900" dirty="0" err="1">
                <a:ea typeface="ＭＳ Ｐゴシック" pitchFamily="34" charset="-128"/>
              </a:rPr>
              <a:t>Bowley</a:t>
            </a:r>
            <a:r>
              <a:rPr lang="en-US" altLang="en-US" sz="900" dirty="0">
                <a:ea typeface="ＭＳ Ｐゴシック" pitchFamily="34" charset="-128"/>
              </a:rPr>
              <a:t> box give the available supplies of apples and oranges. </a:t>
            </a:r>
            <a:r>
              <a:rPr lang="en-US" altLang="en-US" sz="900" i="1" dirty="0">
                <a:ea typeface="ＭＳ Ｐゴシック" pitchFamily="34" charset="-128"/>
              </a:rPr>
              <a:t>OA</a:t>
            </a:r>
            <a:r>
              <a:rPr lang="en-US" altLang="en-US" sz="900" dirty="0">
                <a:ea typeface="ＭＳ Ｐゴシック" pitchFamily="34" charset="-128"/>
              </a:rPr>
              <a:t> and </a:t>
            </a:r>
            <a:r>
              <a:rPr lang="en-US" altLang="en-US" sz="900" i="1" dirty="0">
                <a:ea typeface="ＭＳ Ｐゴシック" pitchFamily="34" charset="-128"/>
              </a:rPr>
              <a:t>OB</a:t>
            </a:r>
            <a:r>
              <a:rPr lang="en-US" altLang="en-US" sz="900" dirty="0">
                <a:ea typeface="ＭＳ Ｐゴシック" pitchFamily="34" charset="-128"/>
              </a:rPr>
              <a:t> give Crusoe’s consumption of the two commodities. Friday gets what Crusoe does not consume; that is, </a:t>
            </a:r>
            <a:r>
              <a:rPr lang="en-US" altLang="en-US" sz="900" i="1" dirty="0" err="1">
                <a:ea typeface="ＭＳ Ｐゴシック" pitchFamily="34" charset="-128"/>
              </a:rPr>
              <a:t>O’A</a:t>
            </a:r>
            <a:r>
              <a:rPr lang="en-US" altLang="en-US" sz="900" i="1" dirty="0">
                <a:ea typeface="ＭＳ Ｐゴシック" pitchFamily="34" charset="-128"/>
              </a:rPr>
              <a:t>’</a:t>
            </a:r>
            <a:r>
              <a:rPr lang="en-US" altLang="ja-JP" sz="900" dirty="0">
                <a:ea typeface="ＭＳ Ｐゴシック" pitchFamily="34" charset="-128"/>
              </a:rPr>
              <a:t> and </a:t>
            </a:r>
            <a:r>
              <a:rPr lang="en-US" altLang="ja-JP" sz="900" i="1" dirty="0" err="1">
                <a:ea typeface="ＭＳ Ｐゴシック" pitchFamily="34" charset="-128"/>
              </a:rPr>
              <a:t>O</a:t>
            </a:r>
            <a:r>
              <a:rPr lang="en-US" altLang="en-US" sz="900" i="1" dirty="0" err="1">
                <a:ea typeface="ＭＳ Ｐゴシック" pitchFamily="34" charset="-128"/>
              </a:rPr>
              <a:t>’</a:t>
            </a:r>
            <a:r>
              <a:rPr lang="en-US" altLang="ja-JP" sz="900" i="1" dirty="0" err="1">
                <a:ea typeface="ＭＳ Ｐゴシック" pitchFamily="34" charset="-128"/>
              </a:rPr>
              <a:t>B</a:t>
            </a:r>
            <a:r>
              <a:rPr lang="en-US" altLang="en-US" sz="900" i="1" dirty="0">
                <a:ea typeface="ＭＳ Ｐゴシック" pitchFamily="34" charset="-128"/>
              </a:rPr>
              <a:t>’</a:t>
            </a:r>
            <a:r>
              <a:rPr lang="en-US" altLang="ja-JP" sz="900" dirty="0">
                <a:ea typeface="ＭＳ Ｐゴシック" pitchFamily="34" charset="-128"/>
              </a:rPr>
              <a:t>. Pareto efﬁciency requires the tangency of the two indifference curves (one such point is at </a:t>
            </a:r>
            <a:r>
              <a:rPr lang="en-US" altLang="ja-JP" sz="900" i="1" dirty="0">
                <a:ea typeface="ＭＳ Ｐゴシック" pitchFamily="34" charset="-128"/>
              </a:rPr>
              <a:t>E</a:t>
            </a:r>
            <a:r>
              <a:rPr lang="en-US" altLang="ja-JP" sz="900" dirty="0">
                <a:ea typeface="ＭＳ Ｐゴシック" pitchFamily="34" charset="-128"/>
              </a:rPr>
              <a:t>), where the marginal rates of substitution of apples for oranges are equal.</a:t>
            </a:r>
            <a:endParaRPr lang="en-US" altLang="en-US" sz="900" dirty="0">
              <a:ea typeface="ＭＳ Ｐゴシック" pitchFamily="34" charset="-128"/>
            </a:endParaRPr>
          </a:p>
        </p:txBody>
      </p:sp>
      <p:sp>
        <p:nvSpPr>
          <p:cNvPr id="1638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A0054A00-7BE3-4D93-94FE-C32F9EBB1D41}" type="slidenum">
              <a:rPr lang="en-US" altLang="en-US" sz="1200"/>
              <a:pPr/>
              <a:t>10</a:t>
            </a:fld>
            <a:endParaRPr lang="en-US" altLang="en-US" sz="1200"/>
          </a:p>
        </p:txBody>
      </p:sp>
    </p:spTree>
    <p:extLst>
      <p:ext uri="{BB962C8B-B14F-4D97-AF65-F5344CB8AC3E}">
        <p14:creationId xmlns:p14="http://schemas.microsoft.com/office/powerpoint/2010/main" val="39420306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Hint about analzing economically.</a:t>
            </a:r>
          </a:p>
          <a:p>
            <a:endParaRPr lang="en-US" dirty="0">
              <a:cs typeface="Calibri"/>
            </a:endParaRPr>
          </a:p>
          <a:p>
            <a:r>
              <a:rPr lang="en-US">
                <a:cs typeface="Calibri"/>
              </a:rPr>
              <a:t>When a question asks for something like production efficiency there is usually a theory that is at the heart of the solution. In this case it is MRTS. How do you know? Usually, Stiglitz &amp; Rosengard will tell you.</a:t>
            </a:r>
            <a:endParaRPr lang="en-US" dirty="0">
              <a:cs typeface="Calibri"/>
            </a:endParaRPr>
          </a:p>
          <a:p>
            <a:endParaRPr lang="en-US" dirty="0">
              <a:cs typeface="Calibri"/>
            </a:endParaRPr>
          </a:p>
          <a:p>
            <a:r>
              <a:rPr lang="en-US">
                <a:cs typeface="Calibri"/>
              </a:rPr>
              <a:t>Then finding a solution just involves applying the theory to the specifics of the question. </a:t>
            </a:r>
            <a:endParaRPr lang="en-US" dirty="0">
              <a:cs typeface="Calibri"/>
            </a:endParaRPr>
          </a:p>
        </p:txBody>
      </p:sp>
      <p:sp>
        <p:nvSpPr>
          <p:cNvPr id="4" name="Slide Number Placeholder 3"/>
          <p:cNvSpPr>
            <a:spLocks noGrp="1"/>
          </p:cNvSpPr>
          <p:nvPr>
            <p:ph type="sldNum" sz="quarter" idx="5"/>
          </p:nvPr>
        </p:nvSpPr>
        <p:spPr/>
        <p:txBody>
          <a:bodyPr/>
          <a:lstStyle/>
          <a:p>
            <a:fld id="{EB5F53B2-A49D-4A37-9E56-F75F47C17036}" type="slidenum">
              <a:rPr lang="en-US" smtClean="0"/>
              <a:t>11</a:t>
            </a:fld>
            <a:endParaRPr lang="en-US"/>
          </a:p>
        </p:txBody>
      </p:sp>
    </p:spTree>
    <p:extLst>
      <p:ext uri="{BB962C8B-B14F-4D97-AF65-F5344CB8AC3E}">
        <p14:creationId xmlns:p14="http://schemas.microsoft.com/office/powerpoint/2010/main" val="16470773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2" eaLnBrk="1" hangingPunct="1"/>
            <a:r>
              <a:rPr lang="en-US" altLang="en-US" sz="900" b="1" dirty="0">
                <a:ea typeface="ＭＳ Ｐゴシック"/>
              </a:rPr>
              <a:t>ISOQUANTS AND ISOCOST LINES</a:t>
            </a:r>
          </a:p>
          <a:p>
            <a:pPr marL="0" lvl="2"/>
            <a:r>
              <a:rPr lang="en-US" altLang="en-US" sz="900" dirty="0">
                <a:ea typeface="ＭＳ Ｐゴシック"/>
              </a:rPr>
              <a:t>An isoquant gives combinations of inputs (land and labor) that yield the same output. The isoquant labeled </a:t>
            </a:r>
            <a:r>
              <a:rPr lang="en-US" altLang="en-US" sz="900" i="1" dirty="0">
                <a:ea typeface="ＭＳ Ｐゴシック"/>
              </a:rPr>
              <a:t>Q</a:t>
            </a:r>
            <a:r>
              <a:rPr lang="en-US" altLang="en-US" sz="900" baseline="-25000" dirty="0">
                <a:ea typeface="ＭＳ Ｐゴシック"/>
              </a:rPr>
              <a:t>1</a:t>
            </a:r>
            <a:r>
              <a:rPr lang="en-US" altLang="en-US" sz="900" dirty="0">
                <a:ea typeface="ＭＳ Ｐゴシック"/>
              </a:rPr>
              <a:t> represents a higher level of output than the isoquant labeled </a:t>
            </a:r>
            <a:r>
              <a:rPr lang="en-US" altLang="en-US" sz="900" i="1" dirty="0">
                <a:ea typeface="ＭＳ Ｐゴシック"/>
              </a:rPr>
              <a:t>Q</a:t>
            </a:r>
            <a:r>
              <a:rPr lang="en-US" altLang="en-US" sz="900" baseline="-25000" dirty="0">
                <a:ea typeface="ＭＳ Ｐゴシック"/>
              </a:rPr>
              <a:t>0</a:t>
            </a:r>
            <a:r>
              <a:rPr lang="en-US" altLang="en-US" sz="900" dirty="0">
                <a:ea typeface="ＭＳ Ｐゴシック"/>
              </a:rPr>
              <a:t>. The slope of the isoquant is the marginal rate of technical substitution. </a:t>
            </a:r>
          </a:p>
          <a:p>
            <a:pPr marL="0" lvl="2"/>
            <a:endParaRPr lang="en-US" altLang="en-US" sz="900" dirty="0">
              <a:ea typeface="ＭＳ Ｐゴシック"/>
            </a:endParaRPr>
          </a:p>
          <a:p>
            <a:pPr marL="0" lvl="2"/>
            <a:r>
              <a:rPr lang="en-US" altLang="en-US" sz="900">
                <a:ea typeface="ＭＳ Ｐゴシック"/>
                <a:cs typeface="Calibri"/>
              </a:rPr>
              <a:t>Iso means same, quant means quantity. Represents the quantity of input (land &amp; labor) that will yield the same output. As isoquant moves farther awat from the origin, the higher the level of output associated with that isoquant.</a:t>
            </a:r>
            <a:endParaRPr lang="en-US" altLang="en-US" sz="900" dirty="0">
              <a:ea typeface="ＭＳ Ｐゴシック"/>
              <a:cs typeface="Calibri"/>
            </a:endParaRPr>
          </a:p>
          <a:p>
            <a:pPr marL="0" lvl="2"/>
            <a:r>
              <a:rPr lang="en-US" altLang="en-US" sz="900">
                <a:ea typeface="ＭＳ Ｐゴシック"/>
                <a:cs typeface="Calibri"/>
              </a:rPr>
              <a:t>Isocost means same cost.</a:t>
            </a:r>
            <a:endParaRPr lang="en-US" altLang="en-US" sz="900" dirty="0">
              <a:ea typeface="ＭＳ Ｐゴシック"/>
            </a:endParaRPr>
          </a:p>
          <a:p>
            <a:pPr marL="0" lvl="2"/>
            <a:r>
              <a:rPr lang="en-US" altLang="en-US" sz="900">
                <a:ea typeface="ＭＳ Ｐゴシック"/>
              </a:rPr>
              <a:t>The </a:t>
            </a:r>
            <a:r>
              <a:rPr lang="en-US" altLang="en-US" sz="900" err="1">
                <a:ea typeface="ＭＳ Ｐゴシック"/>
              </a:rPr>
              <a:t>isocost</a:t>
            </a:r>
            <a:r>
              <a:rPr lang="en-US" altLang="en-US" sz="900" dirty="0">
                <a:ea typeface="ＭＳ Ｐゴシック"/>
              </a:rPr>
              <a:t> line gives the combinations of inputs that cost the same amount. The slope of the </a:t>
            </a:r>
            <a:r>
              <a:rPr lang="en-US" altLang="en-US" sz="900" err="1">
                <a:ea typeface="ＭＳ Ｐゴシック"/>
              </a:rPr>
              <a:t>isocost</a:t>
            </a:r>
            <a:r>
              <a:rPr lang="en-US" altLang="en-US" sz="900" dirty="0">
                <a:ea typeface="ＭＳ Ｐゴシック"/>
              </a:rPr>
              <a:t> line is given by the relative prices of the two inputs. The ﬁrm maximizes its output, given a particular level of expenditures on inputs, at the point where the isoquant is tangent to the </a:t>
            </a:r>
            <a:r>
              <a:rPr lang="en-US" altLang="en-US" sz="900" err="1">
                <a:ea typeface="ＭＳ Ｐゴシック"/>
              </a:rPr>
              <a:t>isocost</a:t>
            </a:r>
            <a:r>
              <a:rPr lang="en-US" altLang="en-US" sz="900" dirty="0">
                <a:ea typeface="ＭＳ Ｐゴシック"/>
              </a:rPr>
              <a:t> line. At that point, the marginal rate of technical substitution equals the relative price.</a:t>
            </a:r>
          </a:p>
          <a:p>
            <a:pPr marL="0" lvl="2"/>
            <a:endParaRPr lang="en-US" altLang="en-US" sz="900" dirty="0">
              <a:ea typeface="ＭＳ Ｐゴシック"/>
              <a:cs typeface="Calibri"/>
            </a:endParaRPr>
          </a:p>
          <a:p>
            <a:pPr marL="0" lvl="2"/>
            <a:r>
              <a:rPr lang="en-US" altLang="en-US" sz="900">
                <a:ea typeface="ＭＳ Ｐゴシック"/>
                <a:cs typeface="Calibri"/>
              </a:rPr>
              <a:t>In the blog problem, the slope of the Isocost line is altered by the subsidy for the historic preservationists and not for the new home builders. Therefore, the subsidized firms can spend less on factors of production than the new home builders who do not receive a subsidy. The relative prices between the firms are no longer the same: one faces a lower a Isocost line. This produces a distortionary effect. All things being equal, this will result in more historical properties being preserved than new homes being built. </a:t>
            </a:r>
            <a:endParaRPr lang="en-US" altLang="en-US" sz="900" dirty="0">
              <a:ea typeface="ＭＳ Ｐゴシック"/>
              <a:cs typeface="Calibri"/>
            </a:endParaRPr>
          </a:p>
        </p:txBody>
      </p:sp>
      <p:sp>
        <p:nvSpPr>
          <p:cNvPr id="2048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AA23BAED-326C-4862-8449-0790FA2CC692}" type="slidenum">
              <a:rPr lang="en-US" altLang="en-US" sz="1200"/>
              <a:pPr/>
              <a:t>12</a:t>
            </a:fld>
            <a:endParaRPr lang="en-US" altLang="en-US" sz="1200"/>
          </a:p>
        </p:txBody>
      </p:sp>
    </p:spTree>
    <p:extLst>
      <p:ext uri="{BB962C8B-B14F-4D97-AF65-F5344CB8AC3E}">
        <p14:creationId xmlns:p14="http://schemas.microsoft.com/office/powerpoint/2010/main" val="13058890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2" eaLnBrk="1" hangingPunct="1"/>
            <a:r>
              <a:rPr lang="en-US" altLang="en-US" sz="900" b="1" dirty="0">
                <a:ea typeface="ＭＳ Ｐゴシック" pitchFamily="34" charset="-128"/>
              </a:rPr>
              <a:t>PRODUCTION EFFICIENCY</a:t>
            </a:r>
          </a:p>
          <a:p>
            <a:pPr marL="0" lvl="2" eaLnBrk="1" hangingPunct="1"/>
            <a:r>
              <a:rPr lang="en-US" altLang="en-US" sz="900" dirty="0">
                <a:ea typeface="ＭＳ Ｐゴシック"/>
              </a:rPr>
              <a:t>The sides of this Edgeworth–Bowley box give the available supply of resources—land and labor. Resources used in the production of oranges are given by </a:t>
            </a:r>
            <a:r>
              <a:rPr lang="en-US" altLang="en-US" sz="900" i="1" dirty="0">
                <a:ea typeface="ＭＳ Ｐゴシック"/>
              </a:rPr>
              <a:t>OA</a:t>
            </a:r>
            <a:r>
              <a:rPr lang="en-US" altLang="en-US" sz="900" dirty="0">
                <a:ea typeface="ＭＳ Ｐゴシック"/>
              </a:rPr>
              <a:t> and </a:t>
            </a:r>
            <a:r>
              <a:rPr lang="en-US" altLang="en-US" sz="900" i="1" dirty="0">
                <a:ea typeface="ＭＳ Ｐゴシック"/>
              </a:rPr>
              <a:t>OB</a:t>
            </a:r>
            <a:r>
              <a:rPr lang="en-US" altLang="en-US" sz="900" dirty="0">
                <a:ea typeface="ＭＳ Ｐゴシック"/>
              </a:rPr>
              <a:t>; resources not used in the production of oranges are used in the production of apples, </a:t>
            </a:r>
            <a:r>
              <a:rPr lang="en-US" altLang="en-US" sz="900" i="1" dirty="0">
                <a:ea typeface="ＭＳ Ｐゴシック"/>
              </a:rPr>
              <a:t>O’A’</a:t>
            </a:r>
            <a:r>
              <a:rPr lang="en-US" altLang="ja-JP" sz="900" dirty="0">
                <a:ea typeface="ＭＳ Ｐゴシック"/>
              </a:rPr>
              <a:t> and </a:t>
            </a:r>
            <a:r>
              <a:rPr lang="en-US" altLang="ja-JP" sz="900" i="1" dirty="0">
                <a:ea typeface="ＭＳ Ｐゴシック"/>
              </a:rPr>
              <a:t>O</a:t>
            </a:r>
            <a:r>
              <a:rPr lang="en-US" altLang="en-US" sz="900" i="1" dirty="0">
                <a:ea typeface="ＭＳ Ｐゴシック"/>
              </a:rPr>
              <a:t>’</a:t>
            </a:r>
            <a:r>
              <a:rPr lang="en-US" altLang="ja-JP" sz="900" i="1" dirty="0">
                <a:ea typeface="ＭＳ Ｐゴシック"/>
              </a:rPr>
              <a:t>B</a:t>
            </a:r>
            <a:r>
              <a:rPr lang="en-US" altLang="en-US" sz="900" i="1" dirty="0">
                <a:ea typeface="ＭＳ Ｐゴシック"/>
              </a:rPr>
              <a:t>’</a:t>
            </a:r>
            <a:r>
              <a:rPr lang="en-US" altLang="ja-JP" sz="900" dirty="0">
                <a:ea typeface="ＭＳ Ｐゴシック"/>
              </a:rPr>
              <a:t>. Production efﬁciency requires the tangency of the isoquants. At tangency points, such as </a:t>
            </a:r>
            <a:r>
              <a:rPr lang="en-US" altLang="ja-JP" sz="900" i="1" dirty="0">
                <a:ea typeface="ＭＳ Ｐゴシック"/>
              </a:rPr>
              <a:t>E</a:t>
            </a:r>
            <a:r>
              <a:rPr lang="en-US" altLang="ja-JP" sz="900" dirty="0">
                <a:ea typeface="ＭＳ Ｐゴシック"/>
              </a:rPr>
              <a:t>, the marginal rate of substitution of land for labor is the same in the production of apples and oranges.</a:t>
            </a:r>
          </a:p>
          <a:p>
            <a:pPr marL="0" lvl="2"/>
            <a:endParaRPr lang="en-US" altLang="ja-JP" sz="900" dirty="0">
              <a:ea typeface="ＭＳ Ｐゴシック" pitchFamily="34" charset="-128"/>
              <a:cs typeface="Calibri"/>
            </a:endParaRPr>
          </a:p>
          <a:p>
            <a:pPr marL="0" lvl="2"/>
            <a:r>
              <a:rPr lang="en-US" altLang="ja-JP" sz="900">
                <a:ea typeface="ＭＳ Ｐゴシック"/>
                <a:cs typeface="Calibri"/>
              </a:rPr>
              <a:t>This is a bad example because some things are not correctly labeled.</a:t>
            </a:r>
            <a:endParaRPr lang="en-US" altLang="ja-JP" sz="900" dirty="0">
              <a:ea typeface="ＭＳ Ｐゴシック" pitchFamily="34" charset="-128"/>
              <a:cs typeface="Calibri"/>
            </a:endParaRPr>
          </a:p>
          <a:p>
            <a:pPr marL="0" lvl="2"/>
            <a:endParaRPr lang="en-US" altLang="ja-JP" sz="900" dirty="0">
              <a:ea typeface="ＭＳ Ｐゴシック" pitchFamily="34" charset="-128"/>
              <a:cs typeface="Calibri"/>
            </a:endParaRPr>
          </a:p>
          <a:p>
            <a:pPr marL="0" lvl="2"/>
            <a:r>
              <a:rPr lang="en-US" altLang="ja-JP" sz="900">
                <a:ea typeface="ＭＳ Ｐゴシック"/>
                <a:cs typeface="Calibri"/>
              </a:rPr>
              <a:t>In the blog example, the subsidy messes with the tangency point. The marginal rate of substitution of land for labor is affected by the subsidy by making land less expensive than labor for the historic presevationists. They will therefore make greater use of the properties (land &amp; buildings)  than new home builders.</a:t>
            </a:r>
            <a:endParaRPr lang="en-US" altLang="ja-JP" sz="900" dirty="0">
              <a:ea typeface="ＭＳ Ｐゴシック"/>
              <a:cs typeface="Calibri"/>
            </a:endParaRPr>
          </a:p>
        </p:txBody>
      </p:sp>
      <p:sp>
        <p:nvSpPr>
          <p:cNvPr id="2253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FD34EC35-8621-4F9D-AACF-9F8BF7AC6BFB}" type="slidenum">
              <a:rPr lang="en-US" altLang="en-US" sz="1200"/>
              <a:pPr/>
              <a:t>13</a:t>
            </a:fld>
            <a:endParaRPr lang="en-US" altLang="en-US" sz="1200"/>
          </a:p>
        </p:txBody>
      </p:sp>
    </p:spTree>
    <p:extLst>
      <p:ext uri="{BB962C8B-B14F-4D97-AF65-F5344CB8AC3E}">
        <p14:creationId xmlns:p14="http://schemas.microsoft.com/office/powerpoint/2010/main" val="206058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optimisation problem in production relies in the </a:t>
            </a:r>
            <a:r>
              <a:rPr lang="en-US" i="1" u="sng" dirty="0"/>
              <a:t>maximisation of total output production</a:t>
            </a:r>
            <a:r>
              <a:rPr lang="en-US"/>
              <a:t> taking into consideration that it is subject to a limited amount of capital and labour.</a:t>
            </a:r>
          </a:p>
          <a:p>
            <a:r>
              <a:rPr lang="en-US"/>
              <a:t>We can start by looking at the production of goods X and Y as two different optimisation problems. The firm will have to decide what quantity of capital and labour allocate to the production of good X, as shown on the left side of the diagram below, but also what quantity of capital and labour assign to the production of good Y, as shown on the right. These curves are the </a:t>
            </a:r>
            <a:r>
              <a:rPr lang="en-US" i="1" u="sng"/>
              <a:t>isoquants</a:t>
            </a:r>
            <a:r>
              <a:rPr lang="en-US"/>
              <a:t> corresponding to each production process. </a:t>
            </a:r>
            <a:endParaRPr lang="en-US" dirty="0"/>
          </a:p>
          <a:p>
            <a:endParaRPr lang="en-US" dirty="0">
              <a:cs typeface="Calibri"/>
            </a:endParaRPr>
          </a:p>
          <a:p>
            <a:r>
              <a:rPr lang="en-US"/>
              <a:t>These two diagrams can be plotted together using what is known as the </a:t>
            </a:r>
            <a:r>
              <a:rPr lang="en-US" i="1" u="sng"/>
              <a:t>Edgeworth box</a:t>
            </a:r>
            <a:r>
              <a:rPr lang="en-US"/>
              <a:t>, which makes it easier to compare quantities of capital and labour used, while also comparing quantities of goods X and Y being produced. Indeed, it’s not only easier to analyse, but also makes more sense, since the total available quantities of capital and labour are given. </a:t>
            </a:r>
            <a:br>
              <a:rPr lang="en-US" dirty="0">
                <a:cs typeface="+mn-lt"/>
              </a:rPr>
            </a:br>
            <a:endParaRPr lang="en-US" dirty="0"/>
          </a:p>
          <a:p>
            <a:endParaRPr lang="en-US" dirty="0">
              <a:cs typeface="Calibri"/>
            </a:endParaRPr>
          </a:p>
        </p:txBody>
      </p:sp>
      <p:sp>
        <p:nvSpPr>
          <p:cNvPr id="4" name="Slide Number Placeholder 3"/>
          <p:cNvSpPr>
            <a:spLocks noGrp="1"/>
          </p:cNvSpPr>
          <p:nvPr>
            <p:ph type="sldNum" sz="quarter" idx="5"/>
          </p:nvPr>
        </p:nvSpPr>
        <p:spPr/>
        <p:txBody>
          <a:bodyPr/>
          <a:lstStyle/>
          <a:p>
            <a:fld id="{EB5F53B2-A49D-4A37-9E56-F75F47C17036}" type="slidenum">
              <a:rPr lang="en-US"/>
              <a:t>14</a:t>
            </a:fld>
            <a:endParaRPr lang="en-US"/>
          </a:p>
        </p:txBody>
      </p:sp>
    </p:spTree>
    <p:extLst>
      <p:ext uri="{BB962C8B-B14F-4D97-AF65-F5344CB8AC3E}">
        <p14:creationId xmlns:p14="http://schemas.microsoft.com/office/powerpoint/2010/main" val="20986520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2" eaLnBrk="1" hangingPunct="1"/>
            <a:r>
              <a:rPr lang="en-US" altLang="en-US" sz="900" b="1" dirty="0">
                <a:ea typeface="ＭＳ Ｐゴシック" pitchFamily="34" charset="-128"/>
              </a:rPr>
              <a:t>PRODUCT MIX EFFICIENCY REQUIRES THAT THE MARGINAL RATE OF TRANSFORMATION EQUAL CONSUMERS’ MARGINAL RATE OF SUBSTITUTION</a:t>
            </a:r>
          </a:p>
          <a:p>
            <a:pPr marL="0" lvl="2" eaLnBrk="1" hangingPunct="1"/>
            <a:r>
              <a:rPr lang="en-US" altLang="en-US" sz="900" dirty="0">
                <a:ea typeface="ＭＳ Ｐゴシック" pitchFamily="34" charset="-128"/>
              </a:rPr>
              <a:t>To reach the highest level of consumers’ utility, the indifference curve and the production possibilities schedule must be tangent (point </a:t>
            </a:r>
            <a:r>
              <a:rPr lang="en-US" altLang="en-US" sz="900" i="1" dirty="0">
                <a:ea typeface="ＭＳ Ｐゴシック" pitchFamily="34" charset="-128"/>
              </a:rPr>
              <a:t>E</a:t>
            </a:r>
            <a:r>
              <a:rPr lang="en-US" altLang="en-US" sz="900" dirty="0">
                <a:ea typeface="ＭＳ Ｐゴシック" pitchFamily="34" charset="-128"/>
              </a:rPr>
              <a:t>). At any other point, such as </a:t>
            </a:r>
            <a:r>
              <a:rPr lang="en-US" altLang="en-US" sz="900" i="1" dirty="0">
                <a:ea typeface="ＭＳ Ｐゴシック" pitchFamily="34" charset="-128"/>
              </a:rPr>
              <a:t>E’</a:t>
            </a:r>
            <a:r>
              <a:rPr lang="en-US" altLang="ja-JP" sz="900" dirty="0">
                <a:ea typeface="ＭＳ Ｐゴシック" pitchFamily="34" charset="-128"/>
              </a:rPr>
              <a:t>, consumer utility is lower than at </a:t>
            </a:r>
            <a:r>
              <a:rPr lang="en-US" altLang="ja-JP" sz="900" i="1" dirty="0">
                <a:ea typeface="ＭＳ Ｐゴシック" pitchFamily="34" charset="-128"/>
              </a:rPr>
              <a:t>E</a:t>
            </a:r>
            <a:r>
              <a:rPr lang="en-US" altLang="ja-JP" sz="900" dirty="0">
                <a:ea typeface="ＭＳ Ｐゴシック" pitchFamily="34" charset="-128"/>
              </a:rPr>
              <a:t>.</a:t>
            </a:r>
          </a:p>
          <a:p>
            <a:pPr marL="0" lvl="2"/>
            <a:endParaRPr lang="en-US" altLang="ja-JP" sz="900" dirty="0">
              <a:ea typeface="ＭＳ Ｐゴシック" pitchFamily="34" charset="-128"/>
              <a:cs typeface="Calibri"/>
            </a:endParaRPr>
          </a:p>
          <a:p>
            <a:pPr marL="0" lvl="2"/>
            <a:r>
              <a:rPr lang="en-US"/>
              <a:t>Hence, to be economically efficient, an economy must find that point on its production-possibilities frontier or that mix of products that has the highest value. This final condition of economically efficiency may be called </a:t>
            </a:r>
            <a:r>
              <a:rPr lang="en-US" b="1"/>
              <a:t>product-mix efficiency.</a:t>
            </a:r>
            <a:r>
              <a:rPr lang="en-US"/>
              <a:t>I f an economy is on the production-possibilities frontier, then more of one good, good </a:t>
            </a:r>
            <a:r>
              <a:rPr lang="en-US" b="1"/>
              <a:t>A</a:t>
            </a:r>
            <a:r>
              <a:rPr lang="en-US"/>
              <a:t>, can be produced only by shifting resources and thus producing less of something else, good </a:t>
            </a:r>
            <a:r>
              <a:rPr lang="en-US" b="1"/>
              <a:t>B</a:t>
            </a:r>
            <a:r>
              <a:rPr lang="en-US"/>
              <a:t>. The slope of the production-possibilities frontier, which economists call the </a:t>
            </a:r>
            <a:r>
              <a:rPr lang="en-US" b="1"/>
              <a:t>marginal rate of transformation,</a:t>
            </a:r>
            <a:r>
              <a:rPr lang="en-US"/>
              <a:t> shows how much of good</a:t>
            </a:r>
            <a:r>
              <a:rPr lang="en-US" b="1"/>
              <a:t> B</a:t>
            </a:r>
            <a:r>
              <a:rPr lang="en-US"/>
              <a:t> must be given up to produce more of good A. </a:t>
            </a:r>
            <a:endParaRPr lang="en-US">
              <a:ea typeface="ＭＳ Ｐゴシック" pitchFamily="34" charset="-128"/>
              <a:cs typeface="Calibri"/>
            </a:endParaRPr>
          </a:p>
          <a:p>
            <a:pPr marL="0" lvl="2"/>
            <a:endParaRPr lang="en-US" dirty="0">
              <a:ea typeface="ＭＳ Ｐゴシック"/>
              <a:cs typeface="Calibri"/>
            </a:endParaRPr>
          </a:p>
          <a:p>
            <a:pPr marL="0" lvl="2"/>
            <a:r>
              <a:rPr lang="en-US" dirty="0"/>
              <a:t>The amount of good B that must be given to people so they willingly give up a unit of A must be the same for all people if the economy is exchange efficient. The ratio at which people will trade B for A is the </a:t>
            </a:r>
            <a:r>
              <a:rPr lang="en-US" b="1" dirty="0"/>
              <a:t>marginal rate of substitution</a:t>
            </a:r>
            <a:r>
              <a:rPr lang="en-US"/>
              <a:t>. Only when the marginal rate of transformation of each product is equal to the marginal rate of substitution will the economy be economically efficient.</a:t>
            </a:r>
          </a:p>
          <a:p>
            <a:pPr marL="0" lvl="2"/>
            <a:endParaRPr lang="en-US" dirty="0">
              <a:ea typeface="ＭＳ Ｐゴシック"/>
              <a:cs typeface="Calibri"/>
            </a:endParaRPr>
          </a:p>
          <a:p>
            <a:pPr marL="0" lvl="2"/>
            <a:r>
              <a:rPr lang="en-US" altLang="ja-JP" sz="900">
                <a:ea typeface="ＭＳ Ｐゴシック"/>
                <a:cs typeface="Calibri"/>
              </a:rPr>
              <a:t>The subsidy makes it more attractive for the consumers of historic housing vs. New home consumers. </a:t>
            </a:r>
            <a:endParaRPr lang="en-US" altLang="ja-JP" sz="900" dirty="0">
              <a:ea typeface="ＭＳ Ｐゴシック" pitchFamily="34" charset="-128"/>
              <a:cs typeface="Calibri"/>
            </a:endParaRPr>
          </a:p>
        </p:txBody>
      </p:sp>
      <p:sp>
        <p:nvSpPr>
          <p:cNvPr id="2457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966E8315-284E-454D-89FD-F4FF48F8EFB6}" type="slidenum">
              <a:rPr lang="en-US" altLang="en-US" sz="1200"/>
              <a:pPr/>
              <a:t>15</a:t>
            </a:fld>
            <a:endParaRPr lang="en-US" altLang="en-US" sz="1200"/>
          </a:p>
        </p:txBody>
      </p:sp>
    </p:spTree>
    <p:extLst>
      <p:ext uri="{BB962C8B-B14F-4D97-AF65-F5344CB8AC3E}">
        <p14:creationId xmlns:p14="http://schemas.microsoft.com/office/powerpoint/2010/main" val="29445255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2" eaLnBrk="1" hangingPunct="1"/>
            <a:r>
              <a:rPr lang="en-US" altLang="en-US" sz="900" b="1">
                <a:ea typeface="ＭＳ Ｐゴシック" pitchFamily="34" charset="-128"/>
              </a:rPr>
              <a:t>MONOPOLY PRICING</a:t>
            </a:r>
          </a:p>
          <a:p>
            <a:pPr marL="0" lvl="2" eaLnBrk="1" hangingPunct="1"/>
            <a:r>
              <a:rPr lang="en-US" altLang="en-US" sz="900">
                <a:ea typeface="ＭＳ Ｐゴシック" pitchFamily="34" charset="-128"/>
              </a:rPr>
              <a:t>Monopoly output is lower than competitive output, or the output at which proﬁts are zero. There is a resulting welfare loss.</a:t>
            </a:r>
          </a:p>
        </p:txBody>
      </p:sp>
      <p:sp>
        <p:nvSpPr>
          <p:cNvPr id="819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08BDC096-AB1D-47D2-8AA0-D7134D8EDA2B}" type="slidenum">
              <a:rPr lang="en-US" altLang="en-US" sz="1200"/>
              <a:pPr/>
              <a:t>16</a:t>
            </a:fld>
            <a:endParaRPr lang="en-US" altLang="en-US" sz="1200"/>
          </a:p>
        </p:txBody>
      </p:sp>
    </p:spTree>
    <p:extLst>
      <p:ext uri="{BB962C8B-B14F-4D97-AF65-F5344CB8AC3E}">
        <p14:creationId xmlns:p14="http://schemas.microsoft.com/office/powerpoint/2010/main" val="50494453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dirty="0"/>
              <a:t>Click to edit Master title style</a:t>
            </a:r>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a:xfrm>
            <a:off x="7983232" y="5037663"/>
            <a:ext cx="897467" cy="279400"/>
          </a:xfrm>
        </p:spPr>
        <p:txBody>
          <a:bodyPr/>
          <a:lstStyle/>
          <a:p>
            <a:fld id="{FBD47B21-2B85-E24F-B5D3-516CFADBB138}" type="datetime1">
              <a:rPr lang="en-US" smtClean="0"/>
              <a:t>2/24/2020</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r>
              <a:rPr lang="en-US"/>
              <a:t>Intro to Public Finance Spring 2020</a:t>
            </a:r>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22015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7C0E1B4-FF51-384F-9312-4232455837A4}" type="datetime1">
              <a:rPr lang="en-US" smtClean="0"/>
              <a:t>2/24/2020</a:t>
            </a:fld>
            <a:endParaRPr lang="en-US" dirty="0"/>
          </a:p>
        </p:txBody>
      </p:sp>
      <p:sp>
        <p:nvSpPr>
          <p:cNvPr id="5" name="Footer Placeholder 4"/>
          <p:cNvSpPr>
            <a:spLocks noGrp="1"/>
          </p:cNvSpPr>
          <p:nvPr>
            <p:ph type="ftr" sz="quarter" idx="11"/>
          </p:nvPr>
        </p:nvSpPr>
        <p:spPr/>
        <p:txBody>
          <a:bodyPr/>
          <a:lstStyle/>
          <a:p>
            <a:r>
              <a:rPr lang="en-US"/>
              <a:t>Intro to Public Finance Spring 2020</a:t>
            </a:r>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a:t>
            </a:fld>
            <a:endParaRPr lang="en-US" dirty="0"/>
          </a:p>
        </p:txBody>
      </p:sp>
    </p:spTree>
    <p:extLst>
      <p:ext uri="{BB962C8B-B14F-4D97-AF65-F5344CB8AC3E}">
        <p14:creationId xmlns:p14="http://schemas.microsoft.com/office/powerpoint/2010/main" val="26833841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dirty="0"/>
              <a:t>Click to edit Master title style</a:t>
            </a:r>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C7DC4B80-B6C1-6F42-9BF6-F7BA55F0F149}" type="datetime1">
              <a:rPr lang="en-US" smtClean="0"/>
              <a:t>2/24/2020</a:t>
            </a:fld>
            <a:endParaRPr lang="en-US" dirty="0"/>
          </a:p>
        </p:txBody>
      </p:sp>
      <p:sp>
        <p:nvSpPr>
          <p:cNvPr id="5" name="Footer Placeholder 4"/>
          <p:cNvSpPr>
            <a:spLocks noGrp="1"/>
          </p:cNvSpPr>
          <p:nvPr>
            <p:ph type="ftr" sz="quarter" idx="11"/>
          </p:nvPr>
        </p:nvSpPr>
        <p:spPr/>
        <p:txBody>
          <a:bodyPr/>
          <a:lstStyle/>
          <a:p>
            <a:r>
              <a:rPr lang="en-US"/>
              <a:t>Intro to Public Finance Spring 2020</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696283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90C77A0F-BFFD-634C-81A3-020A74376468}" type="datetime1">
              <a:rPr lang="en-US" smtClean="0"/>
              <a:t>2/24/2020</a:t>
            </a:fld>
            <a:endParaRPr lang="en-US" dirty="0"/>
          </a:p>
        </p:txBody>
      </p:sp>
      <p:sp>
        <p:nvSpPr>
          <p:cNvPr id="6" name="Footer Placeholder 5"/>
          <p:cNvSpPr>
            <a:spLocks noGrp="1"/>
          </p:cNvSpPr>
          <p:nvPr>
            <p:ph type="ftr" sz="quarter" idx="11"/>
          </p:nvPr>
        </p:nvSpPr>
        <p:spPr/>
        <p:txBody>
          <a:bodyPr/>
          <a:lstStyle/>
          <a:p>
            <a:r>
              <a:rPr lang="en-US"/>
              <a:t>Intro to Public Finance Spring 2020</a:t>
            </a:r>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spTree>
    <p:extLst>
      <p:ext uri="{BB962C8B-B14F-4D97-AF65-F5344CB8AC3E}">
        <p14:creationId xmlns:p14="http://schemas.microsoft.com/office/powerpoint/2010/main" val="1498173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8D1EAB60-A645-1041-9770-31EE08DBC48B}" type="datetime1">
              <a:rPr lang="en-US" smtClean="0"/>
              <a:t>2/24/2020</a:t>
            </a:fld>
            <a:endParaRPr lang="en-US" dirty="0"/>
          </a:p>
        </p:txBody>
      </p:sp>
      <p:sp>
        <p:nvSpPr>
          <p:cNvPr id="8" name="Footer Placeholder 7"/>
          <p:cNvSpPr>
            <a:spLocks noGrp="1"/>
          </p:cNvSpPr>
          <p:nvPr>
            <p:ph type="ftr" sz="quarter" idx="11"/>
          </p:nvPr>
        </p:nvSpPr>
        <p:spPr/>
        <p:txBody>
          <a:bodyPr/>
          <a:lstStyle/>
          <a:p>
            <a:r>
              <a:rPr lang="en-US"/>
              <a:t>Intro to Public Finance Spring 2020</a:t>
            </a:r>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89162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E5E1F3A2-2F5A-4844-932B-ECBDE7B9E4A9}" type="datetime1">
              <a:rPr lang="en-US" smtClean="0"/>
              <a:t>2/24/2020</a:t>
            </a:fld>
            <a:endParaRPr lang="en-US" dirty="0"/>
          </a:p>
        </p:txBody>
      </p:sp>
      <p:sp>
        <p:nvSpPr>
          <p:cNvPr id="4" name="Footer Placeholder 3"/>
          <p:cNvSpPr>
            <a:spLocks noGrp="1"/>
          </p:cNvSpPr>
          <p:nvPr>
            <p:ph type="ftr" sz="quarter" idx="11"/>
          </p:nvPr>
        </p:nvSpPr>
        <p:spPr/>
        <p:txBody>
          <a:bodyPr/>
          <a:lstStyle/>
          <a:p>
            <a:r>
              <a:rPr lang="en-US"/>
              <a:t>Intro to Public Finance Spring 2020</a:t>
            </a:r>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52542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F866B60-4EBF-6B43-ABBE-32C352D94F6D}" type="datetime1">
              <a:rPr lang="en-US" smtClean="0"/>
              <a:t>2/24/2020</a:t>
            </a:fld>
            <a:endParaRPr lang="en-US" dirty="0"/>
          </a:p>
        </p:txBody>
      </p:sp>
      <p:sp>
        <p:nvSpPr>
          <p:cNvPr id="3" name="Footer Placeholder 2"/>
          <p:cNvSpPr>
            <a:spLocks noGrp="1"/>
          </p:cNvSpPr>
          <p:nvPr>
            <p:ph type="ftr" sz="quarter" idx="11"/>
          </p:nvPr>
        </p:nvSpPr>
        <p:spPr/>
        <p:txBody>
          <a:bodyPr/>
          <a:lstStyle/>
          <a:p>
            <a:r>
              <a:rPr lang="en-US"/>
              <a:t>Intro to Public Finance Spring 2020</a:t>
            </a:r>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5250047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dirty="0"/>
              <a:t>Click to edit Master title style</a:t>
            </a:r>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A14AB26C-A69F-2840-AEE8-44EF4B73F775}" type="datetime1">
              <a:rPr lang="en-US" smtClean="0"/>
              <a:t>2/24/2020</a:t>
            </a:fld>
            <a:endParaRPr lang="en-US" dirty="0"/>
          </a:p>
        </p:txBody>
      </p:sp>
      <p:sp>
        <p:nvSpPr>
          <p:cNvPr id="6" name="Footer Placeholder 5"/>
          <p:cNvSpPr>
            <a:spLocks noGrp="1"/>
          </p:cNvSpPr>
          <p:nvPr>
            <p:ph type="ftr" sz="quarter" idx="11"/>
          </p:nvPr>
        </p:nvSpPr>
        <p:spPr/>
        <p:txBody>
          <a:bodyPr/>
          <a:lstStyle/>
          <a:p>
            <a:r>
              <a:rPr lang="en-US"/>
              <a:t>Intro to Public Finance Spring 2020</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714393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dirty="0"/>
              <a:t>Click to edit Master title style</a:t>
            </a:r>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BDA9DB3-105C-9D44-86D9-CFAE56ED06AA}" type="datetime1">
              <a:rPr lang="en-US" smtClean="0"/>
              <a:t>2/24/2020</a:t>
            </a:fld>
            <a:endParaRPr lang="en-US" dirty="0"/>
          </a:p>
        </p:txBody>
      </p:sp>
      <p:sp>
        <p:nvSpPr>
          <p:cNvPr id="6" name="Footer Placeholder 5"/>
          <p:cNvSpPr>
            <a:spLocks noGrp="1"/>
          </p:cNvSpPr>
          <p:nvPr>
            <p:ph type="ftr" sz="quarter" idx="11"/>
          </p:nvPr>
        </p:nvSpPr>
        <p:spPr/>
        <p:txBody>
          <a:bodyPr/>
          <a:lstStyle/>
          <a:p>
            <a:r>
              <a:rPr lang="en-US"/>
              <a:t>Intro to Public Finance Spring 2020</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4377256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dirty="0"/>
              <a:t>Click to edit Master title style</a:t>
            </a:r>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31656EA4-9A1C-3E4E-AC11-36210263F064}" type="datetime1">
              <a:rPr lang="en-US" smtClean="0"/>
              <a:t>2/24/2020</a:t>
            </a:fld>
            <a:endParaRPr lang="en-US" dirty="0"/>
          </a:p>
        </p:txBody>
      </p:sp>
      <p:sp>
        <p:nvSpPr>
          <p:cNvPr id="6" name="Footer Placeholder 5"/>
          <p:cNvSpPr>
            <a:spLocks noGrp="1"/>
          </p:cNvSpPr>
          <p:nvPr>
            <p:ph type="ftr" sz="quarter" idx="11"/>
          </p:nvPr>
        </p:nvSpPr>
        <p:spPr/>
        <p:txBody>
          <a:bodyPr/>
          <a:lstStyle/>
          <a:p>
            <a:r>
              <a:rPr lang="en-US"/>
              <a:t>Intro to Public Finance Spring 2020</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846580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dirty="0"/>
              <a:t>Click to edit Master title style</a:t>
            </a:r>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7280D47-EDFA-2541-9B5B-828D18EA8244}" type="datetime1">
              <a:rPr lang="en-US" smtClean="0"/>
              <a:t>2/24/2020</a:t>
            </a:fld>
            <a:endParaRPr lang="en-US" dirty="0"/>
          </a:p>
        </p:txBody>
      </p:sp>
      <p:sp>
        <p:nvSpPr>
          <p:cNvPr id="5" name="Footer Placeholder 4"/>
          <p:cNvSpPr>
            <a:spLocks noGrp="1"/>
          </p:cNvSpPr>
          <p:nvPr>
            <p:ph type="ftr" sz="quarter" idx="11"/>
          </p:nvPr>
        </p:nvSpPr>
        <p:spPr/>
        <p:txBody>
          <a:bodyPr/>
          <a:lstStyle/>
          <a:p>
            <a:r>
              <a:rPr lang="en-US"/>
              <a:t>Intro to Public Finance Spring 2020</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982738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dirty="0"/>
              <a:t>Click to edit Master title style</a:t>
            </a:r>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478150C3-371E-A74D-9BA3-E9DC4C2473BA}" type="datetime1">
              <a:rPr lang="en-US" smtClean="0"/>
              <a:t>2/24/2020</a:t>
            </a:fld>
            <a:endParaRPr lang="en-US" dirty="0"/>
          </a:p>
        </p:txBody>
      </p:sp>
      <p:sp>
        <p:nvSpPr>
          <p:cNvPr id="5" name="Footer Placeholder 4"/>
          <p:cNvSpPr>
            <a:spLocks noGrp="1"/>
          </p:cNvSpPr>
          <p:nvPr>
            <p:ph type="ftr" sz="quarter" idx="11"/>
          </p:nvPr>
        </p:nvSpPr>
        <p:spPr/>
        <p:txBody>
          <a:bodyPr/>
          <a:lstStyle/>
          <a:p>
            <a:r>
              <a:rPr lang="en-US"/>
              <a:t>Intro to Public Finance Spring 2020</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51331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dirty="0"/>
              <a:t>Click to edit Master title style</a:t>
            </a:r>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56733F23-5580-DB4C-ACD8-4B0B37868325}" type="datetime1">
              <a:rPr lang="en-US" smtClean="0"/>
              <a:t>2/24/2020</a:t>
            </a:fld>
            <a:endParaRPr lang="en-US" dirty="0"/>
          </a:p>
        </p:txBody>
      </p:sp>
      <p:sp>
        <p:nvSpPr>
          <p:cNvPr id="5" name="Footer Placeholder 4"/>
          <p:cNvSpPr>
            <a:spLocks noGrp="1"/>
          </p:cNvSpPr>
          <p:nvPr>
            <p:ph type="ftr" sz="quarter" idx="11"/>
          </p:nvPr>
        </p:nvSpPr>
        <p:spPr/>
        <p:txBody>
          <a:bodyPr/>
          <a:lstStyle/>
          <a:p>
            <a:r>
              <a:rPr lang="en-US"/>
              <a:t>Intro to Public Finance Spring 2020</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010883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dirty="0"/>
              <a:t>Click to edit Master title style</a:t>
            </a:r>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328DC081-7D2B-3646-8845-D66B57942C79}" type="datetime1">
              <a:rPr lang="en-US" smtClean="0"/>
              <a:t>2/24/2020</a:t>
            </a:fld>
            <a:endParaRPr lang="en-US" dirty="0"/>
          </a:p>
        </p:txBody>
      </p:sp>
      <p:sp>
        <p:nvSpPr>
          <p:cNvPr id="5" name="Footer Placeholder 4"/>
          <p:cNvSpPr>
            <a:spLocks noGrp="1"/>
          </p:cNvSpPr>
          <p:nvPr>
            <p:ph type="ftr" sz="quarter" idx="11"/>
          </p:nvPr>
        </p:nvSpPr>
        <p:spPr/>
        <p:txBody>
          <a:bodyPr/>
          <a:lstStyle/>
          <a:p>
            <a:r>
              <a:rPr lang="en-US"/>
              <a:t>Intro to Public Finance Spring 2020</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821906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dirty="0"/>
              <a:t>Click to edit Master title style</a:t>
            </a:r>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A8D64303-7DAC-FC43-8A95-876B87C46319}" type="datetime1">
              <a:rPr lang="en-US" smtClean="0"/>
              <a:t>2/24/2020</a:t>
            </a:fld>
            <a:endParaRPr lang="en-US" dirty="0"/>
          </a:p>
        </p:txBody>
      </p:sp>
      <p:sp>
        <p:nvSpPr>
          <p:cNvPr id="5" name="Footer Placeholder 4"/>
          <p:cNvSpPr>
            <a:spLocks noGrp="1"/>
          </p:cNvSpPr>
          <p:nvPr>
            <p:ph type="ftr" sz="quarter" idx="11"/>
          </p:nvPr>
        </p:nvSpPr>
        <p:spPr/>
        <p:txBody>
          <a:bodyPr/>
          <a:lstStyle/>
          <a:p>
            <a:r>
              <a:rPr lang="en-US"/>
              <a:t>Intro to Public Finance Spring 2020</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416467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F9EDAB1-1BBA-1840-9F81-6356E56B95FE}" type="datetime1">
              <a:rPr lang="en-US" smtClean="0"/>
              <a:t>2/24/2020</a:t>
            </a:fld>
            <a:endParaRPr lang="en-US" dirty="0"/>
          </a:p>
        </p:txBody>
      </p:sp>
      <p:sp>
        <p:nvSpPr>
          <p:cNvPr id="5" name="Footer Placeholder 4"/>
          <p:cNvSpPr>
            <a:spLocks noGrp="1"/>
          </p:cNvSpPr>
          <p:nvPr>
            <p:ph type="ftr" sz="quarter" idx="11"/>
          </p:nvPr>
        </p:nvSpPr>
        <p:spPr/>
        <p:txBody>
          <a:bodyPr/>
          <a:lstStyle/>
          <a:p>
            <a:r>
              <a:rPr lang="en-US"/>
              <a:t>Intro to Public Finance Spring 2020</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130191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B3F0159-0B29-4745-9F8E-4A8453489833}" type="datetime1">
              <a:rPr lang="en-US" smtClean="0"/>
              <a:t>2/24/2020</a:t>
            </a:fld>
            <a:endParaRPr lang="en-US" dirty="0"/>
          </a:p>
        </p:txBody>
      </p:sp>
      <p:sp>
        <p:nvSpPr>
          <p:cNvPr id="5" name="Footer Placeholder 4"/>
          <p:cNvSpPr>
            <a:spLocks noGrp="1"/>
          </p:cNvSpPr>
          <p:nvPr>
            <p:ph type="ftr" sz="quarter" idx="11"/>
          </p:nvPr>
        </p:nvSpPr>
        <p:spPr/>
        <p:txBody>
          <a:bodyPr/>
          <a:lstStyle/>
          <a:p>
            <a:r>
              <a:rPr lang="en-US"/>
              <a:t>Intro to Public Finance Spring 2020</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35583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DE189C7-65C9-8F45-A845-95EAFC3134FB}" type="datetime1">
              <a:rPr lang="en-US" smtClean="0"/>
              <a:t>2/24/2020</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r>
              <a:rPr lang="en-US"/>
              <a:t>Intro to Public Finance Spring 2020</a:t>
            </a:r>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128118617"/>
      </p:ext>
    </p:extLst>
  </p:cSld>
  <p:clrMap bg1="lt1" tx1="dk1" bg2="lt2" tx2="dk2" accent1="accent1" accent2="accent2" accent3="accent3" accent4="accent4" accent5="accent5" accent6="accent6" hlink="hlink" folHlink="folHlink"/>
  <p:sldLayoutIdLst>
    <p:sldLayoutId id="2147484086" r:id="rId1"/>
    <p:sldLayoutId id="2147484087" r:id="rId2"/>
    <p:sldLayoutId id="2147484088" r:id="rId3"/>
    <p:sldLayoutId id="2147484089" r:id="rId4"/>
    <p:sldLayoutId id="2147484090" r:id="rId5"/>
    <p:sldLayoutId id="2147484091" r:id="rId6"/>
    <p:sldLayoutId id="2147484092" r:id="rId7"/>
    <p:sldLayoutId id="2147484093" r:id="rId8"/>
    <p:sldLayoutId id="2147484094" r:id="rId9"/>
    <p:sldLayoutId id="2147484095" r:id="rId10"/>
    <p:sldLayoutId id="2147484096" r:id="rId11"/>
    <p:sldLayoutId id="2147484097" r:id="rId12"/>
    <p:sldLayoutId id="2147484098" r:id="rId13"/>
    <p:sldLayoutId id="2147484099" r:id="rId14"/>
    <p:sldLayoutId id="2147484100" r:id="rId15"/>
    <p:sldLayoutId id="2147484101" r:id="rId16"/>
    <p:sldLayoutId id="2147484102" r:id="rId17"/>
  </p:sldLayoutIdLst>
  <p:hf hdr="0" dt="0"/>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21.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13" name="Rectangle 11">
            <a:extLst>
              <a:ext uri="{FF2B5EF4-FFF2-40B4-BE49-F238E27FC236}">
                <a16:creationId xmlns:a16="http://schemas.microsoft.com/office/drawing/2014/main" id="{9401732C-37EE-4B98-A709-9530173F3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p>
        </p:txBody>
      </p:sp>
      <p:grpSp>
        <p:nvGrpSpPr>
          <p:cNvPr id="19" name="Group 13">
            <a:extLst>
              <a:ext uri="{FF2B5EF4-FFF2-40B4-BE49-F238E27FC236}">
                <a16:creationId xmlns:a16="http://schemas.microsoft.com/office/drawing/2014/main" id="{654E48C8-2A00-4C54-BC9C-B18EE49E9C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786"/>
            <a:ext cx="12229962" cy="6856214"/>
            <a:chOff x="-15736" y="0"/>
            <a:chExt cx="12229962" cy="6856214"/>
          </a:xfrm>
        </p:grpSpPr>
        <p:pic>
          <p:nvPicPr>
            <p:cNvPr id="15" name="Picture 14">
              <a:extLst>
                <a:ext uri="{FF2B5EF4-FFF2-40B4-BE49-F238E27FC236}">
                  <a16:creationId xmlns:a16="http://schemas.microsoft.com/office/drawing/2014/main" id="{CE0A0544-8F52-43F0-AC3E-DF683908B56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6" name="Rectangle 15">
              <a:extLst>
                <a:ext uri="{FF2B5EF4-FFF2-40B4-BE49-F238E27FC236}">
                  <a16:creationId xmlns:a16="http://schemas.microsoft.com/office/drawing/2014/main" id="{2F4057D3-A680-4443-9E51-ED920A691E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7" name="Picture 16">
              <a:extLst>
                <a:ext uri="{FF2B5EF4-FFF2-40B4-BE49-F238E27FC236}">
                  <a16:creationId xmlns:a16="http://schemas.microsoft.com/office/drawing/2014/main" id="{2F6853A4-7B38-4FDE-B024-AE8BA71E738C}"/>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8" name="Picture 17">
              <a:extLst>
                <a:ext uri="{FF2B5EF4-FFF2-40B4-BE49-F238E27FC236}">
                  <a16:creationId xmlns:a16="http://schemas.microsoft.com/office/drawing/2014/main" id="{86ADF4DB-4290-4441-8F8E-04152FE60631}"/>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1">
            <a:extLst>
              <a:ext uri="{FF2B5EF4-FFF2-40B4-BE49-F238E27FC236}">
                <a16:creationId xmlns:a16="http://schemas.microsoft.com/office/drawing/2014/main" id="{B77AE531-7C1D-4873-8F18-4B7C3E3549EA}"/>
              </a:ext>
            </a:extLst>
          </p:cNvPr>
          <p:cNvSpPr>
            <a:spLocks noGrp="1"/>
          </p:cNvSpPr>
          <p:nvPr>
            <p:ph type="ctrTitle"/>
          </p:nvPr>
        </p:nvSpPr>
        <p:spPr>
          <a:xfrm>
            <a:off x="997528" y="982132"/>
            <a:ext cx="4094017" cy="2823880"/>
          </a:xfrm>
        </p:spPr>
        <p:txBody>
          <a:bodyPr>
            <a:normAutofit/>
          </a:bodyPr>
          <a:lstStyle/>
          <a:p>
            <a:r>
              <a:rPr lang="en-US" sz="4800">
                <a:solidFill>
                  <a:srgbClr val="262626"/>
                </a:solidFill>
              </a:rPr>
              <a:t>Intro to Public Finance</a:t>
            </a:r>
          </a:p>
        </p:txBody>
      </p:sp>
      <p:sp>
        <p:nvSpPr>
          <p:cNvPr id="3" name="Subtitle 2">
            <a:extLst>
              <a:ext uri="{FF2B5EF4-FFF2-40B4-BE49-F238E27FC236}">
                <a16:creationId xmlns:a16="http://schemas.microsoft.com/office/drawing/2014/main" id="{8040F224-8C54-45D1-BED9-9E0E048AF38E}"/>
              </a:ext>
            </a:extLst>
          </p:cNvPr>
          <p:cNvSpPr>
            <a:spLocks noGrp="1"/>
          </p:cNvSpPr>
          <p:nvPr>
            <p:ph type="subTitle" idx="1"/>
          </p:nvPr>
        </p:nvSpPr>
        <p:spPr>
          <a:xfrm>
            <a:off x="997528" y="4076944"/>
            <a:ext cx="4094017" cy="1679620"/>
          </a:xfrm>
        </p:spPr>
        <p:txBody>
          <a:bodyPr>
            <a:normAutofit/>
          </a:bodyPr>
          <a:lstStyle/>
          <a:p>
            <a:r>
              <a:rPr lang="en-US" dirty="0">
                <a:solidFill>
                  <a:srgbClr val="000000"/>
                </a:solidFill>
              </a:rPr>
              <a:t>Week 4 Spring 2020</a:t>
            </a:r>
          </a:p>
        </p:txBody>
      </p:sp>
      <p:pic>
        <p:nvPicPr>
          <p:cNvPr id="7" name="Graphic 6" descr="Bank">
            <a:extLst>
              <a:ext uri="{FF2B5EF4-FFF2-40B4-BE49-F238E27FC236}">
                <a16:creationId xmlns:a16="http://schemas.microsoft.com/office/drawing/2014/main" id="{FE75E220-755C-4303-B12C-35DDA11CA54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06533" y="982131"/>
            <a:ext cx="4893735" cy="4893735"/>
          </a:xfrm>
          <a:prstGeom prst="rect">
            <a:avLst/>
          </a:prstGeom>
          <a:ln w="57150" cmpd="thickThin">
            <a:solidFill>
              <a:srgbClr val="7F7F7F"/>
            </a:solidFill>
            <a:miter lim="800000"/>
          </a:ln>
        </p:spPr>
      </p:pic>
      <p:sp>
        <p:nvSpPr>
          <p:cNvPr id="4" name="Footer Placeholder 3">
            <a:extLst>
              <a:ext uri="{FF2B5EF4-FFF2-40B4-BE49-F238E27FC236}">
                <a16:creationId xmlns:a16="http://schemas.microsoft.com/office/drawing/2014/main" id="{5F65090B-CB3D-684B-B449-BF74538B692E}"/>
              </a:ext>
            </a:extLst>
          </p:cNvPr>
          <p:cNvSpPr>
            <a:spLocks noGrp="1"/>
          </p:cNvSpPr>
          <p:nvPr>
            <p:ph type="ftr" sz="quarter" idx="11"/>
          </p:nvPr>
        </p:nvSpPr>
        <p:spPr/>
        <p:txBody>
          <a:bodyPr/>
          <a:lstStyle/>
          <a:p>
            <a:r>
              <a:rPr lang="en-US"/>
              <a:t>Intro to Public Finance Spring 2020</a:t>
            </a:r>
            <a:endParaRPr lang="en-US" dirty="0"/>
          </a:p>
        </p:txBody>
      </p:sp>
      <p:sp>
        <p:nvSpPr>
          <p:cNvPr id="5" name="Slide Number Placeholder 4">
            <a:extLst>
              <a:ext uri="{FF2B5EF4-FFF2-40B4-BE49-F238E27FC236}">
                <a16:creationId xmlns:a16="http://schemas.microsoft.com/office/drawing/2014/main" id="{FFA7AF1E-5327-F245-B08F-BF888CCE7AE9}"/>
              </a:ext>
            </a:extLst>
          </p:cNvPr>
          <p:cNvSpPr>
            <a:spLocks noGrp="1"/>
          </p:cNvSpPr>
          <p:nvPr>
            <p:ph type="sldNum" sz="quarter" idx="12"/>
          </p:nvPr>
        </p:nvSpPr>
        <p:spPr/>
        <p:txBody>
          <a:bodyPr/>
          <a:lstStyle/>
          <a:p>
            <a:fld id="{D57F1E4F-1CFF-5643-939E-217C01CDF565}" type="slidenum">
              <a:rPr lang="en-US" smtClean="0"/>
              <a:pPr/>
              <a:t>1</a:t>
            </a:fld>
            <a:endParaRPr lang="en-US" dirty="0"/>
          </a:p>
        </p:txBody>
      </p:sp>
    </p:spTree>
    <p:extLst>
      <p:ext uri="{BB962C8B-B14F-4D97-AF65-F5344CB8AC3E}">
        <p14:creationId xmlns:p14="http://schemas.microsoft.com/office/powerpoint/2010/main" val="3281766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52EFC-7379-4221-A021-2519210C246C}"/>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174F0DD0-4317-4EE2-A8C7-B8F752571F2C}"/>
              </a:ext>
            </a:extLst>
          </p:cNvPr>
          <p:cNvSpPr>
            <a:spLocks noGrp="1"/>
          </p:cNvSpPr>
          <p:nvPr>
            <p:ph idx="1"/>
          </p:nvPr>
        </p:nvSpPr>
        <p:spPr/>
        <p:txBody>
          <a:bodyPr vert="horz" lIns="91440" tIns="45720" rIns="91440" bIns="45720" rtlCol="0" anchor="t">
            <a:normAutofit/>
          </a:bodyPr>
          <a:lstStyle/>
          <a:p>
            <a:r>
              <a:rPr lang="en-US" dirty="0"/>
              <a:t>Librarian, Rebecca Hyde to talk about paper.</a:t>
            </a:r>
          </a:p>
          <a:p>
            <a:r>
              <a:rPr lang="en-US" dirty="0"/>
              <a:t>Review of where we left off last week.</a:t>
            </a:r>
          </a:p>
          <a:p>
            <a:r>
              <a:rPr lang="en-US" dirty="0"/>
              <a:t>How economists define efficiency.</a:t>
            </a:r>
          </a:p>
          <a:p>
            <a:r>
              <a:rPr lang="en-US" dirty="0"/>
              <a:t>Individual utility and consumer choice.</a:t>
            </a:r>
          </a:p>
          <a:p>
            <a:r>
              <a:rPr lang="en-US" dirty="0"/>
              <a:t>Budget constraint.</a:t>
            </a:r>
          </a:p>
          <a:p>
            <a:r>
              <a:rPr lang="en-US"/>
              <a:t>Exchange efficiency and Production efficiency.</a:t>
            </a:r>
            <a:endParaRPr lang="en-US" dirty="0"/>
          </a:p>
          <a:p>
            <a:endParaRPr lang="en-US" dirty="0"/>
          </a:p>
          <a:p>
            <a:endParaRPr lang="en-US" dirty="0"/>
          </a:p>
          <a:p>
            <a:endParaRPr lang="en-US" dirty="0"/>
          </a:p>
        </p:txBody>
      </p:sp>
      <p:sp>
        <p:nvSpPr>
          <p:cNvPr id="4" name="Footer Placeholder 3">
            <a:extLst>
              <a:ext uri="{FF2B5EF4-FFF2-40B4-BE49-F238E27FC236}">
                <a16:creationId xmlns:a16="http://schemas.microsoft.com/office/drawing/2014/main" id="{07445183-0B34-467F-9A29-914683AE7AE1}"/>
              </a:ext>
            </a:extLst>
          </p:cNvPr>
          <p:cNvSpPr>
            <a:spLocks noGrp="1"/>
          </p:cNvSpPr>
          <p:nvPr>
            <p:ph type="ftr" sz="quarter" idx="11"/>
          </p:nvPr>
        </p:nvSpPr>
        <p:spPr/>
        <p:txBody>
          <a:bodyPr/>
          <a:lstStyle/>
          <a:p>
            <a:pPr>
              <a:defRPr/>
            </a:pPr>
            <a:r>
              <a:rPr lang="nl-NL"/>
              <a:t>Intro to Public Finance Spring 2020</a:t>
            </a:r>
            <a:endParaRPr lang="en-US"/>
          </a:p>
        </p:txBody>
      </p:sp>
      <p:sp>
        <p:nvSpPr>
          <p:cNvPr id="5" name="Slide Number Placeholder 4">
            <a:extLst>
              <a:ext uri="{FF2B5EF4-FFF2-40B4-BE49-F238E27FC236}">
                <a16:creationId xmlns:a16="http://schemas.microsoft.com/office/drawing/2014/main" id="{E8276C19-23C9-45AF-925C-9325AF3A00F3}"/>
              </a:ext>
            </a:extLst>
          </p:cNvPr>
          <p:cNvSpPr>
            <a:spLocks noGrp="1"/>
          </p:cNvSpPr>
          <p:nvPr>
            <p:ph type="sldNum" sz="quarter" idx="12"/>
          </p:nvPr>
        </p:nvSpPr>
        <p:spPr/>
        <p:txBody>
          <a:bodyPr/>
          <a:lstStyle/>
          <a:p>
            <a:pPr>
              <a:defRPr/>
            </a:pPr>
            <a:r>
              <a:rPr lang="en-US"/>
              <a:t>2-</a:t>
            </a:r>
            <a:fld id="{C22FAA8F-BA94-D941-8AE6-B37D3B746757}" type="slidenum">
              <a:rPr lang="en-US"/>
              <a:pPr>
                <a:defRPr/>
              </a:pPr>
              <a:t>2</a:t>
            </a:fld>
            <a:endParaRPr lang="en-US"/>
          </a:p>
        </p:txBody>
      </p:sp>
    </p:spTree>
    <p:extLst>
      <p:ext uri="{BB962C8B-B14F-4D97-AF65-F5344CB8AC3E}">
        <p14:creationId xmlns:p14="http://schemas.microsoft.com/office/powerpoint/2010/main" val="3197495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218" name="Picture 2" descr="Figure 3.2 shows a line graph of the utility possibilities. This curve gives the maximum level of utility that one individual named Friday can achieve, given the level of utility of the other individual named Crusoe. Along the frontier, it is not possible for Crusoe to consume more unless Friday consumes less. Therefore, the utility possibilities curve is downward sloping: the higher Crusoe’s utility, the lower the maximum level of Friday’s utility."/>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70100" y="1892300"/>
            <a:ext cx="8032750" cy="420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31264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DBA32-8D5A-0E40-B4EF-47B4E2A4ED39}"/>
              </a:ext>
            </a:extLst>
          </p:cNvPr>
          <p:cNvSpPr>
            <a:spLocks noGrp="1"/>
          </p:cNvSpPr>
          <p:nvPr>
            <p:ph type="title"/>
          </p:nvPr>
        </p:nvSpPr>
        <p:spPr/>
        <p:txBody>
          <a:bodyPr/>
          <a:lstStyle/>
          <a:p>
            <a:r>
              <a:rPr lang="en-US" dirty="0"/>
              <a:t>Consumer’s Choice problem</a:t>
            </a:r>
          </a:p>
        </p:txBody>
      </p:sp>
      <p:sp>
        <p:nvSpPr>
          <p:cNvPr id="3" name="Content Placeholder 2">
            <a:extLst>
              <a:ext uri="{FF2B5EF4-FFF2-40B4-BE49-F238E27FC236}">
                <a16:creationId xmlns:a16="http://schemas.microsoft.com/office/drawing/2014/main" id="{914D23DD-09A6-B641-BE2C-D60CA22514D3}"/>
              </a:ext>
            </a:extLst>
          </p:cNvPr>
          <p:cNvSpPr>
            <a:spLocks noGrp="1"/>
          </p:cNvSpPr>
          <p:nvPr>
            <p:ph idx="1"/>
          </p:nvPr>
        </p:nvSpPr>
        <p:spPr/>
        <p:txBody>
          <a:bodyPr/>
          <a:lstStyle/>
          <a:p>
            <a:r>
              <a:rPr lang="en-US" dirty="0"/>
              <a:t>Individuals’ decisions, such as what goods and services to buy, can be analyzed as choices made within certain budget constraints. </a:t>
            </a:r>
          </a:p>
          <a:p>
            <a:r>
              <a:rPr lang="en-US" dirty="0"/>
              <a:t>Generally, consumers are trying to get the most for their limited budget; in other words, they are trying to maximize total utility, or satisfaction, given their budget constraint.</a:t>
            </a:r>
          </a:p>
        </p:txBody>
      </p:sp>
      <p:sp>
        <p:nvSpPr>
          <p:cNvPr id="4" name="Footer Placeholder 3">
            <a:extLst>
              <a:ext uri="{FF2B5EF4-FFF2-40B4-BE49-F238E27FC236}">
                <a16:creationId xmlns:a16="http://schemas.microsoft.com/office/drawing/2014/main" id="{4AF67A83-3F6E-5F47-AA5E-10CAC0D87279}"/>
              </a:ext>
            </a:extLst>
          </p:cNvPr>
          <p:cNvSpPr>
            <a:spLocks noGrp="1"/>
          </p:cNvSpPr>
          <p:nvPr>
            <p:ph type="ftr" sz="quarter" idx="11"/>
          </p:nvPr>
        </p:nvSpPr>
        <p:spPr/>
        <p:txBody>
          <a:bodyPr/>
          <a:lstStyle/>
          <a:p>
            <a:r>
              <a:rPr lang="en-US"/>
              <a:t>Intro to Public Finance Spring 2020</a:t>
            </a:r>
            <a:endParaRPr lang="en-US" dirty="0"/>
          </a:p>
        </p:txBody>
      </p:sp>
      <p:sp>
        <p:nvSpPr>
          <p:cNvPr id="5" name="Slide Number Placeholder 4">
            <a:extLst>
              <a:ext uri="{FF2B5EF4-FFF2-40B4-BE49-F238E27FC236}">
                <a16:creationId xmlns:a16="http://schemas.microsoft.com/office/drawing/2014/main" id="{B31EB698-447E-0240-AF01-3F9122A03791}"/>
              </a:ext>
            </a:extLst>
          </p:cNvPr>
          <p:cNvSpPr>
            <a:spLocks noGrp="1"/>
          </p:cNvSpPr>
          <p:nvPr>
            <p:ph type="sldNum" sz="quarter" idx="12"/>
          </p:nvPr>
        </p:nvSpPr>
        <p:spPr/>
        <p:txBody>
          <a:bodyPr/>
          <a:lstStyle/>
          <a:p>
            <a:fld id="{E97799C9-84D9-46D2-A11E-BCF8A720529D}" type="slidenum">
              <a:rPr lang="en-US" smtClean="0"/>
              <a:t>4</a:t>
            </a:fld>
            <a:endParaRPr lang="en-US" dirty="0"/>
          </a:p>
        </p:txBody>
      </p:sp>
    </p:spTree>
    <p:extLst>
      <p:ext uri="{BB962C8B-B14F-4D97-AF65-F5344CB8AC3E}">
        <p14:creationId xmlns:p14="http://schemas.microsoft.com/office/powerpoint/2010/main" val="23715916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1266" name="Picture 1" descr="Figure 3.3 is a graph entitled &quot;Crusoe's Budget Constraint,&quot; which shows a production possibility curve. The curve is linear and downward sloping. Given income of 100 dollars, the price of oranges of 2 dollars, and the price of apples of 1 dollar, an individual can purchase any combination of apples and oranges along or to the left of the budget constraint. Any combination to the right of the budget constraint is unaffordable. The slope of the budget constraint is based on the relative price of oranges and apples."/>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1892300"/>
            <a:ext cx="7924800" cy="420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93491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4AD57D3-19B3-CE4E-8EC4-F7AD6FF19E1C}"/>
              </a:ext>
            </a:extLst>
          </p:cNvPr>
          <p:cNvSpPr>
            <a:spLocks noGrp="1"/>
          </p:cNvSpPr>
          <p:nvPr>
            <p:ph type="ftr" sz="quarter" idx="11"/>
          </p:nvPr>
        </p:nvSpPr>
        <p:spPr/>
        <p:txBody>
          <a:bodyPr/>
          <a:lstStyle/>
          <a:p>
            <a:r>
              <a:rPr lang="en-US"/>
              <a:t>Intro to Public Finance Spring 2020</a:t>
            </a:r>
            <a:endParaRPr lang="en-US" dirty="0"/>
          </a:p>
        </p:txBody>
      </p:sp>
      <p:sp>
        <p:nvSpPr>
          <p:cNvPr id="3" name="Slide Number Placeholder 2">
            <a:extLst>
              <a:ext uri="{FF2B5EF4-FFF2-40B4-BE49-F238E27FC236}">
                <a16:creationId xmlns:a16="http://schemas.microsoft.com/office/drawing/2014/main" id="{91D0E4CA-FAAC-2E46-AAC1-90BF455F23B9}"/>
              </a:ext>
            </a:extLst>
          </p:cNvPr>
          <p:cNvSpPr>
            <a:spLocks noGrp="1"/>
          </p:cNvSpPr>
          <p:nvPr>
            <p:ph type="sldNum" sz="quarter" idx="12"/>
          </p:nvPr>
        </p:nvSpPr>
        <p:spPr/>
        <p:txBody>
          <a:bodyPr/>
          <a:lstStyle/>
          <a:p>
            <a:fld id="{D57F1E4F-1CFF-5643-939E-217C01CDF565}" type="slidenum">
              <a:rPr lang="en-US" smtClean="0"/>
              <a:pPr/>
              <a:t>6</a:t>
            </a:fld>
            <a:endParaRPr lang="en-US" dirty="0"/>
          </a:p>
        </p:txBody>
      </p:sp>
      <p:pic>
        <p:nvPicPr>
          <p:cNvPr id="8" name="Content Placeholder 7">
            <a:extLst>
              <a:ext uri="{FF2B5EF4-FFF2-40B4-BE49-F238E27FC236}">
                <a16:creationId xmlns:a16="http://schemas.microsoft.com/office/drawing/2014/main" id="{11014678-F8AD-F946-93F7-39A1F5173D08}"/>
              </a:ext>
            </a:extLst>
          </p:cNvPr>
          <p:cNvPicPr>
            <a:picLocks noGrp="1" noChangeAspect="1"/>
          </p:cNvPicPr>
          <p:nvPr>
            <p:ph idx="4294967295"/>
          </p:nvPr>
        </p:nvPicPr>
        <p:blipFill>
          <a:blip r:embed="rId3">
            <a:extLst>
              <a:ext uri="{28A0092B-C50C-407E-A947-70E740481C1C}">
                <a14:useLocalDpi xmlns:a14="http://schemas.microsoft.com/office/drawing/2010/main" val="0"/>
              </a:ext>
            </a:extLst>
          </a:blip>
          <a:stretch>
            <a:fillRect/>
          </a:stretch>
        </p:blipFill>
        <p:spPr>
          <a:xfrm>
            <a:off x="3456878" y="1955297"/>
            <a:ext cx="4638675" cy="3317875"/>
          </a:xfrm>
        </p:spPr>
      </p:pic>
    </p:spTree>
    <p:extLst>
      <p:ext uri="{BB962C8B-B14F-4D97-AF65-F5344CB8AC3E}">
        <p14:creationId xmlns:p14="http://schemas.microsoft.com/office/powerpoint/2010/main" val="9893507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3314" name="Picture 2" descr="Figure 3.4 is a line graph illustrating the consumer’s choice problem. The budget constraint gives the combinations of apples and oranges that Crusoe can buy, given his income and given the price of apples and oranges. The indifference curve gives the combinations of apples and oranges among which Crusoe is indifferent. A and B are on the same indifference curve; Crusoe is indifferent between them. Other individuals prefer combinations of apples and oranges that are on a higher indifference curve. Thus, point F is preferred to either A or B. Crusoe chooses the point along the budget constraint that he most prefers; that is, the point at which the indifference curve I0 is tangent to the budget constraint (point E)."/>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289300" y="1892300"/>
            <a:ext cx="5613400" cy="420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864562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5D779-6E4D-F94B-A5CD-5774988F7B0C}"/>
              </a:ext>
            </a:extLst>
          </p:cNvPr>
          <p:cNvSpPr>
            <a:spLocks noGrp="1"/>
          </p:cNvSpPr>
          <p:nvPr>
            <p:ph type="title"/>
          </p:nvPr>
        </p:nvSpPr>
        <p:spPr/>
        <p:txBody>
          <a:bodyPr>
            <a:normAutofit fontScale="90000"/>
          </a:bodyPr>
          <a:lstStyle/>
          <a:p>
            <a:r>
              <a:rPr lang="en-US" dirty="0"/>
              <a:t>How a Change of Income Affects Consumption</a:t>
            </a:r>
          </a:p>
        </p:txBody>
      </p:sp>
      <p:pic>
        <p:nvPicPr>
          <p:cNvPr id="7" name="Content Placeholder 6">
            <a:extLst>
              <a:ext uri="{FF2B5EF4-FFF2-40B4-BE49-F238E27FC236}">
                <a16:creationId xmlns:a16="http://schemas.microsoft.com/office/drawing/2014/main" id="{102D5759-4F52-9F4B-AE10-493A4322BB8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017144" y="2557463"/>
            <a:ext cx="4157712" cy="3317875"/>
          </a:xfrm>
        </p:spPr>
      </p:pic>
      <p:sp>
        <p:nvSpPr>
          <p:cNvPr id="4" name="Footer Placeholder 3">
            <a:extLst>
              <a:ext uri="{FF2B5EF4-FFF2-40B4-BE49-F238E27FC236}">
                <a16:creationId xmlns:a16="http://schemas.microsoft.com/office/drawing/2014/main" id="{BE71F443-9AC0-8141-9ECF-2906B7583116}"/>
              </a:ext>
            </a:extLst>
          </p:cNvPr>
          <p:cNvSpPr>
            <a:spLocks noGrp="1"/>
          </p:cNvSpPr>
          <p:nvPr>
            <p:ph type="ftr" sz="quarter" idx="11"/>
          </p:nvPr>
        </p:nvSpPr>
        <p:spPr/>
        <p:txBody>
          <a:bodyPr/>
          <a:lstStyle/>
          <a:p>
            <a:r>
              <a:rPr lang="en-US"/>
              <a:t>Intro to Public Finance Spring 2020</a:t>
            </a:r>
            <a:endParaRPr lang="en-US" dirty="0"/>
          </a:p>
        </p:txBody>
      </p:sp>
      <p:sp>
        <p:nvSpPr>
          <p:cNvPr id="5" name="Slide Number Placeholder 4">
            <a:extLst>
              <a:ext uri="{FF2B5EF4-FFF2-40B4-BE49-F238E27FC236}">
                <a16:creationId xmlns:a16="http://schemas.microsoft.com/office/drawing/2014/main" id="{C70E73E0-90F0-CA4B-AAC5-BAB88717F960}"/>
              </a:ext>
            </a:extLst>
          </p:cNvPr>
          <p:cNvSpPr>
            <a:spLocks noGrp="1"/>
          </p:cNvSpPr>
          <p:nvPr>
            <p:ph type="sldNum" sz="quarter" idx="12"/>
          </p:nvPr>
        </p:nvSpPr>
        <p:spPr/>
        <p:txBody>
          <a:bodyPr/>
          <a:lstStyle/>
          <a:p>
            <a:fld id="{E97799C9-84D9-46D2-A11E-BCF8A720529D}" type="slidenum">
              <a:rPr lang="en-US" smtClean="0"/>
              <a:t>8</a:t>
            </a:fld>
            <a:endParaRPr lang="en-US" dirty="0"/>
          </a:p>
        </p:txBody>
      </p:sp>
    </p:spTree>
    <p:extLst>
      <p:ext uri="{BB962C8B-B14F-4D97-AF65-F5344CB8AC3E}">
        <p14:creationId xmlns:p14="http://schemas.microsoft.com/office/powerpoint/2010/main" val="9445027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t>Exchange Efficiency</a:t>
            </a:r>
          </a:p>
        </p:txBody>
      </p:sp>
      <p:sp>
        <p:nvSpPr>
          <p:cNvPr id="6" name="Content Placeholder 5"/>
          <p:cNvSpPr>
            <a:spLocks noGrp="1"/>
          </p:cNvSpPr>
          <p:nvPr>
            <p:ph idx="1"/>
          </p:nvPr>
        </p:nvSpPr>
        <p:spPr/>
        <p:txBody>
          <a:bodyPr/>
          <a:lstStyle/>
          <a:p>
            <a:r>
              <a:rPr lang="en-US"/>
              <a:t>All possible allocations between Crusoe and Friday can be represented in a box (next slide).</a:t>
            </a:r>
          </a:p>
          <a:p>
            <a:r>
              <a:rPr lang="en-US"/>
              <a:t>At the point of tangency (E), the slopes of the indifference curves are the same. </a:t>
            </a:r>
          </a:p>
          <a:p>
            <a:r>
              <a:rPr lang="en-US"/>
              <a:t>Their MRS for oranges are the same. </a:t>
            </a:r>
          </a:p>
          <a:p>
            <a:endParaRPr lang="en-US"/>
          </a:p>
        </p:txBody>
      </p:sp>
      <p:sp>
        <p:nvSpPr>
          <p:cNvPr id="7" name="Slide Number Placeholder 6"/>
          <p:cNvSpPr>
            <a:spLocks noGrp="1"/>
          </p:cNvSpPr>
          <p:nvPr>
            <p:ph type="sldNum" sz="quarter" idx="12"/>
          </p:nvPr>
        </p:nvSpPr>
        <p:spPr/>
        <p:txBody>
          <a:bodyPr/>
          <a:lstStyle/>
          <a:p>
            <a:fld id="{98BA2A1B-C4DB-4748-B560-E3B8550C6AD3}" type="slidenum">
              <a:rPr lang="en-US"/>
              <a:pPr/>
              <a:t>9</a:t>
            </a:fld>
            <a:endParaRPr lang="en-US"/>
          </a:p>
        </p:txBody>
      </p:sp>
      <p:sp>
        <p:nvSpPr>
          <p:cNvPr id="2" name="Footer Placeholder 1">
            <a:extLst>
              <a:ext uri="{FF2B5EF4-FFF2-40B4-BE49-F238E27FC236}">
                <a16:creationId xmlns:a16="http://schemas.microsoft.com/office/drawing/2014/main" id="{CEEAE2AC-18D0-2244-B862-5B8F97B68EDF}"/>
              </a:ext>
            </a:extLst>
          </p:cNvPr>
          <p:cNvSpPr>
            <a:spLocks noGrp="1"/>
          </p:cNvSpPr>
          <p:nvPr>
            <p:ph type="ftr" sz="quarter" idx="11"/>
          </p:nvPr>
        </p:nvSpPr>
        <p:spPr/>
        <p:txBody>
          <a:bodyPr/>
          <a:lstStyle/>
          <a:p>
            <a:r>
              <a:rPr lang="en-US"/>
              <a:t>Intro to Public Finance Spring 2020</a:t>
            </a:r>
            <a:endParaRPr lang="en-US" dirty="0"/>
          </a:p>
        </p:txBody>
      </p:sp>
    </p:spTree>
    <p:extLst>
      <p:ext uri="{BB962C8B-B14F-4D97-AF65-F5344CB8AC3E}">
        <p14:creationId xmlns:p14="http://schemas.microsoft.com/office/powerpoint/2010/main" val="3381557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5362" name="Picture 1" descr="Figure 3.5 is a diagram illustrating exchange efficiency with the Edgeworth-Bowley box. The sides of the box give the available supplies of apples and oranges.  Three different indifference curves for Friday and one indifference curve for Crusoe are graphed. Pareto efficiency requires the tangency of the two indifference curves (one such point is at E on the graph), where the marginal rates of substitution of apples for oranges are equal."/>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1752600"/>
            <a:ext cx="7927332" cy="450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85658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t>Production Efficiency</a:t>
            </a:r>
          </a:p>
        </p:txBody>
      </p:sp>
      <p:sp>
        <p:nvSpPr>
          <p:cNvPr id="6" name="Content Placeholder 5"/>
          <p:cNvSpPr>
            <a:spLocks noGrp="1"/>
          </p:cNvSpPr>
          <p:nvPr>
            <p:ph idx="1"/>
          </p:nvPr>
        </p:nvSpPr>
        <p:spPr/>
        <p:txBody>
          <a:bodyPr/>
          <a:lstStyle/>
          <a:p>
            <a:r>
              <a:rPr lang="en-US"/>
              <a:t>Along the Production Efficiency Frontier, the economy cannot produce more of one good without sacrificing some of another good, given a fixed set of inputs.</a:t>
            </a:r>
          </a:p>
          <a:p>
            <a:r>
              <a:rPr lang="en-US"/>
              <a:t>Theory of Marginal Rate of Technical Substitution (MRTS).</a:t>
            </a:r>
            <a:endParaRPr lang="en-US" dirty="0"/>
          </a:p>
          <a:p>
            <a:r>
              <a:rPr lang="en-US"/>
              <a:t>Isocost line is like the budget constraint but for firms not individuals. </a:t>
            </a:r>
          </a:p>
        </p:txBody>
      </p:sp>
      <p:sp>
        <p:nvSpPr>
          <p:cNvPr id="7" name="Slide Number Placeholder 6"/>
          <p:cNvSpPr>
            <a:spLocks noGrp="1"/>
          </p:cNvSpPr>
          <p:nvPr>
            <p:ph type="sldNum" sz="quarter" idx="12"/>
          </p:nvPr>
        </p:nvSpPr>
        <p:spPr/>
        <p:txBody>
          <a:bodyPr/>
          <a:lstStyle/>
          <a:p>
            <a:fld id="{98BA2A1B-C4DB-4748-B560-E3B8550C6AD3}" type="slidenum">
              <a:rPr lang="en-US"/>
              <a:pPr/>
              <a:t>11</a:t>
            </a:fld>
            <a:endParaRPr lang="en-US"/>
          </a:p>
        </p:txBody>
      </p:sp>
      <p:sp>
        <p:nvSpPr>
          <p:cNvPr id="2" name="Footer Placeholder 1">
            <a:extLst>
              <a:ext uri="{FF2B5EF4-FFF2-40B4-BE49-F238E27FC236}">
                <a16:creationId xmlns:a16="http://schemas.microsoft.com/office/drawing/2014/main" id="{426D9E0B-B8D8-3843-9CA9-47A5BF4D7ED0}"/>
              </a:ext>
            </a:extLst>
          </p:cNvPr>
          <p:cNvSpPr>
            <a:spLocks noGrp="1"/>
          </p:cNvSpPr>
          <p:nvPr>
            <p:ph type="ftr" sz="quarter" idx="11"/>
          </p:nvPr>
        </p:nvSpPr>
        <p:spPr/>
        <p:txBody>
          <a:bodyPr/>
          <a:lstStyle/>
          <a:p>
            <a:r>
              <a:rPr lang="en-US"/>
              <a:t>Intro to Public Finance Spring 2020</a:t>
            </a:r>
            <a:endParaRPr lang="en-US" dirty="0"/>
          </a:p>
        </p:txBody>
      </p:sp>
    </p:spTree>
    <p:extLst>
      <p:ext uri="{BB962C8B-B14F-4D97-AF65-F5344CB8AC3E}">
        <p14:creationId xmlns:p14="http://schemas.microsoft.com/office/powerpoint/2010/main" val="3496474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9458" name="Picture 1" descr="Figure 3.7 is a graph with downward sloping Isoquant and Isocost lines. In this example, an isoquant gives combinations of inputs (land and labor) that yield the same output. The isoquant labeled Q1 represents a higher level of output than the isoquant labeled Q0. The slope of the isoquant is the marginal rate of technical substitution. The isocost line gives the combinations of inputs that cost the same amount. The slope of the isocost line is given by the relative prices of the two inputs. The firm maximizes its output, given a particular level of expenditures on inputs, at the point where the isoquant is tangent to the isocost line. At that point, the marginal rate of technical substitution equals the relative price."/>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302000" y="1892300"/>
            <a:ext cx="5568950" cy="420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437282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1506" name="Picture 2" descr="Figure 3.8 is an Edgeworth-Bowley box illustrating production efficiency. Five downward sloping apple isoquant lines and one downward sloping orange isoquant line are graphed. The sides of this Edgeworth-Bowley box give the available supply of resources, including land and labor. Resources used in the production of oranges are given by OA and OB; resources not used in the production of oranges are used in the production of apples, O'A' and O'B'. Production efficiency requires the tangency of the isoquants. At tangency points, such as E, the marginal rate of substitution of land for labor is the same in the production of apples and oranges."/>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53733" y="1630603"/>
            <a:ext cx="7308850" cy="420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781794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77A3DB7-BD99-4448-A32E-98F0073266AD}"/>
              </a:ext>
            </a:extLst>
          </p:cNvPr>
          <p:cNvSpPr>
            <a:spLocks noGrp="1"/>
          </p:cNvSpPr>
          <p:nvPr>
            <p:ph type="title"/>
          </p:nvPr>
        </p:nvSpPr>
        <p:spPr/>
        <p:txBody>
          <a:bodyPr/>
          <a:lstStyle/>
          <a:p>
            <a:r>
              <a:rPr lang="en-US"/>
              <a:t>Edgeworth-Bowley Box</a:t>
            </a:r>
          </a:p>
        </p:txBody>
      </p:sp>
      <p:pic>
        <p:nvPicPr>
          <p:cNvPr id="7" name="Picture 7" descr="A close up of a logo&#10;&#10;Description generated with very high confidence">
            <a:extLst>
              <a:ext uri="{FF2B5EF4-FFF2-40B4-BE49-F238E27FC236}">
                <a16:creationId xmlns:a16="http://schemas.microsoft.com/office/drawing/2014/main" id="{28BFFEF7-11A1-4ED7-801C-8768BC22EDE5}"/>
              </a:ext>
            </a:extLst>
          </p:cNvPr>
          <p:cNvPicPr>
            <a:picLocks noGrp="1" noChangeAspect="1"/>
          </p:cNvPicPr>
          <p:nvPr>
            <p:ph sz="half" idx="1"/>
          </p:nvPr>
        </p:nvPicPr>
        <p:blipFill>
          <a:blip r:embed="rId3"/>
          <a:stretch>
            <a:fillRect/>
          </a:stretch>
        </p:blipFill>
        <p:spPr>
          <a:xfrm>
            <a:off x="1298448" y="3189849"/>
            <a:ext cx="4718304" cy="2051070"/>
          </a:xfrm>
        </p:spPr>
      </p:pic>
      <p:pic>
        <p:nvPicPr>
          <p:cNvPr id="9" name="Picture 9" descr="A close up of a logo&#10;&#10;Description generated with very high confidence">
            <a:extLst>
              <a:ext uri="{FF2B5EF4-FFF2-40B4-BE49-F238E27FC236}">
                <a16:creationId xmlns:a16="http://schemas.microsoft.com/office/drawing/2014/main" id="{16DD6981-253B-45CC-B002-8137F5D23886}"/>
              </a:ext>
            </a:extLst>
          </p:cNvPr>
          <p:cNvPicPr>
            <a:picLocks noGrp="1" noChangeAspect="1"/>
          </p:cNvPicPr>
          <p:nvPr>
            <p:ph sz="half" idx="2"/>
          </p:nvPr>
        </p:nvPicPr>
        <p:blipFill>
          <a:blip r:embed="rId4"/>
          <a:stretch>
            <a:fillRect/>
          </a:stretch>
        </p:blipFill>
        <p:spPr>
          <a:xfrm>
            <a:off x="6295595" y="2560320"/>
            <a:ext cx="4489801" cy="3310128"/>
          </a:xfrm>
        </p:spPr>
      </p:pic>
      <p:sp>
        <p:nvSpPr>
          <p:cNvPr id="2" name="Footer Placeholder 1">
            <a:extLst>
              <a:ext uri="{FF2B5EF4-FFF2-40B4-BE49-F238E27FC236}">
                <a16:creationId xmlns:a16="http://schemas.microsoft.com/office/drawing/2014/main" id="{0A22F8ED-BE53-D146-A673-A92F4DEF0074}"/>
              </a:ext>
            </a:extLst>
          </p:cNvPr>
          <p:cNvSpPr>
            <a:spLocks noGrp="1"/>
          </p:cNvSpPr>
          <p:nvPr>
            <p:ph type="ftr" sz="quarter" idx="11"/>
          </p:nvPr>
        </p:nvSpPr>
        <p:spPr/>
        <p:txBody>
          <a:bodyPr/>
          <a:lstStyle/>
          <a:p>
            <a:r>
              <a:rPr lang="en-US"/>
              <a:t>Intro to Public Finance Spring 2020</a:t>
            </a:r>
            <a:endParaRPr lang="en-US" dirty="0"/>
          </a:p>
        </p:txBody>
      </p:sp>
      <p:sp>
        <p:nvSpPr>
          <p:cNvPr id="3" name="Slide Number Placeholder 2">
            <a:extLst>
              <a:ext uri="{FF2B5EF4-FFF2-40B4-BE49-F238E27FC236}">
                <a16:creationId xmlns:a16="http://schemas.microsoft.com/office/drawing/2014/main" id="{6D1B9245-2FD7-CD4F-82D3-8ECA8092DE92}"/>
              </a:ext>
            </a:extLst>
          </p:cNvPr>
          <p:cNvSpPr>
            <a:spLocks noGrp="1"/>
          </p:cNvSpPr>
          <p:nvPr>
            <p:ph type="sldNum" sz="quarter" idx="12"/>
          </p:nvPr>
        </p:nvSpPr>
        <p:spPr/>
        <p:txBody>
          <a:bodyPr/>
          <a:lstStyle/>
          <a:p>
            <a:fld id="{D57F1E4F-1CFF-5643-939E-217C01CDF565}" type="slidenum">
              <a:rPr lang="en-US" smtClean="0"/>
              <a:pPr/>
              <a:t>14</a:t>
            </a:fld>
            <a:endParaRPr lang="en-US" dirty="0"/>
          </a:p>
        </p:txBody>
      </p:sp>
    </p:spTree>
    <p:extLst>
      <p:ext uri="{BB962C8B-B14F-4D97-AF65-F5344CB8AC3E}">
        <p14:creationId xmlns:p14="http://schemas.microsoft.com/office/powerpoint/2010/main" val="25061380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3554" name="Picture 1" descr="Figure 3.9 is entitled &quot;Product Mix Efficiency Requires that the Marginal Rate of Transformation Equal Consumers' Marginal Rate of Substitution.&quot; This graph features a downward sloping production possibilities curve and two downward sloping indifference curves. To reach the highest level of consumers’ utility, the indifference curve and the production possibilities schedule must be tangent (point E) on the graph. At any other point, such as E’, consumer utility is lower than at E."/>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44700" y="1892300"/>
            <a:ext cx="8089900" cy="420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105081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b="5000"/>
          </a:stretch>
        </a:blipFill>
        <a:effectLst/>
      </p:bgPr>
    </p:bg>
    <p:spTree>
      <p:nvGrpSpPr>
        <p:cNvPr id="1" name=""/>
        <p:cNvGrpSpPr/>
        <p:nvPr/>
      </p:nvGrpSpPr>
      <p:grpSpPr>
        <a:xfrm>
          <a:off x="0" y="0"/>
          <a:ext cx="0" cy="0"/>
          <a:chOff x="0" y="0"/>
          <a:chExt cx="0" cy="0"/>
        </a:xfrm>
      </p:grpSpPr>
      <p:pic>
        <p:nvPicPr>
          <p:cNvPr id="7170" name="Picture 1" descr="Figure 4.1 is a line graph illustrating monopoly pricing. Monopoly output is lower than competitive output, or the output at which profits are zero. There is a resulting welfare loss."/>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943100" y="1905000"/>
            <a:ext cx="8286750" cy="420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39514217"/>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78</TotalTime>
  <Words>1377</Words>
  <Application>Microsoft Office PowerPoint</Application>
  <PresentationFormat>Widescreen</PresentationFormat>
  <Paragraphs>89</Paragraphs>
  <Slides>16</Slides>
  <Notes>15</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Organic</vt:lpstr>
      <vt:lpstr>Intro to Public Finance</vt:lpstr>
      <vt:lpstr>Overview</vt:lpstr>
      <vt:lpstr>PowerPoint Presentation</vt:lpstr>
      <vt:lpstr>Consumer’s Choice problem</vt:lpstr>
      <vt:lpstr>PowerPoint Presentation</vt:lpstr>
      <vt:lpstr>PowerPoint Presentation</vt:lpstr>
      <vt:lpstr>PowerPoint Presentation</vt:lpstr>
      <vt:lpstr>How a Change of Income Affects Consumption</vt:lpstr>
      <vt:lpstr>Exchange Efficiency</vt:lpstr>
      <vt:lpstr>PowerPoint Presentation</vt:lpstr>
      <vt:lpstr>Production Efficiency</vt:lpstr>
      <vt:lpstr>PowerPoint Presentation</vt:lpstr>
      <vt:lpstr>PowerPoint Presentation</vt:lpstr>
      <vt:lpstr>Edgeworth-Bowley Box</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Robert Cropf</cp:lastModifiedBy>
  <cp:revision>452</cp:revision>
  <dcterms:created xsi:type="dcterms:W3CDTF">2020-01-25T15:29:36Z</dcterms:created>
  <dcterms:modified xsi:type="dcterms:W3CDTF">2020-02-24T17:18:33Z</dcterms:modified>
</cp:coreProperties>
</file>