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85" r:id="rId1"/>
  </p:sldMasterIdLst>
  <p:notesMasterIdLst>
    <p:notesMasterId r:id="rId32"/>
  </p:notesMasterIdLst>
  <p:sldIdLst>
    <p:sldId id="256" r:id="rId2"/>
    <p:sldId id="284" r:id="rId3"/>
    <p:sldId id="285" r:id="rId4"/>
    <p:sldId id="286" r:id="rId5"/>
    <p:sldId id="258" r:id="rId6"/>
    <p:sldId id="263" r:id="rId7"/>
    <p:sldId id="257" r:id="rId8"/>
    <p:sldId id="259" r:id="rId9"/>
    <p:sldId id="262" r:id="rId10"/>
    <p:sldId id="261" r:id="rId11"/>
    <p:sldId id="264" r:id="rId12"/>
    <p:sldId id="265" r:id="rId13"/>
    <p:sldId id="266" r:id="rId14"/>
    <p:sldId id="268" r:id="rId15"/>
    <p:sldId id="267" r:id="rId16"/>
    <p:sldId id="269" r:id="rId17"/>
    <p:sldId id="287" r:id="rId18"/>
    <p:sldId id="271" r:id="rId19"/>
    <p:sldId id="270" r:id="rId20"/>
    <p:sldId id="276" r:id="rId21"/>
    <p:sldId id="275" r:id="rId22"/>
    <p:sldId id="274" r:id="rId23"/>
    <p:sldId id="273" r:id="rId24"/>
    <p:sldId id="272" r:id="rId25"/>
    <p:sldId id="283" r:id="rId26"/>
    <p:sldId id="282" r:id="rId27"/>
    <p:sldId id="281" r:id="rId28"/>
    <p:sldId id="280" r:id="rId29"/>
    <p:sldId id="279" r:id="rId30"/>
    <p:sldId id="278"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D5E05E-AAE2-6675-4927-A260B065DE23}" v="31" dt="2020-01-28T16:36:49.083"/>
    <p1510:client id="{21AB978C-69C9-C932-774C-7FA4843165C0}" v="183" dt="2020-01-25T19:03:24.633"/>
    <p1510:client id="{56E72749-6580-2ED4-C2C5-B84D2D0916D8}" v="48" dt="2020-01-27T18:37:07.501"/>
    <p1510:client id="{7AFEA36D-F336-3DF0-CB30-E6C2AB9D2CBD}" v="206" dt="2020-01-25T19:06:52.783"/>
    <p1510:client id="{EBA98B32-05DA-DB2E-5C24-E811BBD27CDB}" v="1233" dt="2020-01-28T19:37:20.3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65" autoAdjust="0"/>
    <p:restoredTop sz="94660"/>
  </p:normalViewPr>
  <p:slideViewPr>
    <p:cSldViewPr snapToGrid="0">
      <p:cViewPr varScale="1">
        <p:scale>
          <a:sx n="115" d="100"/>
          <a:sy n="115" d="100"/>
        </p:scale>
        <p:origin x="22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diagrams/_rels/drawing1.xml.rels><?xml version="1.0" encoding="UTF-8" standalone="yes"?>
<Relationships xmlns="http://schemas.openxmlformats.org/package/2006/relationships"><Relationship Id="rId1" Type="http://schemas.openxmlformats.org/officeDocument/2006/relationships/image" Target="../media/image1.jpe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6A746F-DDBA-43DE-A51F-0385335067C1}" type="doc">
      <dgm:prSet loTypeId="urn:microsoft.com/office/officeart/2008/layout/LinedList" loCatId="list" qsTypeId="urn:microsoft.com/office/officeart/2005/8/quickstyle/simple4" qsCatId="simple" csTypeId="urn:microsoft.com/office/officeart/2005/8/colors/colorful2" csCatId="colorful" phldr="1"/>
      <dgm:spPr/>
      <dgm:t>
        <a:bodyPr/>
        <a:lstStyle/>
        <a:p>
          <a:endParaRPr lang="en-US"/>
        </a:p>
      </dgm:t>
    </dgm:pt>
    <dgm:pt modelId="{F1A98833-93E7-41D3-B589-7ABCA2CFC6D5}">
      <dgm:prSet/>
      <dgm:spPr/>
      <dgm:t>
        <a:bodyPr/>
        <a:lstStyle/>
        <a:p>
          <a:pPr rtl="0"/>
          <a:r>
            <a:rPr lang="en-US" dirty="0"/>
            <a:t>Welfare economics is branch that focuses on normative issues.</a:t>
          </a:r>
          <a:r>
            <a:rPr lang="en-US" dirty="0">
              <a:latin typeface="Garamond" panose="02020404030301010803"/>
            </a:rPr>
            <a:t> </a:t>
          </a:r>
          <a:endParaRPr lang="en-US"/>
        </a:p>
      </dgm:t>
    </dgm:pt>
    <dgm:pt modelId="{11670A10-E3B5-4EB1-B9C5-515D14DC7AD8}" type="parTrans" cxnId="{ED779560-82CA-44C0-BA89-D1FAE62E2A25}">
      <dgm:prSet/>
      <dgm:spPr/>
      <dgm:t>
        <a:bodyPr/>
        <a:lstStyle/>
        <a:p>
          <a:endParaRPr lang="en-US"/>
        </a:p>
      </dgm:t>
    </dgm:pt>
    <dgm:pt modelId="{02315E8A-817C-4BF0-A1E7-7E640E87194F}" type="sibTrans" cxnId="{ED779560-82CA-44C0-BA89-D1FAE62E2A25}">
      <dgm:prSet/>
      <dgm:spPr/>
      <dgm:t>
        <a:bodyPr/>
        <a:lstStyle/>
        <a:p>
          <a:endParaRPr lang="en-US"/>
        </a:p>
      </dgm:t>
    </dgm:pt>
    <dgm:pt modelId="{3E582406-3845-4D83-BA9A-2CC6194345AF}">
      <dgm:prSet/>
      <dgm:spPr/>
      <dgm:t>
        <a:bodyPr/>
        <a:lstStyle/>
        <a:p>
          <a:r>
            <a:rPr lang="en-US" dirty="0"/>
            <a:t>What should be the economy’s organization—what should be produced, how it should be produced, for whom, and who should make these decisions.</a:t>
          </a:r>
        </a:p>
      </dgm:t>
    </dgm:pt>
    <dgm:pt modelId="{715B0811-AE45-4A9A-B85D-A2E615EB25F6}" type="parTrans" cxnId="{F018784D-A5F2-417C-AF51-EB99A6CEA207}">
      <dgm:prSet/>
      <dgm:spPr/>
      <dgm:t>
        <a:bodyPr/>
        <a:lstStyle/>
        <a:p>
          <a:endParaRPr lang="en-US"/>
        </a:p>
      </dgm:t>
    </dgm:pt>
    <dgm:pt modelId="{81CE990A-C33A-4265-81D0-A22D597446F5}" type="sibTrans" cxnId="{F018784D-A5F2-417C-AF51-EB99A6CEA207}">
      <dgm:prSet/>
      <dgm:spPr/>
      <dgm:t>
        <a:bodyPr/>
        <a:lstStyle/>
        <a:p>
          <a:endParaRPr lang="en-US"/>
        </a:p>
      </dgm:t>
    </dgm:pt>
    <dgm:pt modelId="{8A7DC6FE-0ED4-4069-BC75-FD1A7C7FC7EE}">
      <dgm:prSet phldr="0"/>
      <dgm:spPr/>
      <dgm:t>
        <a:bodyPr/>
        <a:lstStyle/>
        <a:p>
          <a:pPr rtl="0"/>
          <a:r>
            <a:rPr lang="en-US" dirty="0">
              <a:latin typeface="Garamond" panose="02020404030301010803"/>
            </a:rPr>
            <a:t>Takes into account both the private sector and public sector.</a:t>
          </a:r>
        </a:p>
      </dgm:t>
    </dgm:pt>
    <dgm:pt modelId="{0212212B-C00E-4777-909E-F1C64052635B}" type="parTrans" cxnId="{AF8F9B5F-EE89-46EA-A4F9-2E967A2129FE}">
      <dgm:prSet/>
      <dgm:spPr/>
    </dgm:pt>
    <dgm:pt modelId="{10733E8F-49EE-4DDB-A151-5E771D2A4A05}" type="sibTrans" cxnId="{AF8F9B5F-EE89-46EA-A4F9-2E967A2129FE}">
      <dgm:prSet/>
      <dgm:spPr/>
    </dgm:pt>
    <dgm:pt modelId="{2790EE41-BB77-40FC-ABF7-9E1FBD138BFE}" type="pres">
      <dgm:prSet presAssocID="{D56A746F-DDBA-43DE-A51F-0385335067C1}" presName="vert0" presStyleCnt="0">
        <dgm:presLayoutVars>
          <dgm:dir/>
          <dgm:animOne val="branch"/>
          <dgm:animLvl val="lvl"/>
        </dgm:presLayoutVars>
      </dgm:prSet>
      <dgm:spPr/>
    </dgm:pt>
    <dgm:pt modelId="{7E9A4B87-2686-4C1C-BA03-79A163B58430}" type="pres">
      <dgm:prSet presAssocID="{F1A98833-93E7-41D3-B589-7ABCA2CFC6D5}" presName="thickLine" presStyleLbl="alignNode1" presStyleIdx="0" presStyleCnt="3"/>
      <dgm:spPr/>
    </dgm:pt>
    <dgm:pt modelId="{0ADECB6E-BD0B-4E73-B233-984BC5D58EAA}" type="pres">
      <dgm:prSet presAssocID="{F1A98833-93E7-41D3-B589-7ABCA2CFC6D5}" presName="horz1" presStyleCnt="0"/>
      <dgm:spPr/>
    </dgm:pt>
    <dgm:pt modelId="{140BBEDA-71B6-4C30-9EDC-9E2C149B466C}" type="pres">
      <dgm:prSet presAssocID="{F1A98833-93E7-41D3-B589-7ABCA2CFC6D5}" presName="tx1" presStyleLbl="revTx" presStyleIdx="0" presStyleCnt="3"/>
      <dgm:spPr/>
    </dgm:pt>
    <dgm:pt modelId="{F9FE0433-D55C-4606-8533-EA55BCAFEC37}" type="pres">
      <dgm:prSet presAssocID="{F1A98833-93E7-41D3-B589-7ABCA2CFC6D5}" presName="vert1" presStyleCnt="0"/>
      <dgm:spPr/>
    </dgm:pt>
    <dgm:pt modelId="{186DED26-E043-484C-9FDD-D516ADAE0A82}" type="pres">
      <dgm:prSet presAssocID="{3E582406-3845-4D83-BA9A-2CC6194345AF}" presName="thickLine" presStyleLbl="alignNode1" presStyleIdx="1" presStyleCnt="3"/>
      <dgm:spPr/>
    </dgm:pt>
    <dgm:pt modelId="{5B8D8866-3BE0-425D-B335-B006DDDF276F}" type="pres">
      <dgm:prSet presAssocID="{3E582406-3845-4D83-BA9A-2CC6194345AF}" presName="horz1" presStyleCnt="0"/>
      <dgm:spPr/>
    </dgm:pt>
    <dgm:pt modelId="{04FC2736-A20A-4B0E-9581-0389783B9CC3}" type="pres">
      <dgm:prSet presAssocID="{3E582406-3845-4D83-BA9A-2CC6194345AF}" presName="tx1" presStyleLbl="revTx" presStyleIdx="1" presStyleCnt="3"/>
      <dgm:spPr/>
    </dgm:pt>
    <dgm:pt modelId="{F76A14CE-7606-4055-B0F2-6395020B29BC}" type="pres">
      <dgm:prSet presAssocID="{3E582406-3845-4D83-BA9A-2CC6194345AF}" presName="vert1" presStyleCnt="0"/>
      <dgm:spPr/>
    </dgm:pt>
    <dgm:pt modelId="{EAC4F6AF-B3F8-433A-AAB6-434885F5A523}" type="pres">
      <dgm:prSet presAssocID="{8A7DC6FE-0ED4-4069-BC75-FD1A7C7FC7EE}" presName="thickLine" presStyleLbl="alignNode1" presStyleIdx="2" presStyleCnt="3"/>
      <dgm:spPr/>
    </dgm:pt>
    <dgm:pt modelId="{94EA935B-CA94-4241-969D-7FBACA49FFC5}" type="pres">
      <dgm:prSet presAssocID="{8A7DC6FE-0ED4-4069-BC75-FD1A7C7FC7EE}" presName="horz1" presStyleCnt="0"/>
      <dgm:spPr/>
    </dgm:pt>
    <dgm:pt modelId="{F820D6E0-05DE-4923-9751-D20C1AB77783}" type="pres">
      <dgm:prSet presAssocID="{8A7DC6FE-0ED4-4069-BC75-FD1A7C7FC7EE}" presName="tx1" presStyleLbl="revTx" presStyleIdx="2" presStyleCnt="3"/>
      <dgm:spPr/>
    </dgm:pt>
    <dgm:pt modelId="{50DE9A7A-90E6-41B5-AA23-A78092CEE885}" type="pres">
      <dgm:prSet presAssocID="{8A7DC6FE-0ED4-4069-BC75-FD1A7C7FC7EE}" presName="vert1" presStyleCnt="0"/>
      <dgm:spPr/>
    </dgm:pt>
  </dgm:ptLst>
  <dgm:cxnLst>
    <dgm:cxn modelId="{74D29710-2D96-4973-85A6-55F9962145CC}" type="presOf" srcId="{3E582406-3845-4D83-BA9A-2CC6194345AF}" destId="{04FC2736-A20A-4B0E-9581-0389783B9CC3}" srcOrd="0" destOrd="0" presId="urn:microsoft.com/office/officeart/2008/layout/LinedList"/>
    <dgm:cxn modelId="{7A091D20-7B7A-42CB-89E1-014B2180047F}" type="presOf" srcId="{F1A98833-93E7-41D3-B589-7ABCA2CFC6D5}" destId="{140BBEDA-71B6-4C30-9EDC-9E2C149B466C}" srcOrd="0" destOrd="0" presId="urn:microsoft.com/office/officeart/2008/layout/LinedList"/>
    <dgm:cxn modelId="{AF8F9B5F-EE89-46EA-A4F9-2E967A2129FE}" srcId="{D56A746F-DDBA-43DE-A51F-0385335067C1}" destId="{8A7DC6FE-0ED4-4069-BC75-FD1A7C7FC7EE}" srcOrd="2" destOrd="0" parTransId="{0212212B-C00E-4777-909E-F1C64052635B}" sibTransId="{10733E8F-49EE-4DDB-A151-5E771D2A4A05}"/>
    <dgm:cxn modelId="{ED779560-82CA-44C0-BA89-D1FAE62E2A25}" srcId="{D56A746F-DDBA-43DE-A51F-0385335067C1}" destId="{F1A98833-93E7-41D3-B589-7ABCA2CFC6D5}" srcOrd="0" destOrd="0" parTransId="{11670A10-E3B5-4EB1-B9C5-515D14DC7AD8}" sibTransId="{02315E8A-817C-4BF0-A1E7-7E640E87194F}"/>
    <dgm:cxn modelId="{F018784D-A5F2-417C-AF51-EB99A6CEA207}" srcId="{D56A746F-DDBA-43DE-A51F-0385335067C1}" destId="{3E582406-3845-4D83-BA9A-2CC6194345AF}" srcOrd="1" destOrd="0" parTransId="{715B0811-AE45-4A9A-B85D-A2E615EB25F6}" sibTransId="{81CE990A-C33A-4265-81D0-A22D597446F5}"/>
    <dgm:cxn modelId="{0FDB6974-143D-434A-8D00-0D2216F28ABC}" type="presOf" srcId="{D56A746F-DDBA-43DE-A51F-0385335067C1}" destId="{2790EE41-BB77-40FC-ABF7-9E1FBD138BFE}" srcOrd="0" destOrd="0" presId="urn:microsoft.com/office/officeart/2008/layout/LinedList"/>
    <dgm:cxn modelId="{FB4B108B-DF84-4666-9406-1E5690E962DA}" type="presOf" srcId="{8A7DC6FE-0ED4-4069-BC75-FD1A7C7FC7EE}" destId="{F820D6E0-05DE-4923-9751-D20C1AB77783}" srcOrd="0" destOrd="0" presId="urn:microsoft.com/office/officeart/2008/layout/LinedList"/>
    <dgm:cxn modelId="{1F3C0952-154D-4649-B992-E3BD26DA6780}" type="presParOf" srcId="{2790EE41-BB77-40FC-ABF7-9E1FBD138BFE}" destId="{7E9A4B87-2686-4C1C-BA03-79A163B58430}" srcOrd="0" destOrd="0" presId="urn:microsoft.com/office/officeart/2008/layout/LinedList"/>
    <dgm:cxn modelId="{A5E91EB2-48E1-494E-9881-0842A2B559B4}" type="presParOf" srcId="{2790EE41-BB77-40FC-ABF7-9E1FBD138BFE}" destId="{0ADECB6E-BD0B-4E73-B233-984BC5D58EAA}" srcOrd="1" destOrd="0" presId="urn:microsoft.com/office/officeart/2008/layout/LinedList"/>
    <dgm:cxn modelId="{22C4B65E-6447-4A7A-89C2-06E2834299AB}" type="presParOf" srcId="{0ADECB6E-BD0B-4E73-B233-984BC5D58EAA}" destId="{140BBEDA-71B6-4C30-9EDC-9E2C149B466C}" srcOrd="0" destOrd="0" presId="urn:microsoft.com/office/officeart/2008/layout/LinedList"/>
    <dgm:cxn modelId="{B7F79849-AD59-4520-8560-5FDAC351B3CC}" type="presParOf" srcId="{0ADECB6E-BD0B-4E73-B233-984BC5D58EAA}" destId="{F9FE0433-D55C-4606-8533-EA55BCAFEC37}" srcOrd="1" destOrd="0" presId="urn:microsoft.com/office/officeart/2008/layout/LinedList"/>
    <dgm:cxn modelId="{C0B3191A-E4DB-49C3-83DB-0B27040EA62F}" type="presParOf" srcId="{2790EE41-BB77-40FC-ABF7-9E1FBD138BFE}" destId="{186DED26-E043-484C-9FDD-D516ADAE0A82}" srcOrd="2" destOrd="0" presId="urn:microsoft.com/office/officeart/2008/layout/LinedList"/>
    <dgm:cxn modelId="{44C5BFFB-1C4A-4BE5-83A3-C093F2C0752F}" type="presParOf" srcId="{2790EE41-BB77-40FC-ABF7-9E1FBD138BFE}" destId="{5B8D8866-3BE0-425D-B335-B006DDDF276F}" srcOrd="3" destOrd="0" presId="urn:microsoft.com/office/officeart/2008/layout/LinedList"/>
    <dgm:cxn modelId="{217AA09D-A2D3-45DF-80F3-65BE0A01205B}" type="presParOf" srcId="{5B8D8866-3BE0-425D-B335-B006DDDF276F}" destId="{04FC2736-A20A-4B0E-9581-0389783B9CC3}" srcOrd="0" destOrd="0" presId="urn:microsoft.com/office/officeart/2008/layout/LinedList"/>
    <dgm:cxn modelId="{30A76942-A86F-4736-82F6-5560FCA36EDB}" type="presParOf" srcId="{5B8D8866-3BE0-425D-B335-B006DDDF276F}" destId="{F76A14CE-7606-4055-B0F2-6395020B29BC}" srcOrd="1" destOrd="0" presId="urn:microsoft.com/office/officeart/2008/layout/LinedList"/>
    <dgm:cxn modelId="{94761F87-C830-4D4E-A35A-FACD42CCA255}" type="presParOf" srcId="{2790EE41-BB77-40FC-ABF7-9E1FBD138BFE}" destId="{EAC4F6AF-B3F8-433A-AAB6-434885F5A523}" srcOrd="4" destOrd="0" presId="urn:microsoft.com/office/officeart/2008/layout/LinedList"/>
    <dgm:cxn modelId="{CFFF6CAA-F336-4D0F-9279-4FAF2BB70DAB}" type="presParOf" srcId="{2790EE41-BB77-40FC-ABF7-9E1FBD138BFE}" destId="{94EA935B-CA94-4241-969D-7FBACA49FFC5}" srcOrd="5" destOrd="0" presId="urn:microsoft.com/office/officeart/2008/layout/LinedList"/>
    <dgm:cxn modelId="{76D7C019-D7E1-4589-AC79-C97AD60206DA}" type="presParOf" srcId="{94EA935B-CA94-4241-969D-7FBACA49FFC5}" destId="{F820D6E0-05DE-4923-9751-D20C1AB77783}" srcOrd="0" destOrd="0" presId="urn:microsoft.com/office/officeart/2008/layout/LinedList"/>
    <dgm:cxn modelId="{E4C25253-5EBC-401C-A75F-1E203C7D3BA1}" type="presParOf" srcId="{94EA935B-CA94-4241-969D-7FBACA49FFC5}" destId="{50DE9A7A-90E6-41B5-AA23-A78092CEE885}"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9A4B87-2686-4C1C-BA03-79A163B58430}">
      <dsp:nvSpPr>
        <dsp:cNvPr id="0" name=""/>
        <dsp:cNvSpPr/>
      </dsp:nvSpPr>
      <dsp:spPr>
        <a:xfrm>
          <a:off x="0" y="2562"/>
          <a:ext cx="5914209" cy="0"/>
        </a:xfrm>
        <a:prstGeom prst="line">
          <a:avLst/>
        </a:prstGeom>
        <a:blipFill>
          <a:blip xmlns:r="http://schemas.openxmlformats.org/officeDocument/2006/relationships" r:embed="rId1">
            <a:duotone>
              <a:schemeClr val="accent2">
                <a:hueOff val="0"/>
                <a:satOff val="0"/>
                <a:lumOff val="0"/>
                <a:alphaOff val="0"/>
                <a:shade val="74000"/>
                <a:satMod val="130000"/>
                <a:lumMod val="90000"/>
              </a:schemeClr>
              <a:schemeClr val="accent2">
                <a:hueOff val="0"/>
                <a:satOff val="0"/>
                <a:lumOff val="0"/>
                <a:alphaOff val="0"/>
                <a:tint val="94000"/>
                <a:satMod val="120000"/>
                <a:lumMod val="104000"/>
              </a:schemeClr>
            </a:duotone>
          </a:blip>
          <a:tile tx="0" ty="0" sx="100000" sy="100000" flip="none" algn="tl"/>
        </a:blipFill>
        <a:ln w="9525" cap="flat" cmpd="sng" algn="ctr">
          <a:solidFill>
            <a:schemeClr val="accent2">
              <a:hueOff val="0"/>
              <a:satOff val="0"/>
              <a:lumOff val="0"/>
              <a:alphaOff val="0"/>
            </a:schemeClr>
          </a:solidFill>
          <a:prstDash val="solid"/>
        </a:ln>
        <a:effectLst>
          <a:innerShdw blurRad="25400" dist="12700" dir="13500000">
            <a:srgbClr val="000000">
              <a:alpha val="45000"/>
            </a:srgbClr>
          </a:innerShdw>
        </a:effectLst>
      </dsp:spPr>
      <dsp:style>
        <a:lnRef idx="1">
          <a:scrgbClr r="0" g="0" b="0"/>
        </a:lnRef>
        <a:fillRef idx="3">
          <a:scrgbClr r="0" g="0" b="0"/>
        </a:fillRef>
        <a:effectRef idx="2">
          <a:scrgbClr r="0" g="0" b="0"/>
        </a:effectRef>
        <a:fontRef idx="minor">
          <a:schemeClr val="lt1"/>
        </a:fontRef>
      </dsp:style>
    </dsp:sp>
    <dsp:sp modelId="{140BBEDA-71B6-4C30-9EDC-9E2C149B466C}">
      <dsp:nvSpPr>
        <dsp:cNvPr id="0" name=""/>
        <dsp:cNvSpPr/>
      </dsp:nvSpPr>
      <dsp:spPr>
        <a:xfrm>
          <a:off x="0" y="2562"/>
          <a:ext cx="5914209" cy="1747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rtl="0">
            <a:lnSpc>
              <a:spcPct val="90000"/>
            </a:lnSpc>
            <a:spcBef>
              <a:spcPct val="0"/>
            </a:spcBef>
            <a:spcAft>
              <a:spcPct val="35000"/>
            </a:spcAft>
            <a:buNone/>
          </a:pPr>
          <a:r>
            <a:rPr lang="en-US" sz="2800" kern="1200" dirty="0"/>
            <a:t>Welfare economics is branch that focuses on normative issues.</a:t>
          </a:r>
          <a:r>
            <a:rPr lang="en-US" sz="2800" kern="1200" dirty="0">
              <a:latin typeface="Garamond" panose="02020404030301010803"/>
            </a:rPr>
            <a:t> </a:t>
          </a:r>
          <a:endParaRPr lang="en-US" sz="2800" kern="1200"/>
        </a:p>
      </dsp:txBody>
      <dsp:txXfrm>
        <a:off x="0" y="2562"/>
        <a:ext cx="5914209" cy="1747843"/>
      </dsp:txXfrm>
    </dsp:sp>
    <dsp:sp modelId="{186DED26-E043-484C-9FDD-D516ADAE0A82}">
      <dsp:nvSpPr>
        <dsp:cNvPr id="0" name=""/>
        <dsp:cNvSpPr/>
      </dsp:nvSpPr>
      <dsp:spPr>
        <a:xfrm>
          <a:off x="0" y="1750406"/>
          <a:ext cx="5914209" cy="0"/>
        </a:xfrm>
        <a:prstGeom prst="line">
          <a:avLst/>
        </a:prstGeom>
        <a:blipFill>
          <a:blip xmlns:r="http://schemas.openxmlformats.org/officeDocument/2006/relationships" r:embed="rId1">
            <a:duotone>
              <a:schemeClr val="accent2">
                <a:hueOff val="1681577"/>
                <a:satOff val="-1786"/>
                <a:lumOff val="1372"/>
                <a:alphaOff val="0"/>
                <a:shade val="74000"/>
                <a:satMod val="130000"/>
                <a:lumMod val="90000"/>
              </a:schemeClr>
              <a:schemeClr val="accent2">
                <a:hueOff val="1681577"/>
                <a:satOff val="-1786"/>
                <a:lumOff val="1372"/>
                <a:alphaOff val="0"/>
                <a:tint val="94000"/>
                <a:satMod val="120000"/>
                <a:lumMod val="104000"/>
              </a:schemeClr>
            </a:duotone>
          </a:blip>
          <a:tile tx="0" ty="0" sx="100000" sy="100000" flip="none" algn="tl"/>
        </a:blipFill>
        <a:ln w="9525" cap="flat" cmpd="sng" algn="ctr">
          <a:solidFill>
            <a:schemeClr val="accent2">
              <a:hueOff val="1681577"/>
              <a:satOff val="-1786"/>
              <a:lumOff val="1372"/>
              <a:alphaOff val="0"/>
            </a:schemeClr>
          </a:solidFill>
          <a:prstDash val="solid"/>
        </a:ln>
        <a:effectLst>
          <a:innerShdw blurRad="25400" dist="12700" dir="13500000">
            <a:srgbClr val="000000">
              <a:alpha val="45000"/>
            </a:srgbClr>
          </a:innerShdw>
        </a:effectLst>
      </dsp:spPr>
      <dsp:style>
        <a:lnRef idx="1">
          <a:scrgbClr r="0" g="0" b="0"/>
        </a:lnRef>
        <a:fillRef idx="3">
          <a:scrgbClr r="0" g="0" b="0"/>
        </a:fillRef>
        <a:effectRef idx="2">
          <a:scrgbClr r="0" g="0" b="0"/>
        </a:effectRef>
        <a:fontRef idx="minor">
          <a:schemeClr val="lt1"/>
        </a:fontRef>
      </dsp:style>
    </dsp:sp>
    <dsp:sp modelId="{04FC2736-A20A-4B0E-9581-0389783B9CC3}">
      <dsp:nvSpPr>
        <dsp:cNvPr id="0" name=""/>
        <dsp:cNvSpPr/>
      </dsp:nvSpPr>
      <dsp:spPr>
        <a:xfrm>
          <a:off x="0" y="1750406"/>
          <a:ext cx="5914209" cy="1747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What should be the economy’s organization—what should be produced, how it should be produced, for whom, and who should make these decisions.</a:t>
          </a:r>
        </a:p>
      </dsp:txBody>
      <dsp:txXfrm>
        <a:off x="0" y="1750406"/>
        <a:ext cx="5914209" cy="1747843"/>
      </dsp:txXfrm>
    </dsp:sp>
    <dsp:sp modelId="{EAC4F6AF-B3F8-433A-AAB6-434885F5A523}">
      <dsp:nvSpPr>
        <dsp:cNvPr id="0" name=""/>
        <dsp:cNvSpPr/>
      </dsp:nvSpPr>
      <dsp:spPr>
        <a:xfrm>
          <a:off x="0" y="3498250"/>
          <a:ext cx="5914209" cy="0"/>
        </a:xfrm>
        <a:prstGeom prst="line">
          <a:avLst/>
        </a:prstGeom>
        <a:blipFill>
          <a:blip xmlns:r="http://schemas.openxmlformats.org/officeDocument/2006/relationships" r:embed="rId1">
            <a:duotone>
              <a:schemeClr val="accent2">
                <a:hueOff val="3363155"/>
                <a:satOff val="-3572"/>
                <a:lumOff val="2745"/>
                <a:alphaOff val="0"/>
                <a:shade val="74000"/>
                <a:satMod val="130000"/>
                <a:lumMod val="90000"/>
              </a:schemeClr>
              <a:schemeClr val="accent2">
                <a:hueOff val="3363155"/>
                <a:satOff val="-3572"/>
                <a:lumOff val="2745"/>
                <a:alphaOff val="0"/>
                <a:tint val="94000"/>
                <a:satMod val="120000"/>
                <a:lumMod val="104000"/>
              </a:schemeClr>
            </a:duotone>
          </a:blip>
          <a:tile tx="0" ty="0" sx="100000" sy="100000" flip="none" algn="tl"/>
        </a:blipFill>
        <a:ln w="9525" cap="flat" cmpd="sng" algn="ctr">
          <a:solidFill>
            <a:schemeClr val="accent2">
              <a:hueOff val="3363155"/>
              <a:satOff val="-3572"/>
              <a:lumOff val="2745"/>
              <a:alphaOff val="0"/>
            </a:schemeClr>
          </a:solidFill>
          <a:prstDash val="solid"/>
        </a:ln>
        <a:effectLst>
          <a:innerShdw blurRad="25400" dist="12700" dir="13500000">
            <a:srgbClr val="000000">
              <a:alpha val="45000"/>
            </a:srgbClr>
          </a:innerShdw>
        </a:effectLst>
      </dsp:spPr>
      <dsp:style>
        <a:lnRef idx="1">
          <a:scrgbClr r="0" g="0" b="0"/>
        </a:lnRef>
        <a:fillRef idx="3">
          <a:scrgbClr r="0" g="0" b="0"/>
        </a:fillRef>
        <a:effectRef idx="2">
          <a:scrgbClr r="0" g="0" b="0"/>
        </a:effectRef>
        <a:fontRef idx="minor">
          <a:schemeClr val="lt1"/>
        </a:fontRef>
      </dsp:style>
    </dsp:sp>
    <dsp:sp modelId="{F820D6E0-05DE-4923-9751-D20C1AB77783}">
      <dsp:nvSpPr>
        <dsp:cNvPr id="0" name=""/>
        <dsp:cNvSpPr/>
      </dsp:nvSpPr>
      <dsp:spPr>
        <a:xfrm>
          <a:off x="0" y="3498250"/>
          <a:ext cx="5914209" cy="1747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rtl="0">
            <a:lnSpc>
              <a:spcPct val="90000"/>
            </a:lnSpc>
            <a:spcBef>
              <a:spcPct val="0"/>
            </a:spcBef>
            <a:spcAft>
              <a:spcPct val="35000"/>
            </a:spcAft>
            <a:buNone/>
          </a:pPr>
          <a:r>
            <a:rPr lang="en-US" sz="2800" kern="1200" dirty="0">
              <a:latin typeface="Garamond" panose="02020404030301010803"/>
            </a:rPr>
            <a:t>Takes into account both the private sector and public sector.</a:t>
          </a:r>
        </a:p>
      </dsp:txBody>
      <dsp:txXfrm>
        <a:off x="0" y="3498250"/>
        <a:ext cx="5914209" cy="1747843"/>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DCDD20-1DA4-4948-A45E-B4EAF1C8F7EC}" type="datetimeFigureOut">
              <a:rPr lang="en-US"/>
              <a:t>2/24/2020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5F53B2-A49D-4A37-9E56-F75F47C17036}" type="slidenum">
              <a:rPr lang="en-US"/>
              <a:t>‹#›</a:t>
            </a:fld>
            <a:endParaRPr lang="en-US"/>
          </a:p>
        </p:txBody>
      </p:sp>
    </p:spTree>
    <p:extLst>
      <p:ext uri="{BB962C8B-B14F-4D97-AF65-F5344CB8AC3E}">
        <p14:creationId xmlns:p14="http://schemas.microsoft.com/office/powerpoint/2010/main" val="1302833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cs typeface="Calibri"/>
              </a:rPr>
              <a:t>Many consider Education to be a pure public good (not many economists). This position is based on the notion that the benefits of education accrue to everyone in society not just those who receive it. Particularly true of K-12. </a:t>
            </a:r>
            <a:endParaRPr lang="en-US" dirty="0"/>
          </a:p>
        </p:txBody>
      </p:sp>
      <p:sp>
        <p:nvSpPr>
          <p:cNvPr id="4" name="Slide Number Placeholder 3"/>
          <p:cNvSpPr>
            <a:spLocks noGrp="1"/>
          </p:cNvSpPr>
          <p:nvPr>
            <p:ph type="sldNum" sz="quarter" idx="10"/>
          </p:nvPr>
        </p:nvSpPr>
        <p:spPr/>
        <p:txBody>
          <a:bodyPr/>
          <a:lstStyle/>
          <a:p>
            <a:fld id="{B826B108-10E2-A04C-9371-23F7FBC0A30B}" type="slidenum">
              <a:rPr lang="en-US"/>
              <a:t>6</a:t>
            </a:fld>
            <a:endParaRPr lang="en-US"/>
          </a:p>
        </p:txBody>
      </p:sp>
    </p:spTree>
    <p:extLst>
      <p:ext uri="{BB962C8B-B14F-4D97-AF65-F5344CB8AC3E}">
        <p14:creationId xmlns:p14="http://schemas.microsoft.com/office/powerpoint/2010/main" val="23834975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DD10A2-6151-D74D-9BA6-72DF650773E7}" type="slidenum">
              <a:rPr lang="en-US"/>
              <a:pPr/>
              <a:t>7</a:t>
            </a:fld>
            <a:endParaRPr lang="en-US"/>
          </a:p>
        </p:txBody>
      </p:sp>
      <p:sp>
        <p:nvSpPr>
          <p:cNvPr id="38914" name="Rectangle 2"/>
          <p:cNvSpPr>
            <a:spLocks noGrp="1" noRot="1" noChangeAspect="1" noChangeArrowheads="1" noTextEdit="1"/>
          </p:cNvSpPr>
          <p:nvPr>
            <p:ph type="sldImg"/>
          </p:nvPr>
        </p:nvSpPr>
        <p:spPr>
          <a:xfrm>
            <a:off x="381000" y="685800"/>
            <a:ext cx="6096000" cy="3429000"/>
          </a:xfrm>
          <a:ln cap="flat"/>
          <a:extLst>
            <a:ext uri="{FAA26D3D-D897-4be2-8F04-BA451C77F1D7}">
              <ma14:placeholderFlag xmlns:ma14="http://schemas.microsoft.com/office/mac/drawingml/2011/main" xmlns="" val="1"/>
            </a:ext>
          </a:extLst>
        </p:spPr>
      </p:sp>
      <p:sp>
        <p:nvSpPr>
          <p:cNvPr id="38915" name="Rectangle 3"/>
          <p:cNvSpPr>
            <a:spLocks noGrp="1" noChangeArrowheads="1"/>
          </p:cNvSpPr>
          <p:nvPr>
            <p:ph type="body" idx="1"/>
          </p:nvPr>
        </p:nvSpPr>
        <p:spPr>
          <a:ln/>
        </p:spPr>
        <p:txBody>
          <a:bodyPr/>
          <a:lstStyle/>
          <a:p>
            <a:r>
              <a:rPr lang="en-US" sz="1200" kern="1200" dirty="0">
                <a:solidFill>
                  <a:schemeClr val="tx1"/>
                </a:solidFill>
                <a:effectLst/>
                <a:latin typeface="+mn-lt"/>
                <a:ea typeface="+mn-ea"/>
                <a:cs typeface="+mn-cs"/>
              </a:rPr>
              <a:t>A very important attribute of economic goods is their divisibility among individuals. Some of them are divisible by both quantity and quality. However, not all goods are divisible. Goods that have indivisibility of consumption share the following characteristics: they are consumed by all consumers together, if they are only consumed by one entity, the consumption of other consumers is not reduced.</a:t>
            </a:r>
            <a:r>
              <a:rPr lang="en-US" dirty="0"/>
              <a:t> </a:t>
            </a:r>
            <a:endParaRPr lang="en-US"/>
          </a:p>
          <a:p>
            <a:endParaRPr lang="en-US" sz="1200" kern="1200" dirty="0">
              <a:solidFill>
                <a:schemeClr val="tx1"/>
              </a:solidFill>
              <a:effectLst/>
              <a:latin typeface="+mn-lt"/>
              <a:cs typeface="Calibri"/>
            </a:endParaRPr>
          </a:p>
          <a:p>
            <a:r>
              <a:rPr lang="en-US" dirty="0"/>
              <a:t>Think of a lighthouse. When a lighthouse is constructed and operating, its light shines for everyone to see in the water. You cannot prevent someone from seeing the beam from the water. The fact that I see the light doesn’t in any way diminish your ability to use the light. How does one prevent anyone from using the lighthouse? </a:t>
            </a:r>
            <a:endParaRPr lang="en-US" dirty="0">
              <a:cs typeface="Calibri"/>
            </a:endParaRPr>
          </a:p>
          <a:p>
            <a:endParaRPr lang="en-US" dirty="0">
              <a:cs typeface="Calibri"/>
            </a:endParaRPr>
          </a:p>
          <a:p>
            <a:endParaRPr lang="en-US">
              <a:cs typeface="Calibri" panose="020F0502020204030204"/>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Everyone pays the same amount for the good (sandwich) but each one demands a  different quantity. #1 eats 5 sandwiches a week and #2 eats 2. Both pay $5 for each one. The aggregate demand for sandwiches in this case is 7 (the sum of #1 &amp; #2). This represents horizontal summation of the demand, which is a characteristic of private goods.</a:t>
            </a:r>
          </a:p>
        </p:txBody>
      </p:sp>
      <p:sp>
        <p:nvSpPr>
          <p:cNvPr id="4" name="Slide Number Placeholder 3"/>
          <p:cNvSpPr>
            <a:spLocks noGrp="1"/>
          </p:cNvSpPr>
          <p:nvPr>
            <p:ph type="sldNum" sz="quarter" idx="5"/>
          </p:nvPr>
        </p:nvSpPr>
        <p:spPr/>
        <p:txBody>
          <a:bodyPr/>
          <a:lstStyle/>
          <a:p>
            <a:fld id="{EB5F53B2-A49D-4A37-9E56-F75F47C17036}" type="slidenum">
              <a:rPr lang="en-US"/>
              <a:t>8</a:t>
            </a:fld>
            <a:endParaRPr lang="en-US"/>
          </a:p>
        </p:txBody>
      </p:sp>
    </p:spTree>
    <p:extLst>
      <p:ext uri="{BB962C8B-B14F-4D97-AF65-F5344CB8AC3E}">
        <p14:creationId xmlns:p14="http://schemas.microsoft.com/office/powerpoint/2010/main" val="41598923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BD0DB77-6D9C-A349-91AE-2D17192E64A8}" type="slidenum">
              <a:rPr lang="en-US"/>
              <a:pPr/>
              <a:t>9</a:t>
            </a:fld>
            <a:endParaRPr lang="en-US"/>
          </a:p>
        </p:txBody>
      </p:sp>
      <p:sp>
        <p:nvSpPr>
          <p:cNvPr id="43010" name="Rectangle 2"/>
          <p:cNvSpPr>
            <a:spLocks noGrp="1" noRot="1" noChangeAspect="1" noChangeArrowheads="1" noTextEdit="1"/>
          </p:cNvSpPr>
          <p:nvPr>
            <p:ph type="sldImg"/>
          </p:nvPr>
        </p:nvSpPr>
        <p:spPr>
          <a:xfrm>
            <a:off x="381000" y="685800"/>
            <a:ext cx="6096000" cy="3429000"/>
          </a:xfrm>
          <a:ln cap="flat"/>
          <a:extLst>
            <a:ext uri="{FAA26D3D-D897-4be2-8F04-BA451C77F1D7}">
              <ma14:placeholderFlag xmlns:ma14="http://schemas.microsoft.com/office/mac/drawingml/2011/main" xmlns="" val="1"/>
            </a:ext>
          </a:extLst>
        </p:spPr>
      </p:sp>
      <p:sp>
        <p:nvSpPr>
          <p:cNvPr id="43011" name="Rectangle 3"/>
          <p:cNvSpPr>
            <a:spLocks noGrp="1" noChangeArrowheads="1"/>
          </p:cNvSpPr>
          <p:nvPr>
            <p:ph type="body" idx="1"/>
          </p:nvPr>
        </p:nvSpPr>
        <p:spPr>
          <a:ln/>
        </p:spPr>
        <p:txBody>
          <a:bodyPr/>
          <a:lstStyle/>
          <a:p>
            <a:endParaRPr lang="en-US" dirty="0">
              <a:cs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To determine the optimal quantity of a public good, it is necessary to first determine the demand for it. </a:t>
            </a:r>
          </a:p>
          <a:p>
            <a:endParaRPr lang="en-US" dirty="0"/>
          </a:p>
          <a:p>
            <a:r>
              <a:rPr lang="en-US" dirty="0"/>
              <a:t>Demand for public goods is represented through price-quantity schedules, which show the price </a:t>
            </a:r>
            <a:r>
              <a:rPr lang="en-US" b="1" dirty="0"/>
              <a:t>someone is willing to pay for the extra unit </a:t>
            </a:r>
            <a:r>
              <a:rPr lang="en-US" dirty="0"/>
              <a:t>of each possible quantity. </a:t>
            </a:r>
            <a:endParaRPr lang="en-US"/>
          </a:p>
          <a:p>
            <a:endParaRPr lang="en-US" dirty="0"/>
          </a:p>
          <a:p>
            <a:r>
              <a:rPr lang="en-US" dirty="0"/>
              <a:t>Unlike the market demand curve for private goods, where individual demand curves are summed horizontally, individual demand curves for public goods are summed vertically to get the market demand curve. As a result, the market demand curve for public goods gives the price </a:t>
            </a:r>
            <a:r>
              <a:rPr lang="en-US" i="1" dirty="0"/>
              <a:t>society</a:t>
            </a:r>
            <a:r>
              <a:rPr lang="en-US" dirty="0"/>
              <a:t> is willing to pay for a given quantity. It is equal to the marginal benefit curve. Due to the law of diminishing marginal utility, the demand curve is downward sloping.</a:t>
            </a:r>
            <a:endParaRPr lang="en-US" dirty="0">
              <a:cs typeface="Calibri"/>
            </a:endParaRPr>
          </a:p>
        </p:txBody>
      </p:sp>
      <p:sp>
        <p:nvSpPr>
          <p:cNvPr id="4" name="Slide Number Placeholder 3"/>
          <p:cNvSpPr>
            <a:spLocks noGrp="1"/>
          </p:cNvSpPr>
          <p:nvPr>
            <p:ph type="sldNum" sz="quarter" idx="10"/>
          </p:nvPr>
        </p:nvSpPr>
        <p:spPr/>
        <p:txBody>
          <a:bodyPr/>
          <a:lstStyle/>
          <a:p>
            <a:fld id="{B826B108-10E2-A04C-9371-23F7FBC0A30B}" type="slidenum">
              <a:rPr lang="en-US"/>
              <a:t>10</a:t>
            </a:fld>
            <a:endParaRPr lang="en-US"/>
          </a:p>
        </p:txBody>
      </p:sp>
    </p:spTree>
    <p:extLst>
      <p:ext uri="{BB962C8B-B14F-4D97-AF65-F5344CB8AC3E}">
        <p14:creationId xmlns:p14="http://schemas.microsoft.com/office/powerpoint/2010/main" val="22209111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Think of national defense, the contribution of one person is relatively small in comparison to the</a:t>
            </a:r>
            <a:r>
              <a:rPr lang="en-US" baseline="0"/>
              <a:t> overall total and every taxpayer contributes. If you took away my contribution and even the contribution of everybody at SLU it would amount to a drop in the bucket. It would not enable you to buy even one jet fighter.</a:t>
            </a:r>
            <a:endParaRPr lang="en-US"/>
          </a:p>
        </p:txBody>
      </p:sp>
      <p:sp>
        <p:nvSpPr>
          <p:cNvPr id="4" name="Slide Number Placeholder 3"/>
          <p:cNvSpPr>
            <a:spLocks noGrp="1"/>
          </p:cNvSpPr>
          <p:nvPr>
            <p:ph type="sldNum" sz="quarter" idx="10"/>
          </p:nvPr>
        </p:nvSpPr>
        <p:spPr/>
        <p:txBody>
          <a:bodyPr/>
          <a:lstStyle/>
          <a:p>
            <a:fld id="{B826B108-10E2-A04C-9371-23F7FBC0A30B}" type="slidenum">
              <a:rPr lang="en-US"/>
              <a:t>11</a:t>
            </a:fld>
            <a:endParaRPr lang="en-US"/>
          </a:p>
        </p:txBody>
      </p:sp>
    </p:spTree>
    <p:extLst>
      <p:ext uri="{BB962C8B-B14F-4D97-AF65-F5344CB8AC3E}">
        <p14:creationId xmlns:p14="http://schemas.microsoft.com/office/powerpoint/2010/main" val="9848717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cs typeface="Calibri"/>
              </a:rPr>
              <a:t>Other examples:</a:t>
            </a:r>
          </a:p>
          <a:p>
            <a:endParaRPr lang="en-US" dirty="0">
              <a:cs typeface="Calibri"/>
            </a:endParaRPr>
          </a:p>
          <a:p>
            <a:r>
              <a:rPr lang="en-US" dirty="0">
                <a:cs typeface="Calibri"/>
              </a:rPr>
              <a:t>Highway at rush hour</a:t>
            </a:r>
          </a:p>
          <a:p>
            <a:r>
              <a:rPr lang="en-US" dirty="0">
                <a:cs typeface="Calibri"/>
              </a:rPr>
              <a:t>Highway at 2 AM</a:t>
            </a:r>
          </a:p>
          <a:p>
            <a:r>
              <a:rPr lang="en-US" dirty="0">
                <a:cs typeface="Calibri"/>
              </a:rPr>
              <a:t>Internet</a:t>
            </a:r>
          </a:p>
          <a:p>
            <a:r>
              <a:rPr lang="en-US" dirty="0">
                <a:cs typeface="Calibri"/>
              </a:rPr>
              <a:t>Electricity</a:t>
            </a:r>
          </a:p>
          <a:p>
            <a:r>
              <a:rPr lang="en-US" dirty="0">
                <a:cs typeface="Calibri"/>
              </a:rPr>
              <a:t>Airlines</a:t>
            </a:r>
          </a:p>
          <a:p>
            <a:r>
              <a:rPr lang="en-US" dirty="0">
                <a:cs typeface="Calibri"/>
              </a:rPr>
              <a:t>Elections</a:t>
            </a:r>
          </a:p>
          <a:p>
            <a:endParaRPr lang="en-US" dirty="0">
              <a:cs typeface="Calibri"/>
            </a:endParaRPr>
          </a:p>
        </p:txBody>
      </p:sp>
      <p:sp>
        <p:nvSpPr>
          <p:cNvPr id="4" name="Slide Number Placeholder 3"/>
          <p:cNvSpPr>
            <a:spLocks noGrp="1"/>
          </p:cNvSpPr>
          <p:nvPr>
            <p:ph type="sldNum" sz="quarter" idx="10"/>
          </p:nvPr>
        </p:nvSpPr>
        <p:spPr/>
        <p:txBody>
          <a:bodyPr/>
          <a:lstStyle/>
          <a:p>
            <a:fld id="{B826B108-10E2-A04C-9371-23F7FBC0A30B}" type="slidenum">
              <a:rPr lang="en-US"/>
              <a:t>12</a:t>
            </a:fld>
            <a:endParaRPr lang="en-US"/>
          </a:p>
        </p:txBody>
      </p:sp>
    </p:spTree>
    <p:extLst>
      <p:ext uri="{BB962C8B-B14F-4D97-AF65-F5344CB8AC3E}">
        <p14:creationId xmlns:p14="http://schemas.microsoft.com/office/powerpoint/2010/main" val="19015531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7533810-1CED-114A-8C72-126BF279280E}" type="slidenum">
              <a:rPr lang="en-US"/>
              <a:pPr/>
              <a:t>13</a:t>
            </a:fld>
            <a:endParaRPr lang="en-US"/>
          </a:p>
        </p:txBody>
      </p:sp>
      <p:sp>
        <p:nvSpPr>
          <p:cNvPr id="47106" name="Rectangle 2"/>
          <p:cNvSpPr>
            <a:spLocks noGrp="1" noRot="1" noChangeAspect="1" noChangeArrowheads="1" noTextEdit="1"/>
          </p:cNvSpPr>
          <p:nvPr>
            <p:ph type="sldImg"/>
          </p:nvPr>
        </p:nvSpPr>
        <p:spPr>
          <a:xfrm>
            <a:off x="381000" y="685800"/>
            <a:ext cx="6096000" cy="3429000"/>
          </a:xfrm>
          <a:ln cap="flat"/>
          <a:extLst>
            <a:ext uri="{FAA26D3D-D897-4be2-8F04-BA451C77F1D7}">
              <ma14:placeholderFlag xmlns:ma14="http://schemas.microsoft.com/office/mac/drawingml/2011/main" xmlns="" val="1"/>
            </a:ext>
          </a:extLst>
        </p:spPr>
      </p:sp>
      <p:sp>
        <p:nvSpPr>
          <p:cNvPr id="47107" name="Rectangle 3"/>
          <p:cNvSpPr>
            <a:spLocks noGrp="1" noChangeArrowheads="1"/>
          </p:cNvSpPr>
          <p:nvPr>
            <p:ph type="body" idx="1"/>
          </p:nvPr>
        </p:nvSpPr>
        <p:spPr>
          <a:ln/>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cs typeface="Calibri"/>
              </a:rPr>
              <a:t>Tax cuts are designed to jump-start a weak economy. It will only do this if consumers go out and spend the money immediately, preferably on things like new homes and cars. But what happens if they don't? What happens if they choose to save the money instead?</a:t>
            </a:r>
          </a:p>
          <a:p>
            <a:endParaRPr lang="en-US" dirty="0">
              <a:cs typeface="Calibri"/>
            </a:endParaRPr>
          </a:p>
          <a:p>
            <a:r>
              <a:rPr lang="en-US" dirty="0">
                <a:cs typeface="Calibri"/>
              </a:rPr>
              <a:t>Regulations work if they are properly enforced. Enforcement depends on the bureaucracy. Bureaucrats may choose to enforce some laws more strongly than others. Or Congress might not provide enough funding for proper enforcement.</a:t>
            </a:r>
          </a:p>
          <a:p>
            <a:endParaRPr lang="en-US" dirty="0">
              <a:cs typeface="Calibri"/>
            </a:endParaRPr>
          </a:p>
          <a:p>
            <a:r>
              <a:rPr lang="en-US" dirty="0">
                <a:cs typeface="Calibri"/>
              </a:rPr>
              <a:t>Health care is a good example of what happens when something becomes a political football. This introduces greater uncertainty into the system. Uncertainty creates more inefficient conditions.</a:t>
            </a:r>
          </a:p>
          <a:p>
            <a:endParaRPr lang="en-US" dirty="0">
              <a:cs typeface="Calibri"/>
            </a:endParaRPr>
          </a:p>
        </p:txBody>
      </p:sp>
      <p:sp>
        <p:nvSpPr>
          <p:cNvPr id="4" name="Slide Number Placeholder 3"/>
          <p:cNvSpPr>
            <a:spLocks noGrp="1"/>
          </p:cNvSpPr>
          <p:nvPr>
            <p:ph type="sldNum" sz="quarter" idx="10"/>
          </p:nvPr>
        </p:nvSpPr>
        <p:spPr/>
        <p:txBody>
          <a:bodyPr/>
          <a:lstStyle/>
          <a:p>
            <a:fld id="{B826B108-10E2-A04C-9371-23F7FBC0A30B}" type="slidenum">
              <a:rPr lang="en-US"/>
              <a:t>14</a:t>
            </a:fld>
            <a:endParaRPr lang="en-US"/>
          </a:p>
        </p:txBody>
      </p:sp>
    </p:spTree>
    <p:extLst>
      <p:ext uri="{BB962C8B-B14F-4D97-AF65-F5344CB8AC3E}">
        <p14:creationId xmlns:p14="http://schemas.microsoft.com/office/powerpoint/2010/main" val="37689984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6AB3A2E-C153-F74E-8535-D9A3CA1F1842}" type="slidenum">
              <a:rPr lang="en-US"/>
              <a:pPr/>
              <a:t>15</a:t>
            </a:fld>
            <a:endParaRPr lang="en-US"/>
          </a:p>
        </p:txBody>
      </p:sp>
      <p:sp>
        <p:nvSpPr>
          <p:cNvPr id="51202" name="Rectangle 2"/>
          <p:cNvSpPr>
            <a:spLocks noGrp="1" noRot="1" noChangeAspect="1" noChangeArrowheads="1" noTextEdit="1"/>
          </p:cNvSpPr>
          <p:nvPr>
            <p:ph type="sldImg"/>
          </p:nvPr>
        </p:nvSpPr>
        <p:spPr>
          <a:xfrm>
            <a:off x="381000" y="685800"/>
            <a:ext cx="6096000" cy="3429000"/>
          </a:xfrm>
          <a:ln cap="flat"/>
          <a:extLst>
            <a:ext uri="{FAA26D3D-D897-4be2-8F04-BA451C77F1D7}">
              <ma14:placeholderFlag xmlns:ma14="http://schemas.microsoft.com/office/mac/drawingml/2011/main" xmlns="" val="1"/>
            </a:ext>
          </a:extLst>
        </p:spPr>
      </p:sp>
      <p:sp>
        <p:nvSpPr>
          <p:cNvPr id="51203" name="Rectangle 3"/>
          <p:cNvSpPr>
            <a:spLocks noGrp="1" noChangeArrowheads="1"/>
          </p:cNvSpPr>
          <p:nvPr>
            <p:ph type="body" idx="1"/>
          </p:nvPr>
        </p:nvSpPr>
        <p:spPr>
          <a:ln/>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invisible hand</a:t>
            </a:r>
            <a:r>
              <a:rPr lang="en-US" dirty="0"/>
              <a:t> describes the unintended social benefits of an individual's self-interested actions,</a:t>
            </a:r>
          </a:p>
        </p:txBody>
      </p:sp>
      <p:sp>
        <p:nvSpPr>
          <p:cNvPr id="4" name="Slide Number Placeholder 3"/>
          <p:cNvSpPr>
            <a:spLocks noGrp="1"/>
          </p:cNvSpPr>
          <p:nvPr>
            <p:ph type="sldNum" sz="quarter" idx="5"/>
          </p:nvPr>
        </p:nvSpPr>
        <p:spPr/>
        <p:txBody>
          <a:bodyPr/>
          <a:lstStyle/>
          <a:p>
            <a:fld id="{EB5F53B2-A49D-4A37-9E56-F75F47C17036}" type="slidenum">
              <a:rPr lang="en-US"/>
              <a:t>16</a:t>
            </a:fld>
            <a:endParaRPr lang="en-US"/>
          </a:p>
        </p:txBody>
      </p:sp>
    </p:spTree>
    <p:extLst>
      <p:ext uri="{BB962C8B-B14F-4D97-AF65-F5344CB8AC3E}">
        <p14:creationId xmlns:p14="http://schemas.microsoft.com/office/powerpoint/2010/main" val="11507769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of trade and market exchange automatically channeling self-interest toward socially desirable ends is a central justification for the laissez-faire economic philosophy, which lies behind neoclassical economics.  In this sense, the central disagreement between economic ideologies can be viewed as a disagreement about how powerful the "invisible hand" is.</a:t>
            </a:r>
          </a:p>
        </p:txBody>
      </p:sp>
      <p:sp>
        <p:nvSpPr>
          <p:cNvPr id="4" name="Slide Number Placeholder 3"/>
          <p:cNvSpPr>
            <a:spLocks noGrp="1"/>
          </p:cNvSpPr>
          <p:nvPr>
            <p:ph type="sldNum" sz="quarter" idx="5"/>
          </p:nvPr>
        </p:nvSpPr>
        <p:spPr/>
        <p:txBody>
          <a:bodyPr/>
          <a:lstStyle/>
          <a:p>
            <a:fld id="{EB5F53B2-A49D-4A37-9E56-F75F47C17036}" type="slidenum">
              <a:rPr lang="en-US"/>
              <a:t>17</a:t>
            </a:fld>
            <a:endParaRPr lang="en-US"/>
          </a:p>
        </p:txBody>
      </p:sp>
    </p:spTree>
    <p:extLst>
      <p:ext uri="{BB962C8B-B14F-4D97-AF65-F5344CB8AC3E}">
        <p14:creationId xmlns:p14="http://schemas.microsoft.com/office/powerpoint/2010/main" val="16849192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E418A4D-2499-5B40-BADC-154D72EDEEE5}" type="slidenum">
              <a:rPr lang="en-US"/>
              <a:pPr/>
              <a:t>18</a:t>
            </a:fld>
            <a:endParaRPr lang="en-US"/>
          </a:p>
        </p:txBody>
      </p:sp>
    </p:spTree>
    <p:extLst>
      <p:ext uri="{BB962C8B-B14F-4D97-AF65-F5344CB8AC3E}">
        <p14:creationId xmlns:p14="http://schemas.microsoft.com/office/powerpoint/2010/main" val="14729494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Person's welfare is determined by their utility, material well-being, which is typically measured by income.</a:t>
            </a:r>
            <a:endParaRPr lang="en-US" baseline="0" dirty="0"/>
          </a:p>
          <a:p>
            <a:endParaRPr lang="en-US" dirty="0"/>
          </a:p>
          <a:p>
            <a:r>
              <a:rPr lang="en-US" baseline="0" dirty="0"/>
              <a:t>2</a:t>
            </a:r>
            <a:r>
              <a:rPr lang="en-US" baseline="30000" dirty="0"/>
              <a:t>nd</a:t>
            </a:r>
            <a:r>
              <a:rPr lang="en-US" baseline="0" dirty="0"/>
              <a:t> theorem says that with a decentralized market mechanism every Pareto efficient allocation can be attained.</a:t>
            </a:r>
          </a:p>
          <a:p>
            <a:endParaRPr lang="en-US" dirty="0">
              <a:cs typeface="Calibri"/>
            </a:endParaRPr>
          </a:p>
          <a:p>
            <a:r>
              <a:rPr lang="en-US" dirty="0">
                <a:cs typeface="Calibri"/>
              </a:rPr>
              <a:t>Important to repeat that Pareto says nothing about how fair an economy is.</a:t>
            </a:r>
          </a:p>
        </p:txBody>
      </p:sp>
      <p:sp>
        <p:nvSpPr>
          <p:cNvPr id="4" name="Slide Number Placeholder 3"/>
          <p:cNvSpPr>
            <a:spLocks noGrp="1"/>
          </p:cNvSpPr>
          <p:nvPr>
            <p:ph type="sldNum" sz="quarter" idx="10"/>
          </p:nvPr>
        </p:nvSpPr>
        <p:spPr/>
        <p:txBody>
          <a:bodyPr/>
          <a:lstStyle/>
          <a:p>
            <a:fld id="{5E418A4D-2499-5B40-BADC-154D72EDEEE5}" type="slidenum">
              <a:rPr lang="en-US"/>
              <a:pPr/>
              <a:t>19</a:t>
            </a:fld>
            <a:endParaRPr lang="en-US"/>
          </a:p>
        </p:txBody>
      </p:sp>
    </p:spTree>
    <p:extLst>
      <p:ext uri="{BB962C8B-B14F-4D97-AF65-F5344CB8AC3E}">
        <p14:creationId xmlns:p14="http://schemas.microsoft.com/office/powerpoint/2010/main" val="14729494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 curve is normally downward sloping. </a:t>
            </a:r>
            <a:endParaRPr lang="en-US"/>
          </a:p>
          <a:p>
            <a:r>
              <a:rPr lang="en-US" dirty="0"/>
              <a:t>Supply curve is normally upward sloping.</a:t>
            </a:r>
            <a:endParaRPr lang="en-US" dirty="0">
              <a:cs typeface="Calibri"/>
            </a:endParaRPr>
          </a:p>
          <a:p>
            <a:endParaRPr lang="en-US"/>
          </a:p>
          <a:p>
            <a:r>
              <a:rPr lang="en-US" dirty="0"/>
              <a:t>At E,</a:t>
            </a:r>
            <a:r>
              <a:rPr lang="en-US" baseline="0" dirty="0"/>
              <a:t> marginal benefit=marginal cost and each equal price of the good.</a:t>
            </a:r>
            <a:endParaRPr lang="en-US" dirty="0">
              <a:cs typeface="Calibri"/>
            </a:endParaRPr>
          </a:p>
          <a:p>
            <a:endParaRPr lang="en-US" dirty="0">
              <a:cs typeface="Calibri"/>
            </a:endParaRPr>
          </a:p>
          <a:p>
            <a:r>
              <a:rPr lang="en-US" dirty="0">
                <a:cs typeface="Calibri"/>
              </a:rPr>
              <a:t>We can derive a simple demand and supply curve for the class. Pretend that I ban all electronic devices in class and you can only use a notebook and pen or pencil (like in the old days). </a:t>
            </a:r>
          </a:p>
          <a:p>
            <a:endParaRPr lang="en-US" dirty="0">
              <a:cs typeface="Calibri"/>
            </a:endParaRPr>
          </a:p>
          <a:p>
            <a:r>
              <a:rPr lang="en-US" dirty="0">
                <a:cs typeface="Calibri"/>
              </a:rPr>
              <a:t>Also pretend that there are two providers of pens. The department and me. Economists would say (all things being equal) that you will opt for the pen that is the least expensive. I purchase my pens for 50 cents per pen and charge 60 cents. The department sells the same pens for 65 cents. Economists say you will purchase my pens. My mc is equal to your mb (taking profit into account).  </a:t>
            </a:r>
          </a:p>
        </p:txBody>
      </p:sp>
      <p:sp>
        <p:nvSpPr>
          <p:cNvPr id="4" name="Slide Number Placeholder 3"/>
          <p:cNvSpPr>
            <a:spLocks noGrp="1"/>
          </p:cNvSpPr>
          <p:nvPr>
            <p:ph type="sldNum" sz="quarter" idx="10"/>
          </p:nvPr>
        </p:nvSpPr>
        <p:spPr/>
        <p:txBody>
          <a:bodyPr/>
          <a:lstStyle/>
          <a:p>
            <a:fld id="{5E418A4D-2499-5B40-BADC-154D72EDEEE5}" type="slidenum">
              <a:rPr lang="en-US"/>
              <a:pPr/>
              <a:t>20</a:t>
            </a:fld>
            <a:endParaRPr lang="en-US"/>
          </a:p>
        </p:txBody>
      </p:sp>
    </p:spTree>
    <p:extLst>
      <p:ext uri="{BB962C8B-B14F-4D97-AF65-F5344CB8AC3E}">
        <p14:creationId xmlns:p14="http://schemas.microsoft.com/office/powerpoint/2010/main" val="9596068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Slide Image Placeholder 1"/>
          <p:cNvSpPr>
            <a:spLocks noGrp="1" noRot="1" noChangeAspect="1" noTextEdit="1"/>
          </p:cNvSpPr>
          <p:nvPr>
            <p:ph type="sldImg"/>
          </p:nvPr>
        </p:nvSpPr>
        <p:spPr bwMode="auto">
          <a:xfrm>
            <a:off x="384175" y="687388"/>
            <a:ext cx="6089650" cy="3425825"/>
          </a:xfrm>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8194"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0" lvl="2" eaLnBrk="1" hangingPunct="1"/>
            <a:r>
              <a:rPr lang="en-US" altLang="en-US" sz="900" b="1" dirty="0">
                <a:ea typeface="ＭＳ Ｐゴシック" pitchFamily="34" charset="-128"/>
              </a:rPr>
              <a:t>EFFICIENCY FROM THE PERSPECTIVE OF A SINGLE MARKET</a:t>
            </a:r>
          </a:p>
          <a:p>
            <a:pPr marL="0" lvl="2" eaLnBrk="1" hangingPunct="1"/>
            <a:r>
              <a:rPr lang="en-US" altLang="en-US" sz="900" dirty="0">
                <a:ea typeface="ＭＳ Ｐゴシック" pitchFamily="34" charset="-128"/>
              </a:rPr>
              <a:t>In deciding how much to demand, individuals equate the marginal beneﬁt they receive from consuming an extra unit with the marginal cost, the price they have to pay. In deciding how much to supply, ﬁrms equate the marginal beneﬁt they receive, which is just the price, with the marginal cost. At the market equilibrium, where supply equals demand, the marginal beneﬁt (to consumers) is equal to the marginal cost (to ﬁrms)—and each equals the price.</a:t>
            </a:r>
          </a:p>
        </p:txBody>
      </p:sp>
      <p:sp>
        <p:nvSpPr>
          <p:cNvPr id="8195"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3B2479D0-AFDA-42FE-BD8A-C0E6500AD76E}" type="slidenum">
              <a:rPr lang="en-US" altLang="en-US" sz="1200"/>
              <a:pPr/>
              <a:t>21</a:t>
            </a:fld>
            <a:endParaRPr lang="en-US" alt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 an economy is</a:t>
            </a:r>
            <a:r>
              <a:rPr lang="en-US" baseline="0"/>
              <a:t> efficient it must be operationg along the utility possibilities frontier. If the economy were below the frontier, it is possible to increase the utility of R and C without decreasing the utility of the other, or to increase the utility of both.</a:t>
            </a:r>
            <a:endParaRPr lang="en-US"/>
          </a:p>
        </p:txBody>
      </p:sp>
      <p:sp>
        <p:nvSpPr>
          <p:cNvPr id="4" name="Slide Number Placeholder 3"/>
          <p:cNvSpPr>
            <a:spLocks noGrp="1"/>
          </p:cNvSpPr>
          <p:nvPr>
            <p:ph type="sldNum" sz="quarter" idx="10"/>
          </p:nvPr>
        </p:nvSpPr>
        <p:spPr/>
        <p:txBody>
          <a:bodyPr/>
          <a:lstStyle/>
          <a:p>
            <a:fld id="{5E418A4D-2499-5B40-BADC-154D72EDEEE5}" type="slidenum">
              <a:rPr lang="en-US"/>
              <a:pPr/>
              <a:t>22</a:t>
            </a:fld>
            <a:endParaRPr lang="en-US"/>
          </a:p>
        </p:txBody>
      </p:sp>
    </p:spTree>
    <p:extLst>
      <p:ext uri="{BB962C8B-B14F-4D97-AF65-F5344CB8AC3E}">
        <p14:creationId xmlns:p14="http://schemas.microsoft.com/office/powerpoint/2010/main" val="31035389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Slide Image Placeholder 1"/>
          <p:cNvSpPr>
            <a:spLocks noGrp="1" noRot="1" noChangeAspect="1" noTextEdit="1"/>
          </p:cNvSpPr>
          <p:nvPr>
            <p:ph type="sldImg"/>
          </p:nvPr>
        </p:nvSpPr>
        <p:spPr bwMode="auto">
          <a:xfrm>
            <a:off x="384175" y="687388"/>
            <a:ext cx="6089650" cy="3425825"/>
          </a:xfrm>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0242"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0" lvl="2" eaLnBrk="1" hangingPunct="1"/>
            <a:r>
              <a:rPr lang="en-US" altLang="en-US" sz="900" b="1" dirty="0">
                <a:ea typeface="ＭＳ Ｐゴシック" pitchFamily="34" charset="-128"/>
              </a:rPr>
              <a:t>THE UTILITY POSSIBILITIES CURVE</a:t>
            </a:r>
          </a:p>
          <a:p>
            <a:pPr marL="0" lvl="2" eaLnBrk="1" hangingPunct="1"/>
            <a:r>
              <a:rPr lang="en-US" altLang="en-US" sz="900" dirty="0">
                <a:ea typeface="ＭＳ Ｐゴシック" pitchFamily="34" charset="-128"/>
              </a:rPr>
              <a:t>The utility possibilities curve gives the maximum level of utility that one individual (Friday) can achieve, given the level of utility of the other individual (Crusoe). Along the frontier, it is not possible for Crusoe to consume more unless Friday consumes less. Therefore, the utility possibilities curve is downward sloping: the higher Crusoe’s utility, the lower the maximum level of Friday’s utility.</a:t>
            </a:r>
          </a:p>
        </p:txBody>
      </p:sp>
      <p:sp>
        <p:nvSpPr>
          <p:cNvPr id="10243"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85702A48-5BCC-4D44-9458-2BC76956E289}" type="slidenum">
              <a:rPr lang="en-US" altLang="en-US" sz="1200"/>
              <a:pPr/>
              <a:t>23</a:t>
            </a:fld>
            <a:endParaRPr lang="en-US" altLang="en-US"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E418A4D-2499-5B40-BADC-154D72EDEEE5}" type="slidenum">
              <a:rPr lang="en-US"/>
              <a:pPr/>
              <a:t>24</a:t>
            </a:fld>
            <a:endParaRPr lang="en-US"/>
          </a:p>
        </p:txBody>
      </p:sp>
    </p:spTree>
    <p:extLst>
      <p:ext uri="{BB962C8B-B14F-4D97-AF65-F5344CB8AC3E}">
        <p14:creationId xmlns:p14="http://schemas.microsoft.com/office/powerpoint/2010/main" val="12835225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Slide Image Placeholder 1"/>
          <p:cNvSpPr>
            <a:spLocks noGrp="1" noRot="1" noChangeAspect="1" noTextEdit="1"/>
          </p:cNvSpPr>
          <p:nvPr>
            <p:ph type="sldImg"/>
          </p:nvPr>
        </p:nvSpPr>
        <p:spPr bwMode="auto">
          <a:xfrm>
            <a:off x="384175" y="687388"/>
            <a:ext cx="6089650" cy="3425825"/>
          </a:xfrm>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2290"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0" lvl="2" eaLnBrk="1" hangingPunct="1"/>
            <a:r>
              <a:rPr lang="en-US" altLang="en-US" sz="900" b="1" dirty="0">
                <a:ea typeface="ＭＳ Ｐゴシック" pitchFamily="34" charset="-128"/>
              </a:rPr>
              <a:t>CRUSOE’S BUDGET CONSTRAINT</a:t>
            </a:r>
          </a:p>
          <a:p>
            <a:pPr marL="0" lvl="2" eaLnBrk="1" hangingPunct="1"/>
            <a:r>
              <a:rPr lang="en-US" altLang="en-US" sz="900" dirty="0">
                <a:ea typeface="ＭＳ Ｐゴシック" pitchFamily="34" charset="-128"/>
              </a:rPr>
              <a:t>Given income of $100, the price of oranges of $2, and the price of apples of $1, an individual can purchase any combination of apples and oranges along or to the left of the budget constraint. Any combination to the right of the budget constraint is unaffordable. The slope of the budget constraint is based on the relative price of oranges and apples.</a:t>
            </a:r>
          </a:p>
        </p:txBody>
      </p:sp>
      <p:sp>
        <p:nvSpPr>
          <p:cNvPr id="12291"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0EB1FA71-ABEF-4890-BA80-38E262308382}" type="slidenum">
              <a:rPr lang="en-US" altLang="en-US" sz="1200"/>
              <a:pPr/>
              <a:t>25</a:t>
            </a:fld>
            <a:endParaRPr lang="en-US" altLang="en-US" sz="12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noTextEdit="1"/>
          </p:cNvSpPr>
          <p:nvPr>
            <p:ph type="sldImg"/>
          </p:nvPr>
        </p:nvSpPr>
        <p:spPr bwMode="auto">
          <a:xfrm>
            <a:off x="384175" y="687388"/>
            <a:ext cx="6089650" cy="3425825"/>
          </a:xfrm>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4338"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0" lvl="2" eaLnBrk="1" hangingPunct="1"/>
            <a:r>
              <a:rPr lang="en-US" altLang="en-US" sz="900" b="1" dirty="0">
                <a:ea typeface="ＭＳ Ｐゴシック" pitchFamily="34" charset="-128"/>
              </a:rPr>
              <a:t>THE CONSUMER’S CHOICE PROBLEM</a:t>
            </a:r>
          </a:p>
          <a:p>
            <a:pPr marL="0" lvl="2" eaLnBrk="1" hangingPunct="1"/>
            <a:r>
              <a:rPr lang="en-US" altLang="en-US" sz="900" dirty="0">
                <a:ea typeface="ＭＳ Ｐゴシック" pitchFamily="34" charset="-128"/>
              </a:rPr>
              <a:t>The budget constraint gives the combinations of apples and oranges that Crusoe can buy, given his income and given the price of apples and oranges. The indifference curve gives the combinations of apples and oranges among which Crusoe is indifferent. </a:t>
            </a:r>
            <a:r>
              <a:rPr lang="en-US" altLang="en-US" sz="900" i="1" dirty="0">
                <a:ea typeface="ＭＳ Ｐゴシック" pitchFamily="34" charset="-128"/>
              </a:rPr>
              <a:t>A</a:t>
            </a:r>
            <a:r>
              <a:rPr lang="en-US" altLang="en-US" sz="900" dirty="0">
                <a:ea typeface="ＭＳ Ｐゴシック" pitchFamily="34" charset="-128"/>
              </a:rPr>
              <a:t> and </a:t>
            </a:r>
            <a:r>
              <a:rPr lang="en-US" altLang="en-US" sz="900" i="1" dirty="0">
                <a:ea typeface="ＭＳ Ｐゴシック" pitchFamily="34" charset="-128"/>
              </a:rPr>
              <a:t>B</a:t>
            </a:r>
            <a:r>
              <a:rPr lang="en-US" altLang="en-US" sz="900" dirty="0">
                <a:ea typeface="ＭＳ Ｐゴシック" pitchFamily="34" charset="-128"/>
              </a:rPr>
              <a:t> are on the same indifference curve; Crusoe is indifferent between them. Other individuals prefer combinations of apples and oranges that are on a higher indifference curve. Thus, point </a:t>
            </a:r>
            <a:r>
              <a:rPr lang="en-US" altLang="en-US" sz="900" i="1" dirty="0">
                <a:ea typeface="ＭＳ Ｐゴシック" pitchFamily="34" charset="-128"/>
              </a:rPr>
              <a:t>F</a:t>
            </a:r>
            <a:r>
              <a:rPr lang="en-US" altLang="en-US" sz="900" dirty="0">
                <a:ea typeface="ＭＳ Ｐゴシック" pitchFamily="34" charset="-128"/>
              </a:rPr>
              <a:t> is preferred to either </a:t>
            </a:r>
            <a:r>
              <a:rPr lang="en-US" altLang="en-US" sz="900" i="1" dirty="0">
                <a:ea typeface="ＭＳ Ｐゴシック" pitchFamily="34" charset="-128"/>
              </a:rPr>
              <a:t>A</a:t>
            </a:r>
            <a:r>
              <a:rPr lang="en-US" altLang="en-US" sz="900" dirty="0">
                <a:ea typeface="ＭＳ Ｐゴシック" pitchFamily="34" charset="-128"/>
              </a:rPr>
              <a:t> or </a:t>
            </a:r>
            <a:r>
              <a:rPr lang="en-US" altLang="en-US" sz="900" i="1" dirty="0">
                <a:ea typeface="ＭＳ Ｐゴシック" pitchFamily="34" charset="-128"/>
              </a:rPr>
              <a:t>B</a:t>
            </a:r>
            <a:r>
              <a:rPr lang="en-US" altLang="en-US" sz="900" dirty="0">
                <a:ea typeface="ＭＳ Ｐゴシック" pitchFamily="34" charset="-128"/>
              </a:rPr>
              <a:t>. Crusoe chooses the point along the budget constraint that he most prefers; that is, the point at which the indifference curve </a:t>
            </a:r>
            <a:r>
              <a:rPr lang="en-US" altLang="en-US" sz="900" i="1" dirty="0" err="1">
                <a:ea typeface="ＭＳ Ｐゴシック" pitchFamily="34" charset="-128"/>
              </a:rPr>
              <a:t>I</a:t>
            </a:r>
            <a:r>
              <a:rPr lang="en-US" altLang="en-US" sz="900" baseline="-25000" dirty="0" err="1">
                <a:ea typeface="ＭＳ Ｐゴシック" pitchFamily="34" charset="-128"/>
              </a:rPr>
              <a:t>0</a:t>
            </a:r>
            <a:r>
              <a:rPr lang="en-US" altLang="en-US" sz="900" dirty="0">
                <a:ea typeface="ＭＳ Ｐゴシック" pitchFamily="34" charset="-128"/>
              </a:rPr>
              <a:t> is tangent to the budget constraint (point </a:t>
            </a:r>
            <a:r>
              <a:rPr lang="en-US" altLang="en-US" sz="900" i="1" dirty="0">
                <a:ea typeface="ＭＳ Ｐゴシック" pitchFamily="34" charset="-128"/>
              </a:rPr>
              <a:t>E</a:t>
            </a:r>
            <a:r>
              <a:rPr lang="en-US" altLang="en-US" sz="900" dirty="0">
                <a:ea typeface="ＭＳ Ｐゴシック" pitchFamily="34" charset="-128"/>
              </a:rPr>
              <a:t>).</a:t>
            </a:r>
          </a:p>
        </p:txBody>
      </p:sp>
      <p:sp>
        <p:nvSpPr>
          <p:cNvPr id="14339"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5BBB99D6-E223-47DA-AF35-F9E6DA9FD4D2}" type="slidenum">
              <a:rPr lang="en-US" altLang="en-US" sz="1200"/>
              <a:pPr/>
              <a:t>27</a:t>
            </a:fld>
            <a:endParaRPr lang="en-US" altLang="en-US" sz="12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noTextEdit="1"/>
          </p:cNvSpPr>
          <p:nvPr>
            <p:ph type="sldImg"/>
          </p:nvPr>
        </p:nvSpPr>
        <p:spPr bwMode="auto">
          <a:xfrm>
            <a:off x="384175" y="687388"/>
            <a:ext cx="6089650" cy="3425825"/>
          </a:xfrm>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6386"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0" lvl="2" eaLnBrk="1" hangingPunct="1"/>
            <a:r>
              <a:rPr lang="en-US" altLang="en-US" sz="900" b="1" dirty="0">
                <a:ea typeface="ＭＳ Ｐゴシック" pitchFamily="34" charset="-128"/>
              </a:rPr>
              <a:t>EXCHANGE EFFICIENCY</a:t>
            </a:r>
          </a:p>
          <a:p>
            <a:pPr marL="0" lvl="2" eaLnBrk="1" hangingPunct="1"/>
            <a:r>
              <a:rPr lang="en-US" altLang="en-US" sz="900" dirty="0">
                <a:ea typeface="ＭＳ Ｐゴシック" pitchFamily="34" charset="-128"/>
              </a:rPr>
              <a:t>The sides of this </a:t>
            </a:r>
            <a:r>
              <a:rPr lang="en-US" altLang="en-US" sz="900" dirty="0" err="1">
                <a:ea typeface="ＭＳ Ｐゴシック" pitchFamily="34" charset="-128"/>
              </a:rPr>
              <a:t>Edgeworth</a:t>
            </a:r>
            <a:r>
              <a:rPr lang="en-US" altLang="en-US" sz="900" dirty="0">
                <a:ea typeface="ＭＳ Ｐゴシック" pitchFamily="34" charset="-128"/>
              </a:rPr>
              <a:t>–</a:t>
            </a:r>
            <a:r>
              <a:rPr lang="en-US" altLang="en-US" sz="900" dirty="0" err="1">
                <a:ea typeface="ＭＳ Ｐゴシック" pitchFamily="34" charset="-128"/>
              </a:rPr>
              <a:t>Bowley</a:t>
            </a:r>
            <a:r>
              <a:rPr lang="en-US" altLang="en-US" sz="900" dirty="0">
                <a:ea typeface="ＭＳ Ｐゴシック" pitchFamily="34" charset="-128"/>
              </a:rPr>
              <a:t> box give the available supplies of apples and oranges. </a:t>
            </a:r>
            <a:r>
              <a:rPr lang="en-US" altLang="en-US" sz="900" i="1" dirty="0">
                <a:ea typeface="ＭＳ Ｐゴシック" pitchFamily="34" charset="-128"/>
              </a:rPr>
              <a:t>OA</a:t>
            </a:r>
            <a:r>
              <a:rPr lang="en-US" altLang="en-US" sz="900" dirty="0">
                <a:ea typeface="ＭＳ Ｐゴシック" pitchFamily="34" charset="-128"/>
              </a:rPr>
              <a:t> and </a:t>
            </a:r>
            <a:r>
              <a:rPr lang="en-US" altLang="en-US" sz="900" i="1" dirty="0">
                <a:ea typeface="ＭＳ Ｐゴシック" pitchFamily="34" charset="-128"/>
              </a:rPr>
              <a:t>OB</a:t>
            </a:r>
            <a:r>
              <a:rPr lang="en-US" altLang="en-US" sz="900" dirty="0">
                <a:ea typeface="ＭＳ Ｐゴシック" pitchFamily="34" charset="-128"/>
              </a:rPr>
              <a:t> give Crusoe’s consumption of the two commodities. Friday gets what Crusoe does not consume; that is, </a:t>
            </a:r>
            <a:r>
              <a:rPr lang="en-US" altLang="en-US" sz="900" i="1" dirty="0" err="1">
                <a:ea typeface="ＭＳ Ｐゴシック" pitchFamily="34" charset="-128"/>
              </a:rPr>
              <a:t>O’A</a:t>
            </a:r>
            <a:r>
              <a:rPr lang="en-US" altLang="en-US" sz="900" i="1" dirty="0">
                <a:ea typeface="ＭＳ Ｐゴシック" pitchFamily="34" charset="-128"/>
              </a:rPr>
              <a:t>’</a:t>
            </a:r>
            <a:r>
              <a:rPr lang="en-US" altLang="ja-JP" sz="900" dirty="0">
                <a:ea typeface="ＭＳ Ｐゴシック" pitchFamily="34" charset="-128"/>
              </a:rPr>
              <a:t> and </a:t>
            </a:r>
            <a:r>
              <a:rPr lang="en-US" altLang="ja-JP" sz="900" i="1" dirty="0" err="1">
                <a:ea typeface="ＭＳ Ｐゴシック" pitchFamily="34" charset="-128"/>
              </a:rPr>
              <a:t>O</a:t>
            </a:r>
            <a:r>
              <a:rPr lang="en-US" altLang="en-US" sz="900" i="1" dirty="0" err="1">
                <a:ea typeface="ＭＳ Ｐゴシック" pitchFamily="34" charset="-128"/>
              </a:rPr>
              <a:t>’</a:t>
            </a:r>
            <a:r>
              <a:rPr lang="en-US" altLang="ja-JP" sz="900" i="1" dirty="0" err="1">
                <a:ea typeface="ＭＳ Ｐゴシック" pitchFamily="34" charset="-128"/>
              </a:rPr>
              <a:t>B</a:t>
            </a:r>
            <a:r>
              <a:rPr lang="en-US" altLang="en-US" sz="900" i="1" dirty="0">
                <a:ea typeface="ＭＳ Ｐゴシック" pitchFamily="34" charset="-128"/>
              </a:rPr>
              <a:t>’</a:t>
            </a:r>
            <a:r>
              <a:rPr lang="en-US" altLang="ja-JP" sz="900" dirty="0">
                <a:ea typeface="ＭＳ Ｐゴシック" pitchFamily="34" charset="-128"/>
              </a:rPr>
              <a:t>. Pareto efﬁciency requires the tangency of the two indifference curves (one such point is at </a:t>
            </a:r>
            <a:r>
              <a:rPr lang="en-US" altLang="ja-JP" sz="900" i="1" dirty="0">
                <a:ea typeface="ＭＳ Ｐゴシック" pitchFamily="34" charset="-128"/>
              </a:rPr>
              <a:t>E</a:t>
            </a:r>
            <a:r>
              <a:rPr lang="en-US" altLang="ja-JP" sz="900" dirty="0">
                <a:ea typeface="ＭＳ Ｐゴシック" pitchFamily="34" charset="-128"/>
              </a:rPr>
              <a:t>), where the marginal rates of substitution of apples for oranges are equal.</a:t>
            </a:r>
            <a:endParaRPr lang="en-US" altLang="en-US" sz="900" dirty="0">
              <a:ea typeface="ＭＳ Ｐゴシック" pitchFamily="34" charset="-128"/>
            </a:endParaRPr>
          </a:p>
        </p:txBody>
      </p:sp>
      <p:sp>
        <p:nvSpPr>
          <p:cNvPr id="16387"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A0054A00-7BE3-4D93-94FE-C32F9EBB1D41}" type="slidenum">
              <a:rPr lang="en-US" altLang="en-US" sz="1200"/>
              <a:pPr/>
              <a:t>29</a:t>
            </a:fld>
            <a:endParaRPr lang="en-US" altLang="en-US"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Trade-off between goods.</a:t>
            </a:r>
          </a:p>
          <a:p>
            <a:r>
              <a:rPr lang="en-US">
                <a:cs typeface="Calibri"/>
              </a:rPr>
              <a:t>Guns vs. Butter</a:t>
            </a:r>
            <a:endParaRPr lang="en-US" dirty="0">
              <a:cs typeface="Calibri"/>
            </a:endParaRPr>
          </a:p>
          <a:p>
            <a:r>
              <a:rPr lang="en-US">
                <a:cs typeface="Calibri"/>
              </a:rPr>
              <a:t>Smartphones vs. Sneakers</a:t>
            </a:r>
            <a:endParaRPr lang="en-US" dirty="0">
              <a:cs typeface="Calibri"/>
            </a:endParaRPr>
          </a:p>
          <a:p>
            <a:r>
              <a:rPr lang="en-US">
                <a:cs typeface="Calibri"/>
              </a:rPr>
              <a:t>Healthcare vs. Education</a:t>
            </a:r>
            <a:endParaRPr lang="en-US" dirty="0">
              <a:cs typeface="Calibri"/>
            </a:endParaRPr>
          </a:p>
          <a:p>
            <a:endParaRPr lang="en-US" dirty="0">
              <a:cs typeface="Calibri"/>
            </a:endParaRPr>
          </a:p>
          <a:p>
            <a:r>
              <a:rPr lang="en-US">
                <a:cs typeface="Calibri"/>
              </a:rPr>
              <a:t>Another example of the Iron law of Scarcity.</a:t>
            </a:r>
            <a:endParaRPr lang="en-US" dirty="0">
              <a:cs typeface="Calibri"/>
            </a:endParaRPr>
          </a:p>
        </p:txBody>
      </p:sp>
      <p:sp>
        <p:nvSpPr>
          <p:cNvPr id="4" name="Slide Number Placeholder 3"/>
          <p:cNvSpPr>
            <a:spLocks noGrp="1"/>
          </p:cNvSpPr>
          <p:nvPr>
            <p:ph type="sldNum" sz="quarter" idx="5"/>
          </p:nvPr>
        </p:nvSpPr>
        <p:spPr/>
        <p:txBody>
          <a:bodyPr/>
          <a:lstStyle/>
          <a:p>
            <a:fld id="{EB5F53B2-A49D-4A37-9E56-F75F47C17036}" type="slidenum">
              <a:rPr lang="en-US"/>
              <a:t>30</a:t>
            </a:fld>
            <a:endParaRPr lang="en-US"/>
          </a:p>
        </p:txBody>
      </p:sp>
    </p:spTree>
    <p:extLst>
      <p:ext uri="{BB962C8B-B14F-4D97-AF65-F5344CB8AC3E}">
        <p14:creationId xmlns:p14="http://schemas.microsoft.com/office/powerpoint/2010/main" val="22837559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dirty="0"/>
              <a:t>Click to edit Master title style</a:t>
            </a:r>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a:xfrm>
            <a:off x="7983232" y="5037663"/>
            <a:ext cx="897467" cy="279400"/>
          </a:xfrm>
        </p:spPr>
        <p:txBody>
          <a:bodyPr/>
          <a:lstStyle/>
          <a:p>
            <a:fld id="{FBD47B21-2B85-E24F-B5D3-516CFADBB138}" type="datetime1">
              <a:rPr lang="en-US" smtClean="0"/>
              <a:t>2/24/2020</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r>
              <a:rPr lang="en-US"/>
              <a:t>Intro to Public Finance Spring 2020</a:t>
            </a:r>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2201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7C0E1B4-FF51-384F-9312-4232455837A4}" type="datetime1">
              <a:rPr lang="en-US" smtClean="0"/>
              <a:t>2/24/2020</a:t>
            </a:fld>
            <a:endParaRPr lang="en-US" dirty="0"/>
          </a:p>
        </p:txBody>
      </p:sp>
      <p:sp>
        <p:nvSpPr>
          <p:cNvPr id="5" name="Footer Placeholder 4"/>
          <p:cNvSpPr>
            <a:spLocks noGrp="1"/>
          </p:cNvSpPr>
          <p:nvPr>
            <p:ph type="ftr" sz="quarter" idx="11"/>
          </p:nvPr>
        </p:nvSpPr>
        <p:spPr/>
        <p:txBody>
          <a:bodyPr/>
          <a:lstStyle/>
          <a:p>
            <a:r>
              <a:rPr lang="en-US"/>
              <a:t>Intro to Public Finance Spring 2020</a:t>
            </a:r>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extLst>
      <p:ext uri="{BB962C8B-B14F-4D97-AF65-F5344CB8AC3E}">
        <p14:creationId xmlns:p14="http://schemas.microsoft.com/office/powerpoint/2010/main" val="2683384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dirty="0"/>
              <a:t>Click to edit Master title style</a:t>
            </a:r>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C7DC4B80-B6C1-6F42-9BF6-F7BA55F0F149}" type="datetime1">
              <a:rPr lang="en-US" smtClean="0"/>
              <a:t>2/24/2020</a:t>
            </a:fld>
            <a:endParaRPr lang="en-US" dirty="0"/>
          </a:p>
        </p:txBody>
      </p:sp>
      <p:sp>
        <p:nvSpPr>
          <p:cNvPr id="5" name="Footer Placeholder 4"/>
          <p:cNvSpPr>
            <a:spLocks noGrp="1"/>
          </p:cNvSpPr>
          <p:nvPr>
            <p:ph type="ftr" sz="quarter" idx="11"/>
          </p:nvPr>
        </p:nvSpPr>
        <p:spPr/>
        <p:txBody>
          <a:bodyPr/>
          <a:lstStyle/>
          <a:p>
            <a:r>
              <a:rPr lang="en-US"/>
              <a:t>Intro to Public Finance Spring 2020</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9628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90C77A0F-BFFD-634C-81A3-020A74376468}" type="datetime1">
              <a:rPr lang="en-US" smtClean="0"/>
              <a:t>2/24/2020</a:t>
            </a:fld>
            <a:endParaRPr lang="en-US" dirty="0"/>
          </a:p>
        </p:txBody>
      </p:sp>
      <p:sp>
        <p:nvSpPr>
          <p:cNvPr id="6" name="Footer Placeholder 5"/>
          <p:cNvSpPr>
            <a:spLocks noGrp="1"/>
          </p:cNvSpPr>
          <p:nvPr>
            <p:ph type="ftr" sz="quarter" idx="11"/>
          </p:nvPr>
        </p:nvSpPr>
        <p:spPr/>
        <p:txBody>
          <a:bodyPr/>
          <a:lstStyle/>
          <a:p>
            <a:r>
              <a:rPr lang="en-US"/>
              <a:t>Intro to Public Finance Spring 2020</a:t>
            </a:r>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extLst>
      <p:ext uri="{BB962C8B-B14F-4D97-AF65-F5344CB8AC3E}">
        <p14:creationId xmlns:p14="http://schemas.microsoft.com/office/powerpoint/2010/main" val="149817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8D1EAB60-A645-1041-9770-31EE08DBC48B}" type="datetime1">
              <a:rPr lang="en-US" smtClean="0"/>
              <a:t>2/24/2020</a:t>
            </a:fld>
            <a:endParaRPr lang="en-US" dirty="0"/>
          </a:p>
        </p:txBody>
      </p:sp>
      <p:sp>
        <p:nvSpPr>
          <p:cNvPr id="8" name="Footer Placeholder 7"/>
          <p:cNvSpPr>
            <a:spLocks noGrp="1"/>
          </p:cNvSpPr>
          <p:nvPr>
            <p:ph type="ftr" sz="quarter" idx="11"/>
          </p:nvPr>
        </p:nvSpPr>
        <p:spPr/>
        <p:txBody>
          <a:bodyPr/>
          <a:lstStyle/>
          <a:p>
            <a:r>
              <a:rPr lang="en-US"/>
              <a:t>Intro to Public Finance Spring 2020</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89162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E5E1F3A2-2F5A-4844-932B-ECBDE7B9E4A9}" type="datetime1">
              <a:rPr lang="en-US" smtClean="0"/>
              <a:t>2/24/2020</a:t>
            </a:fld>
            <a:endParaRPr lang="en-US" dirty="0"/>
          </a:p>
        </p:txBody>
      </p:sp>
      <p:sp>
        <p:nvSpPr>
          <p:cNvPr id="4" name="Footer Placeholder 3"/>
          <p:cNvSpPr>
            <a:spLocks noGrp="1"/>
          </p:cNvSpPr>
          <p:nvPr>
            <p:ph type="ftr" sz="quarter" idx="11"/>
          </p:nvPr>
        </p:nvSpPr>
        <p:spPr/>
        <p:txBody>
          <a:bodyPr/>
          <a:lstStyle/>
          <a:p>
            <a:r>
              <a:rPr lang="en-US"/>
              <a:t>Intro to Public Finance Spring 2020</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52542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866B60-4EBF-6B43-ABBE-32C352D94F6D}" type="datetime1">
              <a:rPr lang="en-US" smtClean="0"/>
              <a:t>2/24/2020</a:t>
            </a:fld>
            <a:endParaRPr lang="en-US" dirty="0"/>
          </a:p>
        </p:txBody>
      </p:sp>
      <p:sp>
        <p:nvSpPr>
          <p:cNvPr id="3" name="Footer Placeholder 2"/>
          <p:cNvSpPr>
            <a:spLocks noGrp="1"/>
          </p:cNvSpPr>
          <p:nvPr>
            <p:ph type="ftr" sz="quarter" idx="11"/>
          </p:nvPr>
        </p:nvSpPr>
        <p:spPr/>
        <p:txBody>
          <a:bodyPr/>
          <a:lstStyle/>
          <a:p>
            <a:r>
              <a:rPr lang="en-US"/>
              <a:t>Intro to Public Finance Spring 2020</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250047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dirty="0"/>
              <a:t>Click to edit Master title style</a:t>
            </a:r>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A14AB26C-A69F-2840-AEE8-44EF4B73F775}" type="datetime1">
              <a:rPr lang="en-US" smtClean="0"/>
              <a:t>2/24/2020</a:t>
            </a:fld>
            <a:endParaRPr lang="en-US" dirty="0"/>
          </a:p>
        </p:txBody>
      </p:sp>
      <p:sp>
        <p:nvSpPr>
          <p:cNvPr id="6" name="Footer Placeholder 5"/>
          <p:cNvSpPr>
            <a:spLocks noGrp="1"/>
          </p:cNvSpPr>
          <p:nvPr>
            <p:ph type="ftr" sz="quarter" idx="11"/>
          </p:nvPr>
        </p:nvSpPr>
        <p:spPr/>
        <p:txBody>
          <a:bodyPr/>
          <a:lstStyle/>
          <a:p>
            <a:r>
              <a:rPr lang="en-US"/>
              <a:t>Intro to Public Finance Spring 2020</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714393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dirty="0"/>
              <a:t>Click to edit Master title style</a:t>
            </a:r>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BDA9DB3-105C-9D44-86D9-CFAE56ED06AA}" type="datetime1">
              <a:rPr lang="en-US" smtClean="0"/>
              <a:t>2/24/2020</a:t>
            </a:fld>
            <a:endParaRPr lang="en-US" dirty="0"/>
          </a:p>
        </p:txBody>
      </p:sp>
      <p:sp>
        <p:nvSpPr>
          <p:cNvPr id="6" name="Footer Placeholder 5"/>
          <p:cNvSpPr>
            <a:spLocks noGrp="1"/>
          </p:cNvSpPr>
          <p:nvPr>
            <p:ph type="ftr" sz="quarter" idx="11"/>
          </p:nvPr>
        </p:nvSpPr>
        <p:spPr/>
        <p:txBody>
          <a:bodyPr/>
          <a:lstStyle/>
          <a:p>
            <a:r>
              <a:rPr lang="en-US"/>
              <a:t>Intro to Public Finance Spring 2020</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437725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dirty="0"/>
              <a:t>Click to edit Master title style</a:t>
            </a:r>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31656EA4-9A1C-3E4E-AC11-36210263F064}" type="datetime1">
              <a:rPr lang="en-US" smtClean="0"/>
              <a:t>2/24/2020</a:t>
            </a:fld>
            <a:endParaRPr lang="en-US" dirty="0"/>
          </a:p>
        </p:txBody>
      </p:sp>
      <p:sp>
        <p:nvSpPr>
          <p:cNvPr id="6" name="Footer Placeholder 5"/>
          <p:cNvSpPr>
            <a:spLocks noGrp="1"/>
          </p:cNvSpPr>
          <p:nvPr>
            <p:ph type="ftr" sz="quarter" idx="11"/>
          </p:nvPr>
        </p:nvSpPr>
        <p:spPr/>
        <p:txBody>
          <a:bodyPr/>
          <a:lstStyle/>
          <a:p>
            <a:r>
              <a:rPr lang="en-US"/>
              <a:t>Intro to Public Finance Spring 2020</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46580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dirty="0"/>
              <a:t>Click to edit Master title style</a:t>
            </a:r>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7280D47-EDFA-2541-9B5B-828D18EA8244}" type="datetime1">
              <a:rPr lang="en-US" smtClean="0"/>
              <a:t>2/24/2020</a:t>
            </a:fld>
            <a:endParaRPr lang="en-US" dirty="0"/>
          </a:p>
        </p:txBody>
      </p:sp>
      <p:sp>
        <p:nvSpPr>
          <p:cNvPr id="5" name="Footer Placeholder 4"/>
          <p:cNvSpPr>
            <a:spLocks noGrp="1"/>
          </p:cNvSpPr>
          <p:nvPr>
            <p:ph type="ftr" sz="quarter" idx="11"/>
          </p:nvPr>
        </p:nvSpPr>
        <p:spPr/>
        <p:txBody>
          <a:bodyPr/>
          <a:lstStyle/>
          <a:p>
            <a:r>
              <a:rPr lang="en-US"/>
              <a:t>Intro to Public Finance Spring 2020</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98273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478150C3-371E-A74D-9BA3-E9DC4C2473BA}" type="datetime1">
              <a:rPr lang="en-US" smtClean="0"/>
              <a:t>2/24/2020</a:t>
            </a:fld>
            <a:endParaRPr lang="en-US" dirty="0"/>
          </a:p>
        </p:txBody>
      </p:sp>
      <p:sp>
        <p:nvSpPr>
          <p:cNvPr id="5" name="Footer Placeholder 4"/>
          <p:cNvSpPr>
            <a:spLocks noGrp="1"/>
          </p:cNvSpPr>
          <p:nvPr>
            <p:ph type="ftr" sz="quarter" idx="11"/>
          </p:nvPr>
        </p:nvSpPr>
        <p:spPr/>
        <p:txBody>
          <a:bodyPr/>
          <a:lstStyle/>
          <a:p>
            <a:r>
              <a:rPr lang="en-US"/>
              <a:t>Intro to Public Finance Spring 2020</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51331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dirty="0"/>
              <a:t>Click to edit Master title style</a:t>
            </a:r>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56733F23-5580-DB4C-ACD8-4B0B37868325}" type="datetime1">
              <a:rPr lang="en-US" smtClean="0"/>
              <a:t>2/24/2020</a:t>
            </a:fld>
            <a:endParaRPr lang="en-US" dirty="0"/>
          </a:p>
        </p:txBody>
      </p:sp>
      <p:sp>
        <p:nvSpPr>
          <p:cNvPr id="5" name="Footer Placeholder 4"/>
          <p:cNvSpPr>
            <a:spLocks noGrp="1"/>
          </p:cNvSpPr>
          <p:nvPr>
            <p:ph type="ftr" sz="quarter" idx="11"/>
          </p:nvPr>
        </p:nvSpPr>
        <p:spPr/>
        <p:txBody>
          <a:bodyPr/>
          <a:lstStyle/>
          <a:p>
            <a:r>
              <a:rPr lang="en-US"/>
              <a:t>Intro to Public Finance Spring 2020</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010883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dirty="0"/>
              <a:t>Click to edit Master title style</a:t>
            </a:r>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328DC081-7D2B-3646-8845-D66B57942C79}" type="datetime1">
              <a:rPr lang="en-US" smtClean="0"/>
              <a:t>2/24/2020</a:t>
            </a:fld>
            <a:endParaRPr lang="en-US" dirty="0"/>
          </a:p>
        </p:txBody>
      </p:sp>
      <p:sp>
        <p:nvSpPr>
          <p:cNvPr id="5" name="Footer Placeholder 4"/>
          <p:cNvSpPr>
            <a:spLocks noGrp="1"/>
          </p:cNvSpPr>
          <p:nvPr>
            <p:ph type="ftr" sz="quarter" idx="11"/>
          </p:nvPr>
        </p:nvSpPr>
        <p:spPr/>
        <p:txBody>
          <a:bodyPr/>
          <a:lstStyle/>
          <a:p>
            <a:r>
              <a:rPr lang="en-US"/>
              <a:t>Intro to Public Finance Spring 2020</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821906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dirty="0"/>
              <a:t>Click to edit Master title style</a:t>
            </a:r>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8D64303-7DAC-FC43-8A95-876B87C46319}" type="datetime1">
              <a:rPr lang="en-US" smtClean="0"/>
              <a:t>2/24/2020</a:t>
            </a:fld>
            <a:endParaRPr lang="en-US" dirty="0"/>
          </a:p>
        </p:txBody>
      </p:sp>
      <p:sp>
        <p:nvSpPr>
          <p:cNvPr id="5" name="Footer Placeholder 4"/>
          <p:cNvSpPr>
            <a:spLocks noGrp="1"/>
          </p:cNvSpPr>
          <p:nvPr>
            <p:ph type="ftr" sz="quarter" idx="11"/>
          </p:nvPr>
        </p:nvSpPr>
        <p:spPr/>
        <p:txBody>
          <a:bodyPr/>
          <a:lstStyle/>
          <a:p>
            <a:r>
              <a:rPr lang="en-US"/>
              <a:t>Intro to Public Finance Spring 2020</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416467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F9EDAB1-1BBA-1840-9F81-6356E56B95FE}" type="datetime1">
              <a:rPr lang="en-US" smtClean="0"/>
              <a:t>2/24/2020</a:t>
            </a:fld>
            <a:endParaRPr lang="en-US" dirty="0"/>
          </a:p>
        </p:txBody>
      </p:sp>
      <p:sp>
        <p:nvSpPr>
          <p:cNvPr id="5" name="Footer Placeholder 4"/>
          <p:cNvSpPr>
            <a:spLocks noGrp="1"/>
          </p:cNvSpPr>
          <p:nvPr>
            <p:ph type="ftr" sz="quarter" idx="11"/>
          </p:nvPr>
        </p:nvSpPr>
        <p:spPr/>
        <p:txBody>
          <a:bodyPr/>
          <a:lstStyle/>
          <a:p>
            <a:r>
              <a:rPr lang="en-US"/>
              <a:t>Intro to Public Finance Spring 2020</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130191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B3F0159-0B29-4745-9F8E-4A8453489833}" type="datetime1">
              <a:rPr lang="en-US" smtClean="0"/>
              <a:t>2/24/2020</a:t>
            </a:fld>
            <a:endParaRPr lang="en-US" dirty="0"/>
          </a:p>
        </p:txBody>
      </p:sp>
      <p:sp>
        <p:nvSpPr>
          <p:cNvPr id="5" name="Footer Placeholder 4"/>
          <p:cNvSpPr>
            <a:spLocks noGrp="1"/>
          </p:cNvSpPr>
          <p:nvPr>
            <p:ph type="ftr" sz="quarter" idx="11"/>
          </p:nvPr>
        </p:nvSpPr>
        <p:spPr/>
        <p:txBody>
          <a:bodyPr/>
          <a:lstStyle/>
          <a:p>
            <a:r>
              <a:rPr lang="en-US"/>
              <a:t>Intro to Public Finance Spring 2020</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35583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DE189C7-65C9-8F45-A845-95EAFC3134FB}" type="datetime1">
              <a:rPr lang="en-US" smtClean="0"/>
              <a:t>2/24/2020</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US"/>
              <a:t>Intro to Public Finance Spring 2020</a:t>
            </a:r>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28118617"/>
      </p:ext>
    </p:extLst>
  </p:cSld>
  <p:clrMap bg1="lt1" tx1="dk1" bg2="lt2" tx2="dk2" accent1="accent1" accent2="accent2" accent3="accent3" accent4="accent4" accent5="accent5" accent6="accent6" hlink="hlink" folHlink="folHlink"/>
  <p:sldLayoutIdLst>
    <p:sldLayoutId id="2147484086" r:id="rId1"/>
    <p:sldLayoutId id="2147484087" r:id="rId2"/>
    <p:sldLayoutId id="2147484088" r:id="rId3"/>
    <p:sldLayoutId id="2147484089" r:id="rId4"/>
    <p:sldLayoutId id="2147484090" r:id="rId5"/>
    <p:sldLayoutId id="2147484091" r:id="rId6"/>
    <p:sldLayoutId id="2147484092" r:id="rId7"/>
    <p:sldLayoutId id="2147484093" r:id="rId8"/>
    <p:sldLayoutId id="2147484094" r:id="rId9"/>
    <p:sldLayoutId id="2147484095" r:id="rId10"/>
    <p:sldLayoutId id="2147484096" r:id="rId11"/>
    <p:sldLayoutId id="2147484097" r:id="rId12"/>
    <p:sldLayoutId id="2147484098" r:id="rId13"/>
    <p:sldLayoutId id="2147484099" r:id="rId14"/>
    <p:sldLayoutId id="2147484100" r:id="rId15"/>
    <p:sldLayoutId id="2147484101" r:id="rId16"/>
    <p:sldLayoutId id="2147484102" r:id="rId17"/>
  </p:sldLayoutIdLst>
  <p:hf hdr="0" dt="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youtube.com/watch?v=lGDA5Ucx2Xk"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9.gif"/><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c146c2y6dmk"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jpeg"/><Relationship Id="rId7"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0.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13" name="Rectangle 11">
            <a:extLst>
              <a:ext uri="{FF2B5EF4-FFF2-40B4-BE49-F238E27FC236}">
                <a16:creationId xmlns:a16="http://schemas.microsoft.com/office/drawing/2014/main" id="{9401732C-37EE-4B98-A709-9530173F3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grpSp>
        <p:nvGrpSpPr>
          <p:cNvPr id="19" name="Group 13">
            <a:extLst>
              <a:ext uri="{FF2B5EF4-FFF2-40B4-BE49-F238E27FC236}">
                <a16:creationId xmlns:a16="http://schemas.microsoft.com/office/drawing/2014/main" id="{654E48C8-2A00-4C54-BC9C-B18EE49E9C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786"/>
            <a:ext cx="12229962" cy="6856214"/>
            <a:chOff x="-15736" y="0"/>
            <a:chExt cx="12229962" cy="6856214"/>
          </a:xfrm>
        </p:grpSpPr>
        <p:pic>
          <p:nvPicPr>
            <p:cNvPr id="15" name="Picture 14">
              <a:extLst>
                <a:ext uri="{FF2B5EF4-FFF2-40B4-BE49-F238E27FC236}">
                  <a16:creationId xmlns:a16="http://schemas.microsoft.com/office/drawing/2014/main" id="{CE0A0544-8F52-43F0-AC3E-DF683908B56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6" name="Rectangle 15">
              <a:extLst>
                <a:ext uri="{FF2B5EF4-FFF2-40B4-BE49-F238E27FC236}">
                  <a16:creationId xmlns:a16="http://schemas.microsoft.com/office/drawing/2014/main" id="{2F4057D3-A680-4443-9E51-ED920A691E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7" name="Picture 16">
              <a:extLst>
                <a:ext uri="{FF2B5EF4-FFF2-40B4-BE49-F238E27FC236}">
                  <a16:creationId xmlns:a16="http://schemas.microsoft.com/office/drawing/2014/main" id="{2F6853A4-7B38-4FDE-B024-AE8BA71E738C}"/>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8" name="Picture 17">
              <a:extLst>
                <a:ext uri="{FF2B5EF4-FFF2-40B4-BE49-F238E27FC236}">
                  <a16:creationId xmlns:a16="http://schemas.microsoft.com/office/drawing/2014/main" id="{86ADF4DB-4290-4441-8F8E-04152FE60631}"/>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1">
            <a:extLst>
              <a:ext uri="{FF2B5EF4-FFF2-40B4-BE49-F238E27FC236}">
                <a16:creationId xmlns:a16="http://schemas.microsoft.com/office/drawing/2014/main" id="{B77AE531-7C1D-4873-8F18-4B7C3E3549EA}"/>
              </a:ext>
            </a:extLst>
          </p:cNvPr>
          <p:cNvSpPr>
            <a:spLocks noGrp="1"/>
          </p:cNvSpPr>
          <p:nvPr>
            <p:ph type="ctrTitle"/>
          </p:nvPr>
        </p:nvSpPr>
        <p:spPr>
          <a:xfrm>
            <a:off x="997528" y="982132"/>
            <a:ext cx="4094017" cy="2823880"/>
          </a:xfrm>
        </p:spPr>
        <p:txBody>
          <a:bodyPr>
            <a:normAutofit/>
          </a:bodyPr>
          <a:lstStyle/>
          <a:p>
            <a:r>
              <a:rPr lang="en-US" sz="4800">
                <a:solidFill>
                  <a:srgbClr val="262626"/>
                </a:solidFill>
              </a:rPr>
              <a:t>Intro to Public Finance</a:t>
            </a:r>
          </a:p>
        </p:txBody>
      </p:sp>
      <p:sp>
        <p:nvSpPr>
          <p:cNvPr id="3" name="Subtitle 2">
            <a:extLst>
              <a:ext uri="{FF2B5EF4-FFF2-40B4-BE49-F238E27FC236}">
                <a16:creationId xmlns:a16="http://schemas.microsoft.com/office/drawing/2014/main" id="{8040F224-8C54-45D1-BED9-9E0E048AF38E}"/>
              </a:ext>
            </a:extLst>
          </p:cNvPr>
          <p:cNvSpPr>
            <a:spLocks noGrp="1"/>
          </p:cNvSpPr>
          <p:nvPr>
            <p:ph type="subTitle" idx="1"/>
          </p:nvPr>
        </p:nvSpPr>
        <p:spPr>
          <a:xfrm>
            <a:off x="997528" y="4076944"/>
            <a:ext cx="4094017" cy="1679620"/>
          </a:xfrm>
        </p:spPr>
        <p:txBody>
          <a:bodyPr>
            <a:normAutofit/>
          </a:bodyPr>
          <a:lstStyle/>
          <a:p>
            <a:r>
              <a:rPr lang="en-US" dirty="0">
                <a:solidFill>
                  <a:srgbClr val="000000"/>
                </a:solidFill>
              </a:rPr>
              <a:t>Week 3 Spring 2020</a:t>
            </a:r>
          </a:p>
        </p:txBody>
      </p:sp>
      <p:pic>
        <p:nvPicPr>
          <p:cNvPr id="7" name="Graphic 6" descr="Bank">
            <a:extLst>
              <a:ext uri="{FF2B5EF4-FFF2-40B4-BE49-F238E27FC236}">
                <a16:creationId xmlns:a16="http://schemas.microsoft.com/office/drawing/2014/main" id="{FE75E220-755C-4303-B12C-35DDA11CA54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06533" y="982131"/>
            <a:ext cx="4893735" cy="4893735"/>
          </a:xfrm>
          <a:prstGeom prst="rect">
            <a:avLst/>
          </a:prstGeom>
          <a:ln w="57150" cmpd="thickThin">
            <a:solidFill>
              <a:srgbClr val="7F7F7F"/>
            </a:solidFill>
            <a:miter lim="800000"/>
          </a:ln>
        </p:spPr>
      </p:pic>
      <p:sp>
        <p:nvSpPr>
          <p:cNvPr id="4" name="Footer Placeholder 3">
            <a:extLst>
              <a:ext uri="{FF2B5EF4-FFF2-40B4-BE49-F238E27FC236}">
                <a16:creationId xmlns:a16="http://schemas.microsoft.com/office/drawing/2014/main" id="{5F65090B-CB3D-684B-B449-BF74538B692E}"/>
              </a:ext>
            </a:extLst>
          </p:cNvPr>
          <p:cNvSpPr>
            <a:spLocks noGrp="1"/>
          </p:cNvSpPr>
          <p:nvPr>
            <p:ph type="ftr" sz="quarter" idx="11"/>
          </p:nvPr>
        </p:nvSpPr>
        <p:spPr/>
        <p:txBody>
          <a:bodyPr/>
          <a:lstStyle/>
          <a:p>
            <a:r>
              <a:rPr lang="en-US"/>
              <a:t>Intro to Public Finance Spring 2020</a:t>
            </a:r>
            <a:endParaRPr lang="en-US" dirty="0"/>
          </a:p>
        </p:txBody>
      </p:sp>
      <p:sp>
        <p:nvSpPr>
          <p:cNvPr id="5" name="Slide Number Placeholder 4">
            <a:extLst>
              <a:ext uri="{FF2B5EF4-FFF2-40B4-BE49-F238E27FC236}">
                <a16:creationId xmlns:a16="http://schemas.microsoft.com/office/drawing/2014/main" id="{FFA7AF1E-5327-F245-B08F-BF888CCE7AE9}"/>
              </a:ext>
            </a:extLst>
          </p:cNvPr>
          <p:cNvSpPr>
            <a:spLocks noGrp="1"/>
          </p:cNvSpPr>
          <p:nvPr>
            <p:ph type="sldNum" sz="quarter" idx="12"/>
          </p:nvPr>
        </p:nvSpPr>
        <p:spPr/>
        <p:txBody>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3281766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08895-8F35-4CAF-ADA8-E3C12656E40C}"/>
              </a:ext>
            </a:extLst>
          </p:cNvPr>
          <p:cNvSpPr>
            <a:spLocks noGrp="1"/>
          </p:cNvSpPr>
          <p:nvPr>
            <p:ph type="title"/>
          </p:nvPr>
        </p:nvSpPr>
        <p:spPr/>
        <p:txBody>
          <a:bodyPr/>
          <a:lstStyle/>
          <a:p>
            <a:r>
              <a:rPr lang="en-US" dirty="0"/>
              <a:t>Some Examples from the Blogs</a:t>
            </a:r>
          </a:p>
        </p:txBody>
      </p:sp>
      <p:sp>
        <p:nvSpPr>
          <p:cNvPr id="3" name="Content Placeholder 2">
            <a:extLst>
              <a:ext uri="{FF2B5EF4-FFF2-40B4-BE49-F238E27FC236}">
                <a16:creationId xmlns:a16="http://schemas.microsoft.com/office/drawing/2014/main" id="{DCDEA46B-D1D1-4ACA-8DD3-8C4068FB33C8}"/>
              </a:ext>
            </a:extLst>
          </p:cNvPr>
          <p:cNvSpPr>
            <a:spLocks noGrp="1"/>
          </p:cNvSpPr>
          <p:nvPr>
            <p:ph idx="1"/>
          </p:nvPr>
        </p:nvSpPr>
        <p:spPr/>
        <p:txBody>
          <a:bodyPr>
            <a:normAutofit fontScale="85000" lnSpcReduction="20000"/>
          </a:bodyPr>
          <a:lstStyle/>
          <a:p>
            <a:r>
              <a:rPr lang="en-US" dirty="0">
                <a:ea typeface="+mn-lt"/>
                <a:cs typeface="+mn-lt"/>
              </a:rPr>
              <a:t>"I think that growing income inequality has made our economy more efficient, but it has come at a great cost. As the article said, 40% of Americans 55 and older are still in the workforce as of 2018 compared to 30% 30 years ago. Yes, this is efficiency in that we are working people for more years of their life but, it comes at a human cost."</a:t>
            </a:r>
          </a:p>
          <a:p>
            <a:r>
              <a:rPr lang="en-US" dirty="0">
                <a:ea typeface="+mn-lt"/>
                <a:cs typeface="+mn-lt"/>
              </a:rPr>
              <a:t>Unfortunately, from a cold-blooded economic perspective, rising income inequality has resulted in the economy being more efficient.  Poorer people who require monetary assistance from the government for subsistence are dying off at significantly lower ages than individuals in higher income brackets who are far less reliant on government benefits.  Individuals interpreting the economy based on data without empathy for human suffering would conclude that the elderly poor are a drain on society.  “When older Americans finally do retire, most are depending on Social Security and other safety net programs” </a:t>
            </a:r>
            <a:endParaRPr lang="en-US" dirty="0"/>
          </a:p>
        </p:txBody>
      </p:sp>
      <p:sp>
        <p:nvSpPr>
          <p:cNvPr id="4" name="Footer Placeholder 3">
            <a:extLst>
              <a:ext uri="{FF2B5EF4-FFF2-40B4-BE49-F238E27FC236}">
                <a16:creationId xmlns:a16="http://schemas.microsoft.com/office/drawing/2014/main" id="{9D1376F4-67CF-4B2F-88ED-A358693B50DC}"/>
              </a:ext>
            </a:extLst>
          </p:cNvPr>
          <p:cNvSpPr>
            <a:spLocks noGrp="1"/>
          </p:cNvSpPr>
          <p:nvPr>
            <p:ph type="ftr" sz="quarter" idx="11"/>
          </p:nvPr>
        </p:nvSpPr>
        <p:spPr/>
        <p:txBody>
          <a:bodyPr/>
          <a:lstStyle/>
          <a:p>
            <a:r>
              <a:rPr lang="en-US"/>
              <a:t>Intro to Public Finance Spring 2020</a:t>
            </a:r>
            <a:endParaRPr lang="en-US" dirty="0"/>
          </a:p>
        </p:txBody>
      </p:sp>
      <p:sp>
        <p:nvSpPr>
          <p:cNvPr id="5" name="Slide Number Placeholder 4">
            <a:extLst>
              <a:ext uri="{FF2B5EF4-FFF2-40B4-BE49-F238E27FC236}">
                <a16:creationId xmlns:a16="http://schemas.microsoft.com/office/drawing/2014/main" id="{B7F64067-8A66-415C-B42D-6BA914B3ED1B}"/>
              </a:ext>
            </a:extLst>
          </p:cNvPr>
          <p:cNvSpPr>
            <a:spLocks noGrp="1"/>
          </p:cNvSpPr>
          <p:nvPr>
            <p:ph type="sldNum" sz="quarter" idx="12"/>
          </p:nvPr>
        </p:nvSpPr>
        <p:spPr/>
        <p:txBody>
          <a:bodyPr/>
          <a:lstStyle/>
          <a:p>
            <a:fld id="{E97799C9-84D9-46D2-A11E-BCF8A720529D}" type="slidenum">
              <a:rPr lang="en-US" dirty="0"/>
              <a:t>2</a:t>
            </a:fld>
            <a:endParaRPr lang="en-US" dirty="0"/>
          </a:p>
        </p:txBody>
      </p:sp>
    </p:spTree>
    <p:extLst>
      <p:ext uri="{BB962C8B-B14F-4D97-AF65-F5344CB8AC3E}">
        <p14:creationId xmlns:p14="http://schemas.microsoft.com/office/powerpoint/2010/main" val="3860277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381C6-5A09-4380-8D1C-6894FD629DBC}"/>
              </a:ext>
            </a:extLst>
          </p:cNvPr>
          <p:cNvSpPr>
            <a:spLocks noGrp="1"/>
          </p:cNvSpPr>
          <p:nvPr>
            <p:ph type="title"/>
          </p:nvPr>
        </p:nvSpPr>
        <p:spPr/>
        <p:txBody>
          <a:bodyPr/>
          <a:lstStyle/>
          <a:p>
            <a:r>
              <a:rPr lang="en-US" dirty="0">
                <a:ea typeface="+mj-lt"/>
                <a:cs typeface="+mj-lt"/>
              </a:rPr>
              <a:t>Some Examples from the Blogs</a:t>
            </a:r>
          </a:p>
          <a:p>
            <a:endParaRPr lang="en-US" dirty="0"/>
          </a:p>
        </p:txBody>
      </p:sp>
      <p:sp>
        <p:nvSpPr>
          <p:cNvPr id="3" name="Content Placeholder 2">
            <a:extLst>
              <a:ext uri="{FF2B5EF4-FFF2-40B4-BE49-F238E27FC236}">
                <a16:creationId xmlns:a16="http://schemas.microsoft.com/office/drawing/2014/main" id="{54D1939D-2BB7-4319-8BFE-B393AC3CADFA}"/>
              </a:ext>
            </a:extLst>
          </p:cNvPr>
          <p:cNvSpPr>
            <a:spLocks noGrp="1"/>
          </p:cNvSpPr>
          <p:nvPr>
            <p:ph idx="1"/>
          </p:nvPr>
        </p:nvSpPr>
        <p:spPr/>
        <p:txBody>
          <a:bodyPr/>
          <a:lstStyle/>
          <a:p>
            <a:r>
              <a:rPr lang="en-US" dirty="0">
                <a:ea typeface="+mn-lt"/>
                <a:cs typeface="+mn-lt"/>
              </a:rPr>
              <a:t>Measuring the efficiency of the whole economy requires measuring the economic value of resources used for production (i.e., input) as well as the economic value of both what is produced and the benefit society derives from that production.  Some benefits derived from economic activity are hard to quantity and assigning an economic value to them is difficult.  This is further complicated because an output for one economic actor may be an input for another economic actor. </a:t>
            </a:r>
            <a:endParaRPr lang="en-US" dirty="0"/>
          </a:p>
        </p:txBody>
      </p:sp>
      <p:sp>
        <p:nvSpPr>
          <p:cNvPr id="4" name="Footer Placeholder 3">
            <a:extLst>
              <a:ext uri="{FF2B5EF4-FFF2-40B4-BE49-F238E27FC236}">
                <a16:creationId xmlns:a16="http://schemas.microsoft.com/office/drawing/2014/main" id="{D94BE3F1-A2A9-4F74-BF0E-AC1F92FCAA34}"/>
              </a:ext>
            </a:extLst>
          </p:cNvPr>
          <p:cNvSpPr>
            <a:spLocks noGrp="1"/>
          </p:cNvSpPr>
          <p:nvPr>
            <p:ph type="ftr" sz="quarter" idx="11"/>
          </p:nvPr>
        </p:nvSpPr>
        <p:spPr/>
        <p:txBody>
          <a:bodyPr/>
          <a:lstStyle/>
          <a:p>
            <a:r>
              <a:rPr lang="en-US"/>
              <a:t>Intro to Public Finance Spring 2020</a:t>
            </a:r>
            <a:endParaRPr lang="en-US" dirty="0"/>
          </a:p>
        </p:txBody>
      </p:sp>
      <p:sp>
        <p:nvSpPr>
          <p:cNvPr id="5" name="Slide Number Placeholder 4">
            <a:extLst>
              <a:ext uri="{FF2B5EF4-FFF2-40B4-BE49-F238E27FC236}">
                <a16:creationId xmlns:a16="http://schemas.microsoft.com/office/drawing/2014/main" id="{FDA3ADB6-4E8B-4431-9819-A2358D822CA1}"/>
              </a:ext>
            </a:extLst>
          </p:cNvPr>
          <p:cNvSpPr>
            <a:spLocks noGrp="1"/>
          </p:cNvSpPr>
          <p:nvPr>
            <p:ph type="sldNum" sz="quarter" idx="12"/>
          </p:nvPr>
        </p:nvSpPr>
        <p:spPr/>
        <p:txBody>
          <a:bodyPr/>
          <a:lstStyle/>
          <a:p>
            <a:fld id="{E97799C9-84D9-46D2-A11E-BCF8A720529D}" type="slidenum">
              <a:rPr lang="en-US" dirty="0"/>
              <a:t>3</a:t>
            </a:fld>
            <a:endParaRPr lang="en-US" dirty="0"/>
          </a:p>
        </p:txBody>
      </p:sp>
    </p:spTree>
    <p:extLst>
      <p:ext uri="{BB962C8B-B14F-4D97-AF65-F5344CB8AC3E}">
        <p14:creationId xmlns:p14="http://schemas.microsoft.com/office/powerpoint/2010/main" val="3213094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8F224-295A-45D8-8973-ECC20D8C6A7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802C204-118B-4FCE-93C4-A630D9B52860}"/>
              </a:ext>
            </a:extLst>
          </p:cNvPr>
          <p:cNvSpPr>
            <a:spLocks noGrp="1"/>
          </p:cNvSpPr>
          <p:nvPr>
            <p:ph idx="1"/>
          </p:nvPr>
        </p:nvSpPr>
        <p:spPr/>
        <p:txBody>
          <a:bodyPr/>
          <a:lstStyle/>
          <a:p>
            <a:r>
              <a:rPr lang="en-US">
                <a:ea typeface="+mn-lt"/>
                <a:cs typeface="+mn-lt"/>
              </a:rPr>
              <a:t>If we overhaul the system to be more cost effective, that still necessarily comes from somewhere else.  If we end an insurance-based healthcare delivery model, that would impact insurance companies. If we had a one-payer system, that may increase unemployment if less labor is required manage the claim cycle for multiple payers and various rules.  Health outcomes, productivity, and health sector employment could all be good measures, and correlation with demographics is essential.</a:t>
            </a:r>
            <a:endParaRPr lang="en-US"/>
          </a:p>
        </p:txBody>
      </p:sp>
      <p:sp>
        <p:nvSpPr>
          <p:cNvPr id="4" name="Footer Placeholder 3">
            <a:extLst>
              <a:ext uri="{FF2B5EF4-FFF2-40B4-BE49-F238E27FC236}">
                <a16:creationId xmlns:a16="http://schemas.microsoft.com/office/drawing/2014/main" id="{FD69454A-CE6B-4139-B07B-43D387BD480F}"/>
              </a:ext>
            </a:extLst>
          </p:cNvPr>
          <p:cNvSpPr>
            <a:spLocks noGrp="1"/>
          </p:cNvSpPr>
          <p:nvPr>
            <p:ph type="ftr" sz="quarter" idx="11"/>
          </p:nvPr>
        </p:nvSpPr>
        <p:spPr/>
        <p:txBody>
          <a:bodyPr/>
          <a:lstStyle/>
          <a:p>
            <a:r>
              <a:rPr lang="en-US"/>
              <a:t>Intro to Public Finance Spring 2020</a:t>
            </a:r>
            <a:endParaRPr lang="en-US" dirty="0"/>
          </a:p>
        </p:txBody>
      </p:sp>
      <p:sp>
        <p:nvSpPr>
          <p:cNvPr id="5" name="Slide Number Placeholder 4">
            <a:extLst>
              <a:ext uri="{FF2B5EF4-FFF2-40B4-BE49-F238E27FC236}">
                <a16:creationId xmlns:a16="http://schemas.microsoft.com/office/drawing/2014/main" id="{E741C603-CCC0-4756-8726-B4EFDEFEB7C2}"/>
              </a:ext>
            </a:extLst>
          </p:cNvPr>
          <p:cNvSpPr>
            <a:spLocks noGrp="1"/>
          </p:cNvSpPr>
          <p:nvPr>
            <p:ph type="sldNum" sz="quarter" idx="12"/>
          </p:nvPr>
        </p:nvSpPr>
        <p:spPr/>
        <p:txBody>
          <a:bodyPr/>
          <a:lstStyle/>
          <a:p>
            <a:fld id="{E97799C9-84D9-46D2-A11E-BCF8A720529D}" type="slidenum">
              <a:rPr lang="en-US" dirty="0"/>
              <a:t>4</a:t>
            </a:fld>
            <a:endParaRPr lang="en-US" dirty="0"/>
          </a:p>
        </p:txBody>
      </p:sp>
    </p:spTree>
    <p:extLst>
      <p:ext uri="{BB962C8B-B14F-4D97-AF65-F5344CB8AC3E}">
        <p14:creationId xmlns:p14="http://schemas.microsoft.com/office/powerpoint/2010/main" val="2828335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52EFC-7379-4221-A021-2519210C246C}"/>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174F0DD0-4317-4EE2-A8C7-B8F752571F2C}"/>
              </a:ext>
            </a:extLst>
          </p:cNvPr>
          <p:cNvSpPr>
            <a:spLocks noGrp="1"/>
          </p:cNvSpPr>
          <p:nvPr>
            <p:ph idx="1"/>
          </p:nvPr>
        </p:nvSpPr>
        <p:spPr/>
        <p:txBody>
          <a:bodyPr vert="horz" lIns="91440" tIns="45720" rIns="91440" bIns="45720" rtlCol="0" anchor="t">
            <a:normAutofit fontScale="92500" lnSpcReduction="20000"/>
          </a:bodyPr>
          <a:lstStyle/>
          <a:p>
            <a:r>
              <a:rPr lang="en-US" dirty="0"/>
              <a:t>Review of where we left off.</a:t>
            </a:r>
          </a:p>
          <a:p>
            <a:r>
              <a:rPr lang="en-US"/>
              <a:t>Private goods vs public goods—what's the difference? (Quick review of Pareto and equity </a:t>
            </a:r>
            <a:r>
              <a:rPr lang="en-US">
                <a:hlinkClick r:id="rId2"/>
              </a:rPr>
              <a:t>video)</a:t>
            </a:r>
            <a:r>
              <a:rPr lang="en-US"/>
              <a:t>.</a:t>
            </a:r>
            <a:endParaRPr lang="en-US" dirty="0"/>
          </a:p>
          <a:p>
            <a:r>
              <a:rPr lang="en-US"/>
              <a:t>Providing public goods.</a:t>
            </a:r>
            <a:endParaRPr lang="en-US" dirty="0"/>
          </a:p>
          <a:p>
            <a:r>
              <a:rPr lang="en-US"/>
              <a:t>Pure &amp; impure public goods.</a:t>
            </a:r>
            <a:endParaRPr lang="en-US" dirty="0"/>
          </a:p>
          <a:p>
            <a:r>
              <a:rPr lang="en-US"/>
              <a:t>Gives rise to mixed economy.</a:t>
            </a:r>
            <a:endParaRPr lang="en-US" dirty="0"/>
          </a:p>
          <a:p>
            <a:r>
              <a:rPr lang="en-US"/>
              <a:t>Necessity of competition.</a:t>
            </a:r>
            <a:endParaRPr lang="en-US" dirty="0"/>
          </a:p>
          <a:p>
            <a:r>
              <a:rPr lang="en-US"/>
              <a:t>How economists define efficiency.</a:t>
            </a:r>
            <a:endParaRPr lang="en-US" dirty="0"/>
          </a:p>
          <a:p>
            <a:endParaRPr lang="en-US" dirty="0"/>
          </a:p>
          <a:p>
            <a:endParaRPr lang="en-US" dirty="0"/>
          </a:p>
          <a:p>
            <a:endParaRPr lang="en-US" dirty="0"/>
          </a:p>
        </p:txBody>
      </p:sp>
      <p:sp>
        <p:nvSpPr>
          <p:cNvPr id="4" name="Footer Placeholder 3">
            <a:extLst>
              <a:ext uri="{FF2B5EF4-FFF2-40B4-BE49-F238E27FC236}">
                <a16:creationId xmlns:a16="http://schemas.microsoft.com/office/drawing/2014/main" id="{07445183-0B34-467F-9A29-914683AE7AE1}"/>
              </a:ext>
            </a:extLst>
          </p:cNvPr>
          <p:cNvSpPr>
            <a:spLocks noGrp="1"/>
          </p:cNvSpPr>
          <p:nvPr>
            <p:ph type="ftr" sz="quarter" idx="11"/>
          </p:nvPr>
        </p:nvSpPr>
        <p:spPr/>
        <p:txBody>
          <a:bodyPr/>
          <a:lstStyle/>
          <a:p>
            <a:pPr>
              <a:defRPr/>
            </a:pPr>
            <a:r>
              <a:rPr lang="nl-NL"/>
              <a:t>Intro to Public Finance Spring 2020</a:t>
            </a:r>
            <a:endParaRPr lang="en-US"/>
          </a:p>
        </p:txBody>
      </p:sp>
      <p:sp>
        <p:nvSpPr>
          <p:cNvPr id="5" name="Slide Number Placeholder 4">
            <a:extLst>
              <a:ext uri="{FF2B5EF4-FFF2-40B4-BE49-F238E27FC236}">
                <a16:creationId xmlns:a16="http://schemas.microsoft.com/office/drawing/2014/main" id="{E8276C19-23C9-45AF-925C-9325AF3A00F3}"/>
              </a:ext>
            </a:extLst>
          </p:cNvPr>
          <p:cNvSpPr>
            <a:spLocks noGrp="1"/>
          </p:cNvSpPr>
          <p:nvPr>
            <p:ph type="sldNum" sz="quarter" idx="12"/>
          </p:nvPr>
        </p:nvSpPr>
        <p:spPr/>
        <p:txBody>
          <a:bodyPr/>
          <a:lstStyle/>
          <a:p>
            <a:pPr>
              <a:defRPr/>
            </a:pPr>
            <a:r>
              <a:rPr lang="en-US"/>
              <a:t>2-</a:t>
            </a:r>
            <a:fld id="{C22FAA8F-BA94-D941-8AE6-B37D3B746757}" type="slidenum">
              <a:rPr lang="en-US"/>
              <a:pPr>
                <a:defRPr/>
              </a:pPr>
              <a:t>5</a:t>
            </a:fld>
            <a:endParaRPr lang="en-US"/>
          </a:p>
        </p:txBody>
      </p:sp>
    </p:spTree>
    <p:extLst>
      <p:ext uri="{BB962C8B-B14F-4D97-AF65-F5344CB8AC3E}">
        <p14:creationId xmlns:p14="http://schemas.microsoft.com/office/powerpoint/2010/main" val="319749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grpSp>
        <p:nvGrpSpPr>
          <p:cNvPr id="51" name="Group 53">
            <a:extLst>
              <a:ext uri="{FF2B5EF4-FFF2-40B4-BE49-F238E27FC236}">
                <a16:creationId xmlns:a16="http://schemas.microsoft.com/office/drawing/2014/main" id="{3F6D81C7-B083-478E-82FE-089A8CB72E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55" name="Picture 54">
              <a:extLst>
                <a:ext uri="{FF2B5EF4-FFF2-40B4-BE49-F238E27FC236}">
                  <a16:creationId xmlns:a16="http://schemas.microsoft.com/office/drawing/2014/main" id="{8398EDA2-4889-433D-AC01-5214D79764ED}"/>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56" name="Rectangle 55">
              <a:extLst>
                <a:ext uri="{FF2B5EF4-FFF2-40B4-BE49-F238E27FC236}">
                  <a16:creationId xmlns:a16="http://schemas.microsoft.com/office/drawing/2014/main" id="{0099D46A-AF52-46FD-938B-D31189460A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57" name="Picture 56">
              <a:extLst>
                <a:ext uri="{FF2B5EF4-FFF2-40B4-BE49-F238E27FC236}">
                  <a16:creationId xmlns:a16="http://schemas.microsoft.com/office/drawing/2014/main" id="{C933E919-C473-4F0E-9DBC-CC65FC9E926E}"/>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58" name="Picture 57">
              <a:extLst>
                <a:ext uri="{FF2B5EF4-FFF2-40B4-BE49-F238E27FC236}">
                  <a16:creationId xmlns:a16="http://schemas.microsoft.com/office/drawing/2014/main" id="{FBBF3BDD-5C99-4FDC-BBCB-E711359D93F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cxnSp>
        <p:nvCxnSpPr>
          <p:cNvPr id="52" name="Straight Connector 59">
            <a:extLst>
              <a:ext uri="{FF2B5EF4-FFF2-40B4-BE49-F238E27FC236}">
                <a16:creationId xmlns:a16="http://schemas.microsoft.com/office/drawing/2014/main" id="{F06B54F2-CD11-4359-A7D6-DA7C76C091A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useBgFill="1">
        <p:nvSpPr>
          <p:cNvPr id="53" name="Rectangle 61">
            <a:extLst>
              <a:ext uri="{FF2B5EF4-FFF2-40B4-BE49-F238E27FC236}">
                <a16:creationId xmlns:a16="http://schemas.microsoft.com/office/drawing/2014/main" id="{ED56E41F-B8E0-4D18-B554-FD40260DE0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9" name="Group 63">
            <a:extLst>
              <a:ext uri="{FF2B5EF4-FFF2-40B4-BE49-F238E27FC236}">
                <a16:creationId xmlns:a16="http://schemas.microsoft.com/office/drawing/2014/main" id="{2DB31E17-E562-4F82-98D0-858C84120F3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65" name="Picture 64">
              <a:extLst>
                <a:ext uri="{FF2B5EF4-FFF2-40B4-BE49-F238E27FC236}">
                  <a16:creationId xmlns:a16="http://schemas.microsoft.com/office/drawing/2014/main" id="{58BF3B07-5EF6-4E5B-834E-C1398DB60AD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66" name="Rectangle 65">
              <a:extLst>
                <a:ext uri="{FF2B5EF4-FFF2-40B4-BE49-F238E27FC236}">
                  <a16:creationId xmlns:a16="http://schemas.microsoft.com/office/drawing/2014/main" id="{3DDA1859-D108-4C60-B38B-C85485AB38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67" name="Picture 66">
              <a:extLst>
                <a:ext uri="{FF2B5EF4-FFF2-40B4-BE49-F238E27FC236}">
                  <a16:creationId xmlns:a16="http://schemas.microsoft.com/office/drawing/2014/main" id="{E498EA77-084B-43CC-B94D-566F1D8E1EE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68" name="Picture 67">
              <a:extLst>
                <a:ext uri="{FF2B5EF4-FFF2-40B4-BE49-F238E27FC236}">
                  <a16:creationId xmlns:a16="http://schemas.microsoft.com/office/drawing/2014/main" id="{99B16D3F-47E8-419E-9C4E-ED6FC918FBB0}"/>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3" name="Title 2">
            <a:extLst>
              <a:ext uri="{FF2B5EF4-FFF2-40B4-BE49-F238E27FC236}">
                <a16:creationId xmlns:a16="http://schemas.microsoft.com/office/drawing/2014/main" id="{C3E1626C-D85B-4590-ABED-827314928959}"/>
              </a:ext>
            </a:extLst>
          </p:cNvPr>
          <p:cNvSpPr>
            <a:spLocks noGrp="1"/>
          </p:cNvSpPr>
          <p:nvPr>
            <p:ph type="title"/>
          </p:nvPr>
        </p:nvSpPr>
        <p:spPr>
          <a:xfrm>
            <a:off x="7535825" y="982132"/>
            <a:ext cx="3360772" cy="1303867"/>
          </a:xfrm>
        </p:spPr>
        <p:txBody>
          <a:bodyPr vert="horz" lIns="91440" tIns="45720" rIns="91440" bIns="45720" rtlCol="0" anchor="ctr">
            <a:normAutofit/>
          </a:bodyPr>
          <a:lstStyle/>
          <a:p>
            <a:pPr>
              <a:spcAft>
                <a:spcPts val="600"/>
              </a:spcAft>
            </a:pPr>
            <a:r>
              <a:rPr lang="en-US">
                <a:solidFill>
                  <a:srgbClr val="262626"/>
                </a:solidFill>
              </a:rPr>
              <a:t> Public Goods</a:t>
            </a:r>
          </a:p>
        </p:txBody>
      </p:sp>
      <p:sp>
        <p:nvSpPr>
          <p:cNvPr id="61" name="Rectangle 69">
            <a:extLst>
              <a:ext uri="{FF2B5EF4-FFF2-40B4-BE49-F238E27FC236}">
                <a16:creationId xmlns:a16="http://schemas.microsoft.com/office/drawing/2014/main" id="{23E937B9-07EE-456A-A31C-41A8866E28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643" y="1092200"/>
            <a:ext cx="5942687" cy="4515104"/>
          </a:xfrm>
          <a:prstGeom prst="rect">
            <a:avLst/>
          </a:prstGeom>
          <a:solidFill>
            <a:schemeClr val="bg1"/>
          </a:solidFill>
          <a:ln w="57150" cmpd="thickThin">
            <a:solidFill>
              <a:schemeClr val="tx1">
                <a:lumMod val="50000"/>
                <a:lumOff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descr="Sun_Public_Good_Main.gif"/>
          <p:cNvPicPr>
            <a:picLocks noGrp="1" noChangeAspect="1"/>
          </p:cNvPicPr>
          <p:nvPr>
            <p:ph sz="half" idx="1"/>
          </p:nvPr>
        </p:nvPicPr>
        <p:blipFill>
          <a:blip r:embed="rId6">
            <a:extLst>
              <a:ext uri="{28A0092B-C50C-407E-A947-70E740481C1C}">
                <a14:useLocalDpi xmlns:a14="http://schemas.microsoft.com/office/drawing/2010/main" val="0"/>
              </a:ext>
            </a:extLst>
          </a:blip>
          <a:stretch>
            <a:fillRect/>
          </a:stretch>
        </p:blipFill>
        <p:spPr>
          <a:xfrm>
            <a:off x="1412683" y="2125479"/>
            <a:ext cx="5278777" cy="2428237"/>
          </a:xfrm>
          <a:prstGeom prst="rect">
            <a:avLst/>
          </a:prstGeom>
        </p:spPr>
      </p:pic>
      <p:cxnSp>
        <p:nvCxnSpPr>
          <p:cNvPr id="63" name="Straight Connector 71">
            <a:extLst>
              <a:ext uri="{FF2B5EF4-FFF2-40B4-BE49-F238E27FC236}">
                <a16:creationId xmlns:a16="http://schemas.microsoft.com/office/drawing/2014/main" id="{FD2308B7-2829-44DD-B213-27EEBDED14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20089" y="2400639"/>
            <a:ext cx="3376508" cy="0"/>
          </a:xfrm>
          <a:prstGeom prst="line">
            <a:avLst/>
          </a:prstGeom>
        </p:spPr>
        <p:style>
          <a:lnRef idx="2">
            <a:schemeClr val="accent1"/>
          </a:lnRef>
          <a:fillRef idx="0">
            <a:schemeClr val="accent1"/>
          </a:fillRef>
          <a:effectRef idx="1">
            <a:schemeClr val="accent1"/>
          </a:effectRef>
          <a:fontRef idx="minor">
            <a:schemeClr val="tx1"/>
          </a:fontRef>
        </p:style>
      </p:cxnSp>
      <p:sp>
        <p:nvSpPr>
          <p:cNvPr id="4" name="Content Placeholder 3">
            <a:extLst>
              <a:ext uri="{FF2B5EF4-FFF2-40B4-BE49-F238E27FC236}">
                <a16:creationId xmlns:a16="http://schemas.microsoft.com/office/drawing/2014/main" id="{F8414E9F-C3E3-4209-8AA3-804AB9C26404}"/>
              </a:ext>
            </a:extLst>
          </p:cNvPr>
          <p:cNvSpPr>
            <a:spLocks noGrp="1"/>
          </p:cNvSpPr>
          <p:nvPr>
            <p:ph sz="half" idx="2"/>
          </p:nvPr>
        </p:nvSpPr>
        <p:spPr>
          <a:xfrm>
            <a:off x="7535824" y="2556932"/>
            <a:ext cx="3360771" cy="3318936"/>
          </a:xfrm>
        </p:spPr>
        <p:txBody>
          <a:bodyPr vert="horz" lIns="91440" tIns="45720" rIns="91440" bIns="45720" rtlCol="0" anchor="t">
            <a:normAutofit/>
          </a:bodyPr>
          <a:lstStyle/>
          <a:p>
            <a:r>
              <a:rPr lang="en-US" dirty="0">
                <a:solidFill>
                  <a:srgbClr val="262626"/>
                </a:solidFill>
              </a:rPr>
              <a:t>What one considers a public good may be subject to some debate.</a:t>
            </a:r>
          </a:p>
          <a:p>
            <a:r>
              <a:rPr lang="en-US" dirty="0">
                <a:solidFill>
                  <a:srgbClr val="262626"/>
                </a:solidFill>
              </a:rPr>
              <a:t>However, most economists tend to agree.</a:t>
            </a:r>
          </a:p>
        </p:txBody>
      </p:sp>
      <p:sp>
        <p:nvSpPr>
          <p:cNvPr id="5" name="Footer Placeholder 4"/>
          <p:cNvSpPr>
            <a:spLocks noGrp="1"/>
          </p:cNvSpPr>
          <p:nvPr>
            <p:ph type="ftr" sz="quarter" idx="11"/>
          </p:nvPr>
        </p:nvSpPr>
        <p:spPr>
          <a:xfrm>
            <a:off x="1295401" y="5969000"/>
            <a:ext cx="7305900" cy="279400"/>
          </a:xfrm>
        </p:spPr>
        <p:txBody>
          <a:bodyPr vert="horz" lIns="91440" tIns="45720" rIns="91440" bIns="45720" rtlCol="0" anchor="ctr">
            <a:normAutofit/>
          </a:bodyPr>
          <a:lstStyle/>
          <a:p>
            <a:pPr>
              <a:spcAft>
                <a:spcPts val="600"/>
              </a:spcAft>
            </a:pPr>
            <a:r>
              <a:rPr lang="en-US" b="0" i="0" kern="1200">
                <a:solidFill>
                  <a:srgbClr val="000000"/>
                </a:solidFill>
                <a:effectLst/>
                <a:latin typeface="+mn-lt"/>
                <a:ea typeface="+mn-ea"/>
                <a:cs typeface="+mn-cs"/>
              </a:rPr>
              <a:t>Intro to Public Finance Spring 2020</a:t>
            </a:r>
          </a:p>
        </p:txBody>
      </p:sp>
      <p:sp>
        <p:nvSpPr>
          <p:cNvPr id="6" name="Slide Number Placeholder 5"/>
          <p:cNvSpPr>
            <a:spLocks noGrp="1"/>
          </p:cNvSpPr>
          <p:nvPr>
            <p:ph type="sldNum" sz="quarter" idx="12"/>
          </p:nvPr>
        </p:nvSpPr>
        <p:spPr>
          <a:xfrm>
            <a:off x="10353901" y="5969000"/>
            <a:ext cx="542697" cy="279400"/>
          </a:xfrm>
          <a:prstGeom prst="rect">
            <a:avLst/>
          </a:prstGeom>
        </p:spPr>
        <p:txBody>
          <a:bodyPr vert="horz" lIns="91440" tIns="45720" rIns="91440" bIns="45720" rtlCol="0" anchor="ctr">
            <a:normAutofit/>
          </a:bodyPr>
          <a:lstStyle/>
          <a:p>
            <a:pPr>
              <a:spcAft>
                <a:spcPts val="600"/>
              </a:spcAft>
            </a:pPr>
            <a:fld id="{98BA2A1B-C4DB-4748-B560-E3B8550C6AD3}" type="slidenum">
              <a:rPr lang="en-US">
                <a:solidFill>
                  <a:srgbClr val="000000"/>
                </a:solidFill>
              </a:rPr>
              <a:pPr>
                <a:spcAft>
                  <a:spcPts val="600"/>
                </a:spcAft>
              </a:pPr>
              <a:t>6</a:t>
            </a:fld>
            <a:endParaRPr lang="en-US">
              <a:solidFill>
                <a:srgbClr val="000000"/>
              </a:solidFill>
            </a:endParaRPr>
          </a:p>
        </p:txBody>
      </p:sp>
    </p:spTree>
    <p:extLst>
      <p:ext uri="{BB962C8B-B14F-4D97-AF65-F5344CB8AC3E}">
        <p14:creationId xmlns:p14="http://schemas.microsoft.com/office/powerpoint/2010/main" val="30450959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bg>
      <p:bgPr>
        <a:gradFill rotWithShape="1">
          <a:gsLst>
            <a:gs pos="0">
              <a:schemeClr val="bg2">
                <a:shade val="94000"/>
                <a:satMod val="114000"/>
                <a:lumMod val="96000"/>
              </a:schemeClr>
            </a:gs>
            <a:gs pos="62000">
              <a:schemeClr val="bg2">
                <a:tint val="92000"/>
                <a:shade val="66000"/>
                <a:satMod val="110000"/>
                <a:lumMod val="80000"/>
              </a:schemeClr>
            </a:gs>
            <a:gs pos="100000">
              <a:schemeClr val="bg2">
                <a:tint val="89000"/>
                <a:shade val="62000"/>
                <a:satMod val="110000"/>
                <a:lumMod val="72000"/>
              </a:schemeClr>
            </a:gs>
          </a:gsLst>
          <a:lin ang="5400000" scaled="0"/>
        </a:gradFill>
        <a:effectLst/>
      </p:bgPr>
    </p:bg>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2567490" y="1027664"/>
            <a:ext cx="7024744" cy="1143000"/>
          </a:xfrm>
          <a:prstGeom prst="rect">
            <a:avLst/>
          </a:prstGeom>
        </p:spPr>
        <p:txBody>
          <a:bodyPr vert="horz" lIns="92075" tIns="46038" rIns="92075" bIns="46038" rtlCol="0" anchor="b">
            <a:normAutofit/>
          </a:bodyPr>
          <a:lstStyle/>
          <a:p>
            <a:pPr eaLnBrk="0" hangingPunct="0">
              <a:lnSpc>
                <a:spcPct val="90000"/>
              </a:lnSpc>
            </a:pPr>
            <a:br>
              <a:rPr lang="en-US" sz="3100"/>
            </a:br>
            <a:r>
              <a:rPr lang="en-US" sz="3100"/>
              <a:t>Pure Public Goods &amp; Market Failure </a:t>
            </a:r>
          </a:p>
        </p:txBody>
      </p:sp>
      <p:sp>
        <p:nvSpPr>
          <p:cNvPr id="72" name="Text Placeholder 2">
            <a:extLst>
              <a:ext uri="{FF2B5EF4-FFF2-40B4-BE49-F238E27FC236}">
                <a16:creationId xmlns:a16="http://schemas.microsoft.com/office/drawing/2014/main" id="{CC583D61-03C2-4066-B413-B80B484CE85A}"/>
              </a:ext>
            </a:extLst>
          </p:cNvPr>
          <p:cNvSpPr>
            <a:spLocks noGrp="1"/>
          </p:cNvSpPr>
          <p:nvPr>
            <p:ph type="body" idx="1"/>
          </p:nvPr>
        </p:nvSpPr>
        <p:spPr>
          <a:xfrm>
            <a:off x="2936111" y="2316009"/>
            <a:ext cx="3057148" cy="639762"/>
          </a:xfrm>
        </p:spPr>
        <p:txBody>
          <a:bodyPr>
            <a:normAutofit fontScale="77500" lnSpcReduction="20000"/>
          </a:bodyPr>
          <a:lstStyle/>
          <a:p>
            <a:r>
              <a:rPr lang="en-US" dirty="0"/>
              <a:t>Causes of Public Goods</a:t>
            </a:r>
          </a:p>
        </p:txBody>
      </p:sp>
      <p:sp>
        <p:nvSpPr>
          <p:cNvPr id="37891" name="Rectangle 3"/>
          <p:cNvSpPr>
            <a:spLocks noGrp="1" noChangeArrowheads="1"/>
          </p:cNvSpPr>
          <p:nvPr>
            <p:ph sz="half" idx="2"/>
          </p:nvPr>
        </p:nvSpPr>
        <p:spPr>
          <a:xfrm>
            <a:off x="2565721" y="2974695"/>
            <a:ext cx="3419856" cy="2835797"/>
          </a:xfrm>
          <a:prstGeom prst="rect">
            <a:avLst/>
          </a:prstGeom>
        </p:spPr>
        <p:txBody>
          <a:bodyPr vert="horz" lIns="92075" tIns="46038" rIns="92075" bIns="46038" rtlCol="0">
            <a:normAutofit/>
          </a:bodyPr>
          <a:lstStyle/>
          <a:p>
            <a:pPr eaLnBrk="0" hangingPunct="0">
              <a:lnSpc>
                <a:spcPct val="90000"/>
              </a:lnSpc>
            </a:pPr>
            <a:r>
              <a:rPr lang="en-US" sz="1500" dirty="0"/>
              <a:t>Combined Causes of Market Failure:</a:t>
            </a:r>
          </a:p>
          <a:p>
            <a:pPr lvl="1" eaLnBrk="0" hangingPunct="0">
              <a:lnSpc>
                <a:spcPct val="90000"/>
              </a:lnSpc>
            </a:pPr>
            <a:r>
              <a:rPr lang="en-US" sz="1500" dirty="0"/>
              <a:t>Non-rival and non-excludable consumption.</a:t>
            </a:r>
          </a:p>
          <a:p>
            <a:pPr lvl="2" eaLnBrk="0" hangingPunct="0">
              <a:lnSpc>
                <a:spcPct val="90000"/>
              </a:lnSpc>
            </a:pPr>
            <a:r>
              <a:rPr lang="en-US" sz="1500" dirty="0"/>
              <a:t>Examples include water purification, national defense, lighthouse, streetlights</a:t>
            </a:r>
          </a:p>
          <a:p>
            <a:pPr eaLnBrk="0" hangingPunct="0">
              <a:lnSpc>
                <a:spcPct val="90000"/>
              </a:lnSpc>
            </a:pPr>
            <a:r>
              <a:rPr lang="en-US" sz="1500" dirty="0"/>
              <a:t>Exclusion is both undesirable and impossible.</a:t>
            </a:r>
          </a:p>
        </p:txBody>
      </p:sp>
      <p:sp>
        <p:nvSpPr>
          <p:cNvPr id="74" name="Text Placeholder 4">
            <a:extLst>
              <a:ext uri="{FF2B5EF4-FFF2-40B4-BE49-F238E27FC236}">
                <a16:creationId xmlns:a16="http://schemas.microsoft.com/office/drawing/2014/main" id="{2F4A6856-80AD-4701-8D1E-E9BD54748ADB}"/>
              </a:ext>
            </a:extLst>
          </p:cNvPr>
          <p:cNvSpPr>
            <a:spLocks noGrp="1"/>
          </p:cNvSpPr>
          <p:nvPr>
            <p:ph type="body" sz="quarter" idx="3"/>
          </p:nvPr>
        </p:nvSpPr>
        <p:spPr>
          <a:xfrm>
            <a:off x="6535838" y="2316010"/>
            <a:ext cx="3055717" cy="639762"/>
          </a:xfrm>
        </p:spPr>
        <p:txBody>
          <a:bodyPr>
            <a:normAutofit fontScale="77500" lnSpcReduction="20000"/>
          </a:bodyPr>
          <a:lstStyle/>
          <a:p>
            <a:r>
              <a:rPr lang="en-US" dirty="0"/>
              <a:t>The Lighthouse Example</a:t>
            </a:r>
          </a:p>
        </p:txBody>
      </p:sp>
      <p:pic>
        <p:nvPicPr>
          <p:cNvPr id="3" name="Content Placeholder 2" descr="lighthouse.png"/>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7411701" y="3243263"/>
            <a:ext cx="2254924" cy="2632075"/>
          </a:xfrm>
          <a:prstGeom prst="rect">
            <a:avLst/>
          </a:prstGeom>
          <a:noFill/>
        </p:spPr>
      </p:pic>
      <p:sp>
        <p:nvSpPr>
          <p:cNvPr id="5" name="Footer Placeholder 4"/>
          <p:cNvSpPr>
            <a:spLocks noGrp="1"/>
          </p:cNvSpPr>
          <p:nvPr>
            <p:ph type="ftr" sz="quarter" idx="11"/>
          </p:nvPr>
        </p:nvSpPr>
        <p:spPr>
          <a:xfrm>
            <a:off x="6165448" y="5852161"/>
            <a:ext cx="3502152" cy="365125"/>
          </a:xfrm>
          <a:prstGeom prst="rect">
            <a:avLst/>
          </a:prstGeom>
        </p:spPr>
        <p:txBody>
          <a:bodyPr anchor="ctr">
            <a:normAutofit/>
          </a:bodyPr>
          <a:lstStyle/>
          <a:p>
            <a:pPr>
              <a:spcAft>
                <a:spcPts val="600"/>
              </a:spcAft>
            </a:pPr>
            <a:r>
              <a:rPr lang="nl-NL"/>
              <a:t>Intro to Public Finance Spring 2020</a:t>
            </a:r>
            <a:endParaRPr lang="en-US"/>
          </a:p>
        </p:txBody>
      </p:sp>
      <p:sp>
        <p:nvSpPr>
          <p:cNvPr id="6" name="Slide Number Placeholder 5"/>
          <p:cNvSpPr>
            <a:spLocks noGrp="1"/>
          </p:cNvSpPr>
          <p:nvPr>
            <p:ph type="sldNum" sz="quarter" idx="12"/>
          </p:nvPr>
        </p:nvSpPr>
        <p:spPr>
          <a:xfrm>
            <a:off x="6173096" y="224492"/>
            <a:ext cx="1332156" cy="365125"/>
          </a:xfrm>
          <a:prstGeom prst="rect">
            <a:avLst/>
          </a:prstGeom>
        </p:spPr>
        <p:txBody>
          <a:bodyPr anchor="ctr">
            <a:normAutofit/>
          </a:bodyPr>
          <a:lstStyle/>
          <a:p>
            <a:pPr>
              <a:spcAft>
                <a:spcPts val="600"/>
              </a:spcAft>
            </a:pPr>
            <a:fld id="{F118D6E6-F96F-FD4E-9566-01517C03182B}" type="slidenum">
              <a:rPr lang="en-US"/>
              <a:pPr>
                <a:spcAft>
                  <a:spcPts val="600"/>
                </a:spcAft>
              </a:pPr>
              <a:t>7</a:t>
            </a:fld>
            <a:endParaRPr lang="en-US"/>
          </a:p>
        </p:txBody>
      </p:sp>
    </p:spTree>
    <p:extLst>
      <p:ext uri="{BB962C8B-B14F-4D97-AF65-F5344CB8AC3E}">
        <p14:creationId xmlns:p14="http://schemas.microsoft.com/office/powerpoint/2010/main" val="142376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891">
                                            <p:bg/>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uiExpand="1" build="p"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8" name="Rectangle 10">
            <a:extLst>
              <a:ext uri="{FF2B5EF4-FFF2-40B4-BE49-F238E27FC236}">
                <a16:creationId xmlns:a16="http://schemas.microsoft.com/office/drawing/2014/main" id="{23E3CED3-8830-45C9-8D6C-F4ECADD4F1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6" descr="A picture containing sitting, bird&#10;&#10;Description generated with very high confidence">
            <a:extLst>
              <a:ext uri="{FF2B5EF4-FFF2-40B4-BE49-F238E27FC236}">
                <a16:creationId xmlns:a16="http://schemas.microsoft.com/office/drawing/2014/main" id="{0B39FFDB-E448-4494-8EA3-F52795B40F58}"/>
              </a:ext>
            </a:extLst>
          </p:cNvPr>
          <p:cNvPicPr>
            <a:picLocks noGrp="1" noChangeAspect="1"/>
          </p:cNvPicPr>
          <p:nvPr>
            <p:ph idx="4294967295"/>
          </p:nvPr>
        </p:nvPicPr>
        <p:blipFill>
          <a:blip r:embed="rId4"/>
          <a:stretch>
            <a:fillRect/>
          </a:stretch>
        </p:blipFill>
        <p:spPr>
          <a:xfrm>
            <a:off x="2413060" y="666795"/>
            <a:ext cx="7365881" cy="5524411"/>
          </a:xfrm>
          <a:prstGeom prst="rect">
            <a:avLst/>
          </a:prstGeom>
        </p:spPr>
      </p:pic>
      <p:sp>
        <p:nvSpPr>
          <p:cNvPr id="13" name="Rectangle 12">
            <a:extLst>
              <a:ext uri="{FF2B5EF4-FFF2-40B4-BE49-F238E27FC236}">
                <a16:creationId xmlns:a16="http://schemas.microsoft.com/office/drawing/2014/main" id="{66F2D62A-C66C-42DF-8C05-99B0B1A8BE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4611" y="350556"/>
            <a:ext cx="11542779" cy="6156888"/>
          </a:xfrm>
          <a:prstGeom prst="rect">
            <a:avLst/>
          </a:prstGeom>
          <a:noFill/>
          <a:ln w="25400" cap="flat">
            <a:solidFill>
              <a:schemeClr val="accent1"/>
            </a:solidFill>
            <a:miter lim="800000"/>
          </a:ln>
        </p:spPr>
        <p:style>
          <a:lnRef idx="1">
            <a:schemeClr val="accent1"/>
          </a:lnRef>
          <a:fillRef idx="3">
            <a:schemeClr val="accent1"/>
          </a:fillRef>
          <a:effectRef idx="2">
            <a:schemeClr val="accent1"/>
          </a:effectRef>
          <a:fontRef idx="minor">
            <a:schemeClr val="lt1"/>
          </a:fontRef>
        </p:style>
      </p:sp>
      <p:sp>
        <p:nvSpPr>
          <p:cNvPr id="4" name="Footer Placeholder 3">
            <a:extLst>
              <a:ext uri="{FF2B5EF4-FFF2-40B4-BE49-F238E27FC236}">
                <a16:creationId xmlns:a16="http://schemas.microsoft.com/office/drawing/2014/main" id="{836B2587-A3BE-4E6A-9E9E-CFFA8D6CB567}"/>
              </a:ext>
            </a:extLst>
          </p:cNvPr>
          <p:cNvSpPr>
            <a:spLocks noGrp="1"/>
          </p:cNvSpPr>
          <p:nvPr>
            <p:ph type="ftr" sz="quarter" idx="11"/>
          </p:nvPr>
        </p:nvSpPr>
        <p:spPr>
          <a:xfrm>
            <a:off x="1295401" y="6198410"/>
            <a:ext cx="7305900" cy="279400"/>
          </a:xfrm>
        </p:spPr>
        <p:txBody>
          <a:bodyPr>
            <a:normAutofit/>
          </a:bodyPr>
          <a:lstStyle/>
          <a:p>
            <a:pPr>
              <a:spcAft>
                <a:spcPts val="600"/>
              </a:spcAft>
              <a:defRPr/>
            </a:pPr>
            <a:r>
              <a:rPr lang="nl-NL">
                <a:solidFill>
                  <a:schemeClr val="tx2">
                    <a:lumMod val="75000"/>
                    <a:lumOff val="25000"/>
                  </a:schemeClr>
                </a:solidFill>
              </a:rPr>
              <a:t>Intro to Public Finance Spring 2020</a:t>
            </a:r>
            <a:endParaRPr lang="en-US">
              <a:solidFill>
                <a:schemeClr val="tx2">
                  <a:lumMod val="75000"/>
                  <a:lumOff val="25000"/>
                </a:schemeClr>
              </a:solidFill>
            </a:endParaRPr>
          </a:p>
        </p:txBody>
      </p:sp>
      <p:sp>
        <p:nvSpPr>
          <p:cNvPr id="5" name="Slide Number Placeholder 4">
            <a:extLst>
              <a:ext uri="{FF2B5EF4-FFF2-40B4-BE49-F238E27FC236}">
                <a16:creationId xmlns:a16="http://schemas.microsoft.com/office/drawing/2014/main" id="{40D40BA4-A77D-48A9-A89C-A8EA769467D9}"/>
              </a:ext>
            </a:extLst>
          </p:cNvPr>
          <p:cNvSpPr>
            <a:spLocks noGrp="1"/>
          </p:cNvSpPr>
          <p:nvPr>
            <p:ph type="sldNum" sz="quarter" idx="12"/>
          </p:nvPr>
        </p:nvSpPr>
        <p:spPr>
          <a:xfrm>
            <a:off x="10353901" y="6198410"/>
            <a:ext cx="542697" cy="279400"/>
          </a:xfrm>
        </p:spPr>
        <p:txBody>
          <a:bodyPr>
            <a:normAutofit/>
          </a:bodyPr>
          <a:lstStyle/>
          <a:p>
            <a:pPr>
              <a:spcAft>
                <a:spcPts val="600"/>
              </a:spcAft>
              <a:defRPr/>
            </a:pPr>
            <a:r>
              <a:rPr lang="en-US">
                <a:solidFill>
                  <a:schemeClr val="tx2">
                    <a:lumMod val="75000"/>
                    <a:lumOff val="25000"/>
                  </a:schemeClr>
                </a:solidFill>
              </a:rPr>
              <a:t>2-</a:t>
            </a:r>
            <a:fld id="{C22FAA8F-BA94-D941-8AE6-B37D3B746757}" type="slidenum">
              <a:rPr lang="en-US">
                <a:solidFill>
                  <a:schemeClr val="tx2">
                    <a:lumMod val="75000"/>
                    <a:lumOff val="25000"/>
                  </a:schemeClr>
                </a:solidFill>
              </a:rPr>
              <a:pPr>
                <a:spcAft>
                  <a:spcPts val="600"/>
                </a:spcAft>
                <a:defRPr/>
              </a:pPr>
              <a:t>8</a:t>
            </a:fld>
            <a:endParaRPr lang="en-US">
              <a:solidFill>
                <a:schemeClr val="tx2">
                  <a:lumMod val="75000"/>
                  <a:lumOff val="25000"/>
                </a:schemeClr>
              </a:solidFill>
            </a:endParaRPr>
          </a:p>
        </p:txBody>
      </p:sp>
    </p:spTree>
    <p:extLst>
      <p:ext uri="{BB962C8B-B14F-4D97-AF65-F5344CB8AC3E}">
        <p14:creationId xmlns:p14="http://schemas.microsoft.com/office/powerpoint/2010/main" val="2646684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bg>
      <p:bgPr>
        <a:blipFill>
          <a:blip r:embed="rId3"/>
          <a:stretch/>
        </a:blip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B7328C2D-38F0-4C80-9EA5-A1AD0D6B2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4"/>
            <a:stretch/>
          </a:blipFill>
          <a:ln w="15875" cap="flat" cmpd="sng" algn="ctr">
            <a:solidFill>
              <a:srgbClr val="B15E28">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aramond" panose="02020404030301010803"/>
              <a:ea typeface="+mn-ea"/>
              <a:cs typeface="+mn-cs"/>
            </a:endParaRPr>
          </a:p>
        </p:txBody>
      </p:sp>
      <p:grpSp>
        <p:nvGrpSpPr>
          <p:cNvPr id="74" name="Group 73">
            <a:extLst>
              <a:ext uri="{FF2B5EF4-FFF2-40B4-BE49-F238E27FC236}">
                <a16:creationId xmlns:a16="http://schemas.microsoft.com/office/drawing/2014/main" id="{BD17E249-48D0-476B-A642-A5D58DD39A2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825" cy="6856215"/>
            <a:chOff x="0" y="0"/>
            <a:chExt cx="12188825" cy="6856215"/>
          </a:xfrm>
        </p:grpSpPr>
        <p:pic>
          <p:nvPicPr>
            <p:cNvPr id="75" name="Picture 74">
              <a:extLst>
                <a:ext uri="{FF2B5EF4-FFF2-40B4-BE49-F238E27FC236}">
                  <a16:creationId xmlns:a16="http://schemas.microsoft.com/office/drawing/2014/main" id="{7E4B7EC7-DE5B-4F27-839A-7CDF49C6181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76" name="Rectangle 75">
              <a:extLst>
                <a:ext uri="{FF2B5EF4-FFF2-40B4-BE49-F238E27FC236}">
                  <a16:creationId xmlns:a16="http://schemas.microsoft.com/office/drawing/2014/main" id="{DDA01082-3C8F-4602-8DA7-C82DF70956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cmpd="sng" algn="ctr">
              <a:solidFill>
                <a:schemeClr val="accent1"/>
              </a:solidFill>
              <a:prstDash val="solid"/>
              <a:miter lim="800000"/>
            </a:ln>
            <a:effectLst>
              <a:innerShdw blurRad="25400" dist="12700" dir="13500000">
                <a:srgbClr val="000000">
                  <a:alpha val="45000"/>
                </a:srgbClr>
              </a:innerShdw>
            </a:effectLst>
          </p:spPr>
        </p:sp>
        <p:pic>
          <p:nvPicPr>
            <p:cNvPr id="77" name="Picture 76">
              <a:extLst>
                <a:ext uri="{FF2B5EF4-FFF2-40B4-BE49-F238E27FC236}">
                  <a16:creationId xmlns:a16="http://schemas.microsoft.com/office/drawing/2014/main" id="{1A21B48A-5892-4DD2-B2E1-91BD42A44CB9}"/>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r="5093"/>
            <a:stretch/>
          </p:blipFill>
          <p:spPr>
            <a:xfrm rot="5400000">
              <a:off x="5706471" y="76265"/>
              <a:ext cx="758952" cy="606425"/>
            </a:xfrm>
            <a:prstGeom prst="rect">
              <a:avLst/>
            </a:prstGeom>
          </p:spPr>
        </p:pic>
        <p:pic>
          <p:nvPicPr>
            <p:cNvPr id="78" name="Picture 77">
              <a:extLst>
                <a:ext uri="{FF2B5EF4-FFF2-40B4-BE49-F238E27FC236}">
                  <a16:creationId xmlns:a16="http://schemas.microsoft.com/office/drawing/2014/main" id="{BE083B53-5B4C-4C29-BDFD-A28B754A59D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r="5093"/>
            <a:stretch/>
          </p:blipFill>
          <p:spPr>
            <a:xfrm rot="5400000">
              <a:off x="5706470" y="6173526"/>
              <a:ext cx="758952" cy="606425"/>
            </a:xfrm>
            <a:prstGeom prst="rect">
              <a:avLst/>
            </a:prstGeom>
          </p:spPr>
        </p:pic>
      </p:grpSp>
      <p:sp>
        <p:nvSpPr>
          <p:cNvPr id="41986" name="Rectangle 2"/>
          <p:cNvSpPr>
            <a:spLocks noGrp="1" noChangeArrowheads="1"/>
          </p:cNvSpPr>
          <p:nvPr>
            <p:ph type="title"/>
          </p:nvPr>
        </p:nvSpPr>
        <p:spPr>
          <a:xfrm>
            <a:off x="1295402" y="982132"/>
            <a:ext cx="9601196" cy="1303867"/>
          </a:xfrm>
        </p:spPr>
        <p:txBody>
          <a:bodyPr vert="horz" lIns="92075" tIns="46038" rIns="92075" bIns="46038" rtlCol="0">
            <a:normAutofit/>
          </a:bodyPr>
          <a:lstStyle/>
          <a:p>
            <a:pPr eaLnBrk="0" hangingPunct="0">
              <a:lnSpc>
                <a:spcPct val="90000"/>
              </a:lnSpc>
            </a:pPr>
            <a:r>
              <a:rPr lang="en-US" sz="4100" dirty="0"/>
              <a:t>Review of Pure Public Goods</a:t>
            </a:r>
            <a:br>
              <a:rPr lang="en-US" sz="4100" dirty="0"/>
            </a:br>
            <a:endParaRPr lang="en-US" sz="4100"/>
          </a:p>
        </p:txBody>
      </p:sp>
      <p:cxnSp>
        <p:nvCxnSpPr>
          <p:cNvPr id="80" name="Straight Connector 79">
            <a:extLst>
              <a:ext uri="{FF2B5EF4-FFF2-40B4-BE49-F238E27FC236}">
                <a16:creationId xmlns:a16="http://schemas.microsoft.com/office/drawing/2014/main" id="{0B65B193-F600-4C1B-9DBF-09D94CDB08D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83042" y="2400639"/>
            <a:ext cx="9273858" cy="0"/>
          </a:xfrm>
          <a:prstGeom prst="line">
            <a:avLst/>
          </a:prstGeom>
        </p:spPr>
        <p:style>
          <a:lnRef idx="2">
            <a:schemeClr val="accent1"/>
          </a:lnRef>
          <a:fillRef idx="0">
            <a:schemeClr val="accent1"/>
          </a:fillRef>
          <a:effectRef idx="1">
            <a:schemeClr val="accent1"/>
          </a:effectRef>
          <a:fontRef idx="minor">
            <a:schemeClr val="tx1"/>
          </a:fontRef>
        </p:style>
      </p:cxnSp>
      <p:sp>
        <p:nvSpPr>
          <p:cNvPr id="41987" name="Rectangle 3"/>
          <p:cNvSpPr>
            <a:spLocks noGrp="1" noChangeArrowheads="1"/>
          </p:cNvSpPr>
          <p:nvPr>
            <p:ph idx="1"/>
          </p:nvPr>
        </p:nvSpPr>
        <p:spPr>
          <a:xfrm>
            <a:off x="1295401" y="2556932"/>
            <a:ext cx="9601196" cy="3318936"/>
          </a:xfrm>
        </p:spPr>
        <p:txBody>
          <a:bodyPr vert="horz" lIns="92075" tIns="46038" rIns="92075" bIns="46038" rtlCol="0">
            <a:normAutofit/>
          </a:bodyPr>
          <a:lstStyle/>
          <a:p>
            <a:pPr eaLnBrk="0" hangingPunct="0"/>
            <a:r>
              <a:rPr lang="en-US" dirty="0"/>
              <a:t>Revealing individual preferences is a problem in public goods.</a:t>
            </a:r>
            <a:endParaRPr lang="en-US"/>
          </a:p>
          <a:p>
            <a:pPr lvl="1"/>
            <a:r>
              <a:rPr lang="en-US" dirty="0"/>
              <a:t>No price mechanism.</a:t>
            </a:r>
          </a:p>
          <a:p>
            <a:pPr eaLnBrk="0" hangingPunct="0"/>
            <a:r>
              <a:rPr lang="en-US" dirty="0"/>
              <a:t>Because pure public goods are non-rival and non-excludable, consumers will not</a:t>
            </a:r>
            <a:r>
              <a:rPr lang="en-US" baseline="0" dirty="0"/>
              <a:t> </a:t>
            </a:r>
            <a:r>
              <a:rPr lang="en-US" dirty="0"/>
              <a:t>voluntarily reveal preferences.</a:t>
            </a:r>
            <a:endParaRPr lang="en-US"/>
          </a:p>
          <a:p>
            <a:pPr eaLnBrk="0" hangingPunct="0"/>
            <a:r>
              <a:rPr lang="en-US" dirty="0"/>
              <a:t>How, then, do we determine demand? Trick question because, of course, you already know the answer, right?</a:t>
            </a:r>
          </a:p>
        </p:txBody>
      </p:sp>
      <p:sp>
        <p:nvSpPr>
          <p:cNvPr id="5" name="Footer Placeholder 4"/>
          <p:cNvSpPr>
            <a:spLocks noGrp="1"/>
          </p:cNvSpPr>
          <p:nvPr>
            <p:ph type="ftr" sz="quarter" idx="11"/>
          </p:nvPr>
        </p:nvSpPr>
        <p:spPr>
          <a:xfrm>
            <a:off x="1295401" y="5969000"/>
            <a:ext cx="7305900" cy="279400"/>
          </a:xfrm>
        </p:spPr>
        <p:txBody>
          <a:bodyPr>
            <a:normAutofit/>
          </a:bodyPr>
          <a:lstStyle/>
          <a:p>
            <a:pPr>
              <a:spcAft>
                <a:spcPts val="600"/>
              </a:spcAft>
            </a:pPr>
            <a:r>
              <a:rPr lang="nl-NL"/>
              <a:t>Intro to Public Finance Spring 2020</a:t>
            </a:r>
            <a:endParaRPr lang="en-US"/>
          </a:p>
        </p:txBody>
      </p:sp>
      <p:sp>
        <p:nvSpPr>
          <p:cNvPr id="6" name="Slide Number Placeholder 5"/>
          <p:cNvSpPr>
            <a:spLocks noGrp="1"/>
          </p:cNvSpPr>
          <p:nvPr>
            <p:ph type="sldNum" sz="quarter" idx="12"/>
          </p:nvPr>
        </p:nvSpPr>
        <p:spPr>
          <a:xfrm>
            <a:off x="10353901" y="5969000"/>
            <a:ext cx="542697" cy="279400"/>
          </a:xfrm>
          <a:prstGeom prst="rect">
            <a:avLst/>
          </a:prstGeom>
        </p:spPr>
        <p:txBody>
          <a:bodyPr>
            <a:normAutofit/>
          </a:bodyPr>
          <a:lstStyle/>
          <a:p>
            <a:pPr>
              <a:spcAft>
                <a:spcPts val="600"/>
              </a:spcAft>
            </a:pPr>
            <a:fld id="{37615C58-2235-5E4C-939E-10BDF9324B88}" type="slidenum">
              <a:rPr lang="en-US"/>
              <a:pPr>
                <a:spcAft>
                  <a:spcPts val="600"/>
                </a:spcAft>
              </a:pPr>
              <a:t>9</a:t>
            </a:fld>
            <a:endParaRPr lang="en-US"/>
          </a:p>
        </p:txBody>
      </p:sp>
    </p:spTree>
    <p:extLst>
      <p:ext uri="{BB962C8B-B14F-4D97-AF65-F5344CB8AC3E}">
        <p14:creationId xmlns:p14="http://schemas.microsoft.com/office/powerpoint/2010/main" val="1748396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7">
                                            <p:bg/>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uiExpand="1" build="p"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normAutofit/>
          </a:bodyPr>
          <a:lstStyle/>
          <a:p>
            <a:r>
              <a:rPr lang="en-US" dirty="0"/>
              <a:t>Comparison of Private with Public Goods</a:t>
            </a:r>
          </a:p>
        </p:txBody>
      </p:sp>
      <p:sp>
        <p:nvSpPr>
          <p:cNvPr id="83971" name="Rectangle 3"/>
          <p:cNvSpPr>
            <a:spLocks noGrp="1" noChangeArrowheads="1"/>
          </p:cNvSpPr>
          <p:nvPr>
            <p:ph idx="1"/>
          </p:nvPr>
        </p:nvSpPr>
        <p:spPr/>
        <p:txBody>
          <a:bodyPr vert="horz" lIns="91440" tIns="45720" rIns="91440" bIns="45720" rtlCol="0" anchor="t">
            <a:normAutofit/>
          </a:bodyPr>
          <a:lstStyle/>
          <a:p>
            <a:r>
              <a:rPr lang="en-US" dirty="0"/>
              <a:t>“Pseudo-demand” curve is the vertical addition of individual demand curves.</a:t>
            </a:r>
          </a:p>
          <a:p>
            <a:r>
              <a:rPr lang="en-US" dirty="0"/>
              <a:t> Shows the sum of the prices which consumers are willing to pay for any given amount. </a:t>
            </a:r>
          </a:p>
          <a:p>
            <a:r>
              <a:rPr lang="en-US" dirty="0"/>
              <a:t>Everyone consumes the same amount. </a:t>
            </a:r>
          </a:p>
          <a:p>
            <a:r>
              <a:rPr lang="en-US" dirty="0"/>
              <a:t>Each pays a price</a:t>
            </a:r>
            <a:r>
              <a:rPr lang="en-US" baseline="0" dirty="0"/>
              <a:t> =</a:t>
            </a:r>
            <a:r>
              <a:rPr lang="en-US" dirty="0"/>
              <a:t> to their evaluation of the good.</a:t>
            </a:r>
          </a:p>
          <a:p>
            <a:pPr marL="0" indent="0">
              <a:buNone/>
            </a:pPr>
            <a:endParaRPr lang="en-US" dirty="0"/>
          </a:p>
        </p:txBody>
      </p:sp>
      <p:sp>
        <p:nvSpPr>
          <p:cNvPr id="5" name="Footer Placeholder 4"/>
          <p:cNvSpPr>
            <a:spLocks noGrp="1"/>
          </p:cNvSpPr>
          <p:nvPr>
            <p:ph type="ftr" sz="quarter" idx="11"/>
          </p:nvPr>
        </p:nvSpPr>
        <p:spPr/>
        <p:txBody>
          <a:bodyPr/>
          <a:lstStyle/>
          <a:p>
            <a:r>
              <a:rPr lang="nl-NL"/>
              <a:t>Intro to Public Finance Spring 2020</a:t>
            </a:r>
            <a:endParaRPr lang="en-US"/>
          </a:p>
        </p:txBody>
      </p:sp>
      <p:sp>
        <p:nvSpPr>
          <p:cNvPr id="6" name="Slide Number Placeholder 5"/>
          <p:cNvSpPr>
            <a:spLocks noGrp="1"/>
          </p:cNvSpPr>
          <p:nvPr>
            <p:ph type="sldNum" sz="quarter" idx="12"/>
          </p:nvPr>
        </p:nvSpPr>
        <p:spPr>
          <a:xfrm>
            <a:off x="8077200" y="6165850"/>
            <a:ext cx="1905000" cy="457200"/>
          </a:xfrm>
          <a:prstGeom prst="rect">
            <a:avLst/>
          </a:prstGeom>
        </p:spPr>
        <p:txBody>
          <a:bodyPr/>
          <a:lstStyle/>
          <a:p>
            <a:fld id="{29060DA3-36A4-054D-BA3A-8C3C20AF74A8}" type="slidenum">
              <a:rPr lang="en-US"/>
              <a:pPr/>
              <a:t>10</a:t>
            </a:fld>
            <a:endParaRPr lang="en-US"/>
          </a:p>
        </p:txBody>
      </p:sp>
    </p:spTree>
    <p:extLst>
      <p:ext uri="{BB962C8B-B14F-4D97-AF65-F5344CB8AC3E}">
        <p14:creationId xmlns:p14="http://schemas.microsoft.com/office/powerpoint/2010/main" val="2189101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9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39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39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39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1" grpId="0" build="p"/>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0" hangingPunct="0">
              <a:lnSpc>
                <a:spcPct val="110000"/>
              </a:lnSpc>
            </a:pPr>
            <a:r>
              <a:rPr lang="en-US" dirty="0"/>
              <a:t>Provision of Public Goods</a:t>
            </a:r>
          </a:p>
        </p:txBody>
      </p:sp>
      <p:sp>
        <p:nvSpPr>
          <p:cNvPr id="86019" name="Rectangle 3"/>
          <p:cNvSpPr>
            <a:spLocks noGrp="1" noChangeArrowheads="1"/>
          </p:cNvSpPr>
          <p:nvPr>
            <p:ph idx="1"/>
          </p:nvPr>
        </p:nvSpPr>
        <p:spPr/>
        <p:txBody>
          <a:bodyPr vert="horz" lIns="91440" tIns="45720" rIns="91440" bIns="45720" rtlCol="0" anchor="t">
            <a:normAutofit/>
          </a:bodyPr>
          <a:lstStyle/>
          <a:p>
            <a:pPr eaLnBrk="0" hangingPunct="0">
              <a:lnSpc>
                <a:spcPct val="110000"/>
              </a:lnSpc>
            </a:pPr>
            <a:r>
              <a:rPr lang="en-US" dirty="0"/>
              <a:t>Where the number of participants is large, an individual</a:t>
            </a:r>
            <a:r>
              <a:rPr lang="en-US" dirty="0">
                <a:latin typeface="Arial"/>
              </a:rPr>
              <a:t>’</a:t>
            </a:r>
            <a:r>
              <a:rPr lang="en-US" dirty="0"/>
              <a:t>s contribution will make little difference in total provision.</a:t>
            </a:r>
          </a:p>
          <a:p>
            <a:pPr eaLnBrk="0" hangingPunct="0">
              <a:lnSpc>
                <a:spcPct val="110000"/>
              </a:lnSpc>
            </a:pPr>
            <a:r>
              <a:rPr lang="en-US" dirty="0"/>
              <a:t>Gives rise to free rider problem.</a:t>
            </a:r>
          </a:p>
          <a:p>
            <a:pPr lvl="1">
              <a:lnSpc>
                <a:spcPct val="110000"/>
              </a:lnSpc>
            </a:pPr>
            <a:r>
              <a:rPr lang="en-US" dirty="0"/>
              <a:t>National defense</a:t>
            </a:r>
          </a:p>
          <a:p>
            <a:pPr lvl="1">
              <a:lnSpc>
                <a:spcPct val="110000"/>
              </a:lnSpc>
            </a:pPr>
            <a:r>
              <a:rPr lang="en-US" dirty="0"/>
              <a:t>National parks</a:t>
            </a:r>
          </a:p>
          <a:p>
            <a:pPr lvl="1">
              <a:lnSpc>
                <a:spcPct val="110000"/>
              </a:lnSpc>
            </a:pPr>
            <a:r>
              <a:rPr lang="en-US" dirty="0">
                <a:hlinkClick r:id="rId3"/>
              </a:rPr>
              <a:t>Climate</a:t>
            </a:r>
            <a:r>
              <a:rPr lang="en-US" dirty="0"/>
              <a:t>  (debate over who has responsibility to reverse climate change)</a:t>
            </a:r>
          </a:p>
          <a:p>
            <a:pPr marL="0" indent="0" eaLnBrk="0" hangingPunct="0">
              <a:lnSpc>
                <a:spcPct val="110000"/>
              </a:lnSpc>
              <a:buNone/>
            </a:pPr>
            <a:endParaRPr lang="en-US" sz="2800" dirty="0"/>
          </a:p>
        </p:txBody>
      </p:sp>
      <p:sp>
        <p:nvSpPr>
          <p:cNvPr id="5" name="Footer Placeholder 4"/>
          <p:cNvSpPr>
            <a:spLocks noGrp="1"/>
          </p:cNvSpPr>
          <p:nvPr>
            <p:ph type="ftr" sz="quarter" idx="11"/>
          </p:nvPr>
        </p:nvSpPr>
        <p:spPr/>
        <p:txBody>
          <a:bodyPr/>
          <a:lstStyle/>
          <a:p>
            <a:r>
              <a:rPr lang="nl-NL"/>
              <a:t>Intro to Public Finance Spring 2020</a:t>
            </a:r>
            <a:endParaRPr lang="en-US"/>
          </a:p>
        </p:txBody>
      </p:sp>
      <p:sp>
        <p:nvSpPr>
          <p:cNvPr id="6" name="Slide Number Placeholder 5"/>
          <p:cNvSpPr>
            <a:spLocks noGrp="1"/>
          </p:cNvSpPr>
          <p:nvPr>
            <p:ph type="sldNum" sz="quarter" idx="12"/>
          </p:nvPr>
        </p:nvSpPr>
        <p:spPr>
          <a:xfrm>
            <a:off x="8077200" y="6165850"/>
            <a:ext cx="1905000" cy="457200"/>
          </a:xfrm>
          <a:prstGeom prst="rect">
            <a:avLst/>
          </a:prstGeom>
        </p:spPr>
        <p:txBody>
          <a:bodyPr/>
          <a:lstStyle/>
          <a:p>
            <a:fld id="{507FB8DA-AE97-784F-8613-E218CEBD0F83}" type="slidenum">
              <a:rPr lang="en-US"/>
              <a:pPr/>
              <a:t>11</a:t>
            </a:fld>
            <a:endParaRPr lang="en-US"/>
          </a:p>
        </p:txBody>
      </p:sp>
    </p:spTree>
    <p:extLst>
      <p:ext uri="{BB962C8B-B14F-4D97-AF65-F5344CB8AC3E}">
        <p14:creationId xmlns:p14="http://schemas.microsoft.com/office/powerpoint/2010/main" val="2663402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60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601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601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601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60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749C117F-F390-437B-ADB0-57E87EFF34F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934" y="0"/>
            <a:ext cx="12231160" cy="6856214"/>
            <a:chOff x="-16934" y="0"/>
            <a:chExt cx="12231160" cy="6856214"/>
          </a:xfrm>
        </p:grpSpPr>
        <p:pic>
          <p:nvPicPr>
            <p:cNvPr id="34" name="Picture 33">
              <a:extLst>
                <a:ext uri="{FF2B5EF4-FFF2-40B4-BE49-F238E27FC236}">
                  <a16:creationId xmlns:a16="http://schemas.microsoft.com/office/drawing/2014/main" id="{A7EF42F8-2417-49A6-95CE-DE9503B0AA6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5" name="Rectangle 34">
              <a:extLst>
                <a:ext uri="{FF2B5EF4-FFF2-40B4-BE49-F238E27FC236}">
                  <a16:creationId xmlns:a16="http://schemas.microsoft.com/office/drawing/2014/main" id="{AC6F623B-2003-4AED-B02F-541A150EC1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36" name="Picture 35">
              <a:extLst>
                <a:ext uri="{FF2B5EF4-FFF2-40B4-BE49-F238E27FC236}">
                  <a16:creationId xmlns:a16="http://schemas.microsoft.com/office/drawing/2014/main" id="{CD11837A-4F3D-419F-ACE2-E80B1EA2846F}"/>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37" name="Picture 36">
              <a:extLst>
                <a:ext uri="{FF2B5EF4-FFF2-40B4-BE49-F238E27FC236}">
                  <a16:creationId xmlns:a16="http://schemas.microsoft.com/office/drawing/2014/main" id="{B9411D1A-7E2C-4A36-BE32-BF7A8E13072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cxnSp>
        <p:nvCxnSpPr>
          <p:cNvPr id="39" name="Straight Connector 38">
            <a:extLst>
              <a:ext uri="{FF2B5EF4-FFF2-40B4-BE49-F238E27FC236}">
                <a16:creationId xmlns:a16="http://schemas.microsoft.com/office/drawing/2014/main" id="{20742BC3-654B-4E41-9A6A-73A42E47763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
        <p:nvSpPr>
          <p:cNvPr id="41" name="Rectangle 40">
            <a:extLst>
              <a:ext uri="{FF2B5EF4-FFF2-40B4-BE49-F238E27FC236}">
                <a16:creationId xmlns:a16="http://schemas.microsoft.com/office/drawing/2014/main" id="{9401732C-37EE-4B98-A709-9530173F3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654E48C8-2A00-4C54-BC9C-B18EE49E9C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786"/>
            <a:ext cx="12229962" cy="6856214"/>
            <a:chOff x="-15736" y="0"/>
            <a:chExt cx="12229962" cy="6856214"/>
          </a:xfrm>
        </p:grpSpPr>
        <p:pic>
          <p:nvPicPr>
            <p:cNvPr id="44" name="Picture 43">
              <a:extLst>
                <a:ext uri="{FF2B5EF4-FFF2-40B4-BE49-F238E27FC236}">
                  <a16:creationId xmlns:a16="http://schemas.microsoft.com/office/drawing/2014/main" id="{CE0A0544-8F52-43F0-AC3E-DF683908B56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6">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45" name="Rectangle 44">
              <a:extLst>
                <a:ext uri="{FF2B5EF4-FFF2-40B4-BE49-F238E27FC236}">
                  <a16:creationId xmlns:a16="http://schemas.microsoft.com/office/drawing/2014/main" id="{2F4057D3-A680-4443-9E51-ED920A691E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46" name="Picture 45">
              <a:extLst>
                <a:ext uri="{FF2B5EF4-FFF2-40B4-BE49-F238E27FC236}">
                  <a16:creationId xmlns:a16="http://schemas.microsoft.com/office/drawing/2014/main" id="{2F6853A4-7B38-4FDE-B024-AE8BA71E738C}"/>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47" name="Picture 46">
              <a:extLst>
                <a:ext uri="{FF2B5EF4-FFF2-40B4-BE49-F238E27FC236}">
                  <a16:creationId xmlns:a16="http://schemas.microsoft.com/office/drawing/2014/main" id="{86ADF4DB-4290-4441-8F8E-04152FE60631}"/>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1"/>
          <p:cNvSpPr>
            <a:spLocks noGrp="1"/>
          </p:cNvSpPr>
          <p:nvPr>
            <p:ph type="title"/>
          </p:nvPr>
        </p:nvSpPr>
        <p:spPr>
          <a:xfrm>
            <a:off x="997528" y="982132"/>
            <a:ext cx="4094017" cy="2823880"/>
          </a:xfrm>
        </p:spPr>
        <p:txBody>
          <a:bodyPr vert="horz" lIns="91440" tIns="45720" rIns="91440" bIns="45720" rtlCol="0" anchor="b">
            <a:normAutofit/>
          </a:bodyPr>
          <a:lstStyle/>
          <a:p>
            <a:r>
              <a:rPr lang="en-US" sz="4800">
                <a:solidFill>
                  <a:srgbClr val="262626"/>
                </a:solidFill>
              </a:rPr>
              <a:t>Pure &amp; Impure Public Goods</a:t>
            </a:r>
          </a:p>
        </p:txBody>
      </p:sp>
      <p:pic>
        <p:nvPicPr>
          <p:cNvPr id="9" name="Content Placeholder 8" descr="public_goods.png"/>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418668" y="1759814"/>
            <a:ext cx="5469466" cy="3338368"/>
          </a:xfrm>
          <a:prstGeom prst="rect">
            <a:avLst/>
          </a:prstGeom>
          <a:ln w="57150" cmpd="thickThin">
            <a:solidFill>
              <a:srgbClr val="7F7F7F"/>
            </a:solidFill>
            <a:miter lim="800000"/>
          </a:ln>
        </p:spPr>
      </p:pic>
      <p:sp>
        <p:nvSpPr>
          <p:cNvPr id="5" name="Footer Placeholder 4"/>
          <p:cNvSpPr>
            <a:spLocks noGrp="1"/>
          </p:cNvSpPr>
          <p:nvPr>
            <p:ph type="ftr" sz="quarter" idx="11"/>
          </p:nvPr>
        </p:nvSpPr>
        <p:spPr>
          <a:xfrm>
            <a:off x="1295401" y="5969000"/>
            <a:ext cx="7305900" cy="279400"/>
          </a:xfrm>
        </p:spPr>
        <p:txBody>
          <a:bodyPr vert="horz" lIns="91440" tIns="45720" rIns="91440" bIns="45720" rtlCol="0" anchor="ctr">
            <a:normAutofit/>
          </a:bodyPr>
          <a:lstStyle/>
          <a:p>
            <a:pPr>
              <a:spcAft>
                <a:spcPts val="600"/>
              </a:spcAft>
            </a:pPr>
            <a:r>
              <a:rPr lang="en-US" b="0" i="0" kern="1200">
                <a:solidFill>
                  <a:srgbClr val="000000"/>
                </a:solidFill>
                <a:effectLst/>
                <a:latin typeface="+mn-lt"/>
                <a:ea typeface="+mn-ea"/>
                <a:cs typeface="+mn-cs"/>
              </a:rPr>
              <a:t>Intro to Public Finance Spring 2020</a:t>
            </a:r>
          </a:p>
        </p:txBody>
      </p:sp>
      <p:sp>
        <p:nvSpPr>
          <p:cNvPr id="6" name="Slide Number Placeholder 5"/>
          <p:cNvSpPr>
            <a:spLocks noGrp="1"/>
          </p:cNvSpPr>
          <p:nvPr>
            <p:ph type="sldNum" sz="quarter" idx="12"/>
          </p:nvPr>
        </p:nvSpPr>
        <p:spPr>
          <a:xfrm>
            <a:off x="10353901" y="5969000"/>
            <a:ext cx="542697" cy="279400"/>
          </a:xfrm>
          <a:prstGeom prst="rect">
            <a:avLst/>
          </a:prstGeom>
        </p:spPr>
        <p:txBody>
          <a:bodyPr vert="horz" lIns="91440" tIns="45720" rIns="91440" bIns="45720" rtlCol="0" anchor="ctr">
            <a:normAutofit/>
          </a:bodyPr>
          <a:lstStyle/>
          <a:p>
            <a:pPr>
              <a:spcAft>
                <a:spcPts val="600"/>
              </a:spcAft>
            </a:pPr>
            <a:fld id="{98BA2A1B-C4DB-4748-B560-E3B8550C6AD3}" type="slidenum">
              <a:rPr lang="en-US">
                <a:solidFill>
                  <a:srgbClr val="000000"/>
                </a:solidFill>
              </a:rPr>
              <a:pPr>
                <a:spcAft>
                  <a:spcPts val="600"/>
                </a:spcAft>
              </a:pPr>
              <a:t>12</a:t>
            </a:fld>
            <a:endParaRPr lang="en-US">
              <a:solidFill>
                <a:srgbClr val="000000"/>
              </a:solidFill>
            </a:endParaRPr>
          </a:p>
        </p:txBody>
      </p:sp>
    </p:spTree>
    <p:extLst>
      <p:ext uri="{BB962C8B-B14F-4D97-AF65-F5344CB8AC3E}">
        <p14:creationId xmlns:p14="http://schemas.microsoft.com/office/powerpoint/2010/main" val="2184856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noFill/>
          <a:ln/>
        </p:spPr>
        <p:txBody>
          <a:bodyPr vert="horz" lIns="92075" tIns="46038" rIns="92075" bIns="46038" rtlCol="0" anchor="b">
            <a:normAutofit/>
          </a:bodyPr>
          <a:lstStyle/>
          <a:p>
            <a:pPr eaLnBrk="0" hangingPunct="0"/>
            <a:r>
              <a:rPr lang="en-US" dirty="0"/>
              <a:t> Private &amp; Public Sectors Intertwined</a:t>
            </a:r>
          </a:p>
        </p:txBody>
      </p:sp>
      <p:sp>
        <p:nvSpPr>
          <p:cNvPr id="46083" name="Rectangle 3"/>
          <p:cNvSpPr>
            <a:spLocks noGrp="1" noChangeArrowheads="1"/>
          </p:cNvSpPr>
          <p:nvPr>
            <p:ph idx="1"/>
          </p:nvPr>
        </p:nvSpPr>
        <p:spPr>
          <a:noFill/>
          <a:ln/>
        </p:spPr>
        <p:txBody>
          <a:bodyPr vert="horz" lIns="92075" tIns="46038" rIns="92075" bIns="46038" rtlCol="0">
            <a:normAutofit/>
          </a:bodyPr>
          <a:lstStyle/>
          <a:p>
            <a:pPr eaLnBrk="0" hangingPunct="0"/>
            <a:r>
              <a:rPr lang="en-US" dirty="0"/>
              <a:t>Public &amp; Private Sectors are closely interconnected.</a:t>
            </a:r>
          </a:p>
          <a:p>
            <a:pPr eaLnBrk="0" hangingPunct="0"/>
            <a:r>
              <a:rPr lang="en-US" dirty="0"/>
              <a:t>This is known as the mixed economy.</a:t>
            </a:r>
          </a:p>
          <a:p>
            <a:pPr eaLnBrk="0" hangingPunct="0"/>
            <a:r>
              <a:rPr lang="en-US" dirty="0"/>
              <a:t>Policy decisions affect the operations of private markets.</a:t>
            </a:r>
          </a:p>
          <a:p>
            <a:pPr lvl="1" eaLnBrk="0" hangingPunct="0"/>
            <a:r>
              <a:rPr lang="en-US" dirty="0"/>
              <a:t>Taxing &amp; spending decisions impact on consumer choice &amp; producer decisions.</a:t>
            </a:r>
          </a:p>
          <a:p>
            <a:pPr lvl="1"/>
            <a:r>
              <a:rPr lang="en-US" dirty="0"/>
              <a:t>Also regulations.</a:t>
            </a:r>
          </a:p>
          <a:p>
            <a:pPr lvl="1"/>
            <a:r>
              <a:rPr lang="en-US" dirty="0"/>
              <a:t>Monetary policy.</a:t>
            </a:r>
          </a:p>
        </p:txBody>
      </p:sp>
      <p:sp>
        <p:nvSpPr>
          <p:cNvPr id="5" name="Footer Placeholder 4"/>
          <p:cNvSpPr>
            <a:spLocks noGrp="1"/>
          </p:cNvSpPr>
          <p:nvPr>
            <p:ph type="ftr" sz="quarter" idx="11"/>
          </p:nvPr>
        </p:nvSpPr>
        <p:spPr/>
        <p:txBody>
          <a:bodyPr/>
          <a:lstStyle/>
          <a:p>
            <a:r>
              <a:rPr lang="nl-NL"/>
              <a:t>Intro to Public Finance Spring 2020</a:t>
            </a:r>
            <a:endParaRPr lang="en-US"/>
          </a:p>
        </p:txBody>
      </p:sp>
      <p:sp>
        <p:nvSpPr>
          <p:cNvPr id="6" name="Slide Number Placeholder 5"/>
          <p:cNvSpPr>
            <a:spLocks noGrp="1"/>
          </p:cNvSpPr>
          <p:nvPr>
            <p:ph type="sldNum" sz="quarter" idx="12"/>
          </p:nvPr>
        </p:nvSpPr>
        <p:spPr>
          <a:xfrm>
            <a:off x="8077200" y="6165850"/>
            <a:ext cx="1905000" cy="457200"/>
          </a:xfrm>
          <a:prstGeom prst="rect">
            <a:avLst/>
          </a:prstGeom>
        </p:spPr>
        <p:txBody>
          <a:bodyPr/>
          <a:lstStyle/>
          <a:p>
            <a:fld id="{1A421EB5-E5A6-5848-9C57-38C936C22A9F}" type="slidenum">
              <a:rPr lang="en-US"/>
              <a:pPr/>
              <a:t>13</a:t>
            </a:fld>
            <a:endParaRPr lang="en-US"/>
          </a:p>
        </p:txBody>
      </p:sp>
    </p:spTree>
    <p:extLst>
      <p:ext uri="{BB962C8B-B14F-4D97-AF65-F5344CB8AC3E}">
        <p14:creationId xmlns:p14="http://schemas.microsoft.com/office/powerpoint/2010/main" val="2903285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08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08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6083">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6083">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08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608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r>
              <a:rPr lang="en-US" dirty="0"/>
              <a:t>Government Failures</a:t>
            </a:r>
          </a:p>
        </p:txBody>
      </p:sp>
      <p:sp>
        <p:nvSpPr>
          <p:cNvPr id="65539" name="Rectangle 3"/>
          <p:cNvSpPr>
            <a:spLocks noGrp="1" noChangeArrowheads="1"/>
          </p:cNvSpPr>
          <p:nvPr>
            <p:ph idx="1"/>
          </p:nvPr>
        </p:nvSpPr>
        <p:spPr/>
        <p:txBody>
          <a:bodyPr/>
          <a:lstStyle/>
          <a:p>
            <a:r>
              <a:rPr lang="en-US" dirty="0"/>
              <a:t>Government failures arise from:</a:t>
            </a:r>
          </a:p>
          <a:p>
            <a:pPr lvl="1"/>
            <a:r>
              <a:rPr lang="en-US" dirty="0"/>
              <a:t>Limited information. Cannot know everything.</a:t>
            </a:r>
          </a:p>
          <a:p>
            <a:pPr lvl="1"/>
            <a:r>
              <a:rPr lang="en-US" dirty="0"/>
              <a:t>Limited control over private market responses. </a:t>
            </a:r>
          </a:p>
          <a:p>
            <a:pPr lvl="1"/>
            <a:r>
              <a:rPr lang="en-US" dirty="0"/>
              <a:t>Limited control over the bureaucracy.</a:t>
            </a:r>
          </a:p>
          <a:p>
            <a:pPr lvl="1"/>
            <a:r>
              <a:rPr lang="en-US" dirty="0"/>
              <a:t>Limitations imposed by the political process.</a:t>
            </a:r>
          </a:p>
        </p:txBody>
      </p:sp>
      <p:sp>
        <p:nvSpPr>
          <p:cNvPr id="5" name="Footer Placeholder 4"/>
          <p:cNvSpPr>
            <a:spLocks noGrp="1"/>
          </p:cNvSpPr>
          <p:nvPr>
            <p:ph type="ftr" sz="quarter" idx="11"/>
          </p:nvPr>
        </p:nvSpPr>
        <p:spPr/>
        <p:txBody>
          <a:bodyPr/>
          <a:lstStyle/>
          <a:p>
            <a:r>
              <a:rPr lang="nl-NL"/>
              <a:t>Intro to Public Finance Spring 2020</a:t>
            </a:r>
            <a:endParaRPr lang="en-US"/>
          </a:p>
        </p:txBody>
      </p:sp>
      <p:sp>
        <p:nvSpPr>
          <p:cNvPr id="6" name="Slide Number Placeholder 5"/>
          <p:cNvSpPr>
            <a:spLocks noGrp="1"/>
          </p:cNvSpPr>
          <p:nvPr>
            <p:ph type="sldNum" sz="quarter" idx="12"/>
          </p:nvPr>
        </p:nvSpPr>
        <p:spPr>
          <a:xfrm>
            <a:off x="8077200" y="6165850"/>
            <a:ext cx="1905000" cy="457200"/>
          </a:xfrm>
          <a:prstGeom prst="rect">
            <a:avLst/>
          </a:prstGeom>
        </p:spPr>
        <p:txBody>
          <a:bodyPr/>
          <a:lstStyle/>
          <a:p>
            <a:fld id="{0706ED95-41A8-EA47-97D7-CCF7BE0FE5FA}" type="slidenum">
              <a:rPr lang="en-US"/>
              <a:pPr/>
              <a:t>14</a:t>
            </a:fld>
            <a:endParaRPr lang="en-US"/>
          </a:p>
        </p:txBody>
      </p:sp>
    </p:spTree>
    <p:extLst>
      <p:ext uri="{BB962C8B-B14F-4D97-AF65-F5344CB8AC3E}">
        <p14:creationId xmlns:p14="http://schemas.microsoft.com/office/powerpoint/2010/main" val="3338839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553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553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5539">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553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uild="p"/>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noFill/>
          <a:ln/>
        </p:spPr>
        <p:txBody>
          <a:bodyPr vert="horz" lIns="92075" tIns="46038" rIns="92075" bIns="46038" rtlCol="0" anchor="b">
            <a:normAutofit/>
          </a:bodyPr>
          <a:lstStyle/>
          <a:p>
            <a:pPr eaLnBrk="0" hangingPunct="0"/>
            <a:r>
              <a:rPr lang="en-US" dirty="0"/>
              <a:t>Private &amp; Public Sectors Intertwined</a:t>
            </a:r>
          </a:p>
        </p:txBody>
      </p:sp>
      <p:sp>
        <p:nvSpPr>
          <p:cNvPr id="50179" name="Rectangle 3"/>
          <p:cNvSpPr>
            <a:spLocks noGrp="1" noChangeArrowheads="1"/>
          </p:cNvSpPr>
          <p:nvPr>
            <p:ph idx="1"/>
          </p:nvPr>
        </p:nvSpPr>
        <p:spPr>
          <a:noFill/>
          <a:ln/>
        </p:spPr>
        <p:txBody>
          <a:bodyPr vert="horz" lIns="92075" tIns="46038" rIns="92075" bIns="46038" rtlCol="0" anchor="t">
            <a:normAutofit/>
          </a:bodyPr>
          <a:lstStyle/>
          <a:p>
            <a:pPr eaLnBrk="0" hangingPunct="0"/>
            <a:r>
              <a:rPr lang="en-US" dirty="0"/>
              <a:t>Public sector also buys factors of production &amp; makes transfer payments to individuals &amp; firms.</a:t>
            </a:r>
          </a:p>
          <a:p>
            <a:pPr lvl="1"/>
            <a:r>
              <a:rPr lang="en-US" dirty="0"/>
              <a:t>Defense (Boeing sells aircraft to government, Social Security, Medicare)</a:t>
            </a:r>
          </a:p>
          <a:p>
            <a:pPr eaLnBrk="0" hangingPunct="0"/>
            <a:r>
              <a:rPr lang="en-US" dirty="0"/>
              <a:t>Government is a monopoly consumer (monopsony) in some sectors including national defense and social services.</a:t>
            </a:r>
          </a:p>
          <a:p>
            <a:pPr lvl="1"/>
            <a:r>
              <a:rPr lang="en-US" dirty="0"/>
              <a:t>Most social services are provided by government or by non-profits funded by government.</a:t>
            </a:r>
          </a:p>
        </p:txBody>
      </p:sp>
      <p:sp>
        <p:nvSpPr>
          <p:cNvPr id="5" name="Footer Placeholder 4"/>
          <p:cNvSpPr>
            <a:spLocks noGrp="1"/>
          </p:cNvSpPr>
          <p:nvPr>
            <p:ph type="ftr" sz="quarter" idx="11"/>
          </p:nvPr>
        </p:nvSpPr>
        <p:spPr/>
        <p:txBody>
          <a:bodyPr/>
          <a:lstStyle/>
          <a:p>
            <a:r>
              <a:rPr lang="nl-NL"/>
              <a:t>Intro to Public Finance Spring 2020</a:t>
            </a:r>
            <a:endParaRPr lang="en-US"/>
          </a:p>
        </p:txBody>
      </p:sp>
      <p:sp>
        <p:nvSpPr>
          <p:cNvPr id="6" name="Slide Number Placeholder 5"/>
          <p:cNvSpPr>
            <a:spLocks noGrp="1"/>
          </p:cNvSpPr>
          <p:nvPr>
            <p:ph type="sldNum" sz="quarter" idx="12"/>
          </p:nvPr>
        </p:nvSpPr>
        <p:spPr>
          <a:xfrm>
            <a:off x="8077200" y="6165850"/>
            <a:ext cx="1905000" cy="457200"/>
          </a:xfrm>
          <a:prstGeom prst="rect">
            <a:avLst/>
          </a:prstGeom>
        </p:spPr>
        <p:txBody>
          <a:bodyPr/>
          <a:lstStyle/>
          <a:p>
            <a:fld id="{533BD208-5CD1-1B4D-AEA3-D1285909EBC8}" type="slidenum">
              <a:rPr lang="en-US"/>
              <a:pPr/>
              <a:t>15</a:t>
            </a:fld>
            <a:endParaRPr lang="en-US"/>
          </a:p>
        </p:txBody>
      </p:sp>
    </p:spTree>
    <p:extLst>
      <p:ext uri="{BB962C8B-B14F-4D97-AF65-F5344CB8AC3E}">
        <p14:creationId xmlns:p14="http://schemas.microsoft.com/office/powerpoint/2010/main" val="1663659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179">
                                            <p:bg/>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uiExpand="1" build="p"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7"/>
          <p:cNvSpPr>
            <a:spLocks noGrp="1"/>
          </p:cNvSpPr>
          <p:nvPr>
            <p:ph type="title"/>
          </p:nvPr>
        </p:nvSpPr>
        <p:spPr>
          <a:xfrm>
            <a:off x="929140" y="972766"/>
            <a:ext cx="2835464" cy="1254868"/>
          </a:xfrm>
        </p:spPr>
        <p:txBody>
          <a:bodyPr vert="horz" lIns="91440" tIns="45720" rIns="91440" bIns="45720" rtlCol="0" anchor="b">
            <a:normAutofit/>
          </a:bodyPr>
          <a:lstStyle/>
          <a:p>
            <a:r>
              <a:rPr lang="en-US" sz="2800" dirty="0">
                <a:solidFill>
                  <a:srgbClr val="262626"/>
                </a:solidFill>
              </a:rPr>
              <a:t>Competition is Good!</a:t>
            </a:r>
          </a:p>
        </p:txBody>
      </p:sp>
      <p:sp>
        <p:nvSpPr>
          <p:cNvPr id="9" name="Content Placeholder 8"/>
          <p:cNvSpPr>
            <a:spLocks noGrp="1"/>
          </p:cNvSpPr>
          <p:nvPr>
            <p:ph sz="half" idx="1"/>
          </p:nvPr>
        </p:nvSpPr>
        <p:spPr>
          <a:xfrm>
            <a:off x="929141" y="2430471"/>
            <a:ext cx="2835464" cy="3552039"/>
          </a:xfrm>
        </p:spPr>
        <p:txBody>
          <a:bodyPr vert="horz" lIns="91440" tIns="45720" rIns="91440" bIns="45720" rtlCol="0" anchor="t">
            <a:normAutofit/>
          </a:bodyPr>
          <a:lstStyle/>
          <a:p>
            <a:r>
              <a:rPr lang="en-US" sz="1800" dirty="0">
                <a:solidFill>
                  <a:srgbClr val="262626"/>
                </a:solidFill>
              </a:rPr>
              <a:t>According to economists, that is.</a:t>
            </a:r>
          </a:p>
          <a:p>
            <a:r>
              <a:rPr lang="en-US" sz="1800" dirty="0">
                <a:solidFill>
                  <a:srgbClr val="262626"/>
                </a:solidFill>
              </a:rPr>
              <a:t>Invisible hand results in everyone pursuing the public interest.</a:t>
            </a:r>
          </a:p>
          <a:p>
            <a:r>
              <a:rPr lang="en-US" sz="1800" dirty="0">
                <a:solidFill>
                  <a:srgbClr val="262626"/>
                </a:solidFill>
              </a:rPr>
              <a:t>Adam Smith: Theory of Moral Sentiments (1759)</a:t>
            </a:r>
          </a:p>
        </p:txBody>
      </p:sp>
      <p:pic>
        <p:nvPicPr>
          <p:cNvPr id="11" name="Content Placeholder 10" descr="Invisible-Hand.jpg"/>
          <p:cNvPicPr>
            <a:picLocks noGrp="1" noChangeAspect="1"/>
          </p:cNvPicPr>
          <p:nvPr>
            <p:ph sz="half" idx="2"/>
          </p:nvPr>
        </p:nvPicPr>
        <p:blipFill>
          <a:blip r:embed="rId3">
            <a:extLst>
              <a:ext uri="{28A0092B-C50C-407E-A947-70E740481C1C}">
                <a14:useLocalDpi xmlns:a14="http://schemas.microsoft.com/office/drawing/2010/main" val="0"/>
              </a:ext>
            </a:extLst>
          </a:blip>
          <a:srcRect t="-53514" b="-53514"/>
          <a:stretch>
            <a:fillRect/>
          </a:stretch>
        </p:blipFill>
        <p:spPr>
          <a:xfrm>
            <a:off x="5898000" y="609602"/>
            <a:ext cx="5173860" cy="5587749"/>
          </a:xfrm>
          <a:prstGeom prst="rect">
            <a:avLst/>
          </a:prstGeom>
        </p:spPr>
      </p:pic>
      <p:sp>
        <p:nvSpPr>
          <p:cNvPr id="2" name="Slide Number Placeholder 1"/>
          <p:cNvSpPr>
            <a:spLocks noGrp="1"/>
          </p:cNvSpPr>
          <p:nvPr>
            <p:ph type="sldNum" sz="quarter" idx="12"/>
          </p:nvPr>
        </p:nvSpPr>
        <p:spPr>
          <a:xfrm>
            <a:off x="11049630" y="6379383"/>
            <a:ext cx="542697" cy="279400"/>
          </a:xfrm>
        </p:spPr>
        <p:txBody>
          <a:bodyPr vert="horz" lIns="91440" tIns="45720" rIns="91440" bIns="45720" rtlCol="0" anchor="ctr">
            <a:normAutofit/>
          </a:bodyPr>
          <a:lstStyle/>
          <a:p>
            <a:pPr>
              <a:spcAft>
                <a:spcPts val="600"/>
              </a:spcAft>
            </a:pPr>
            <a:fld id="{C0D706F6-AB59-BF4B-8C73-057DCCE535BB}" type="slidenum">
              <a:rPr lang="en-US"/>
              <a:pPr>
                <a:spcAft>
                  <a:spcPts val="600"/>
                </a:spcAft>
              </a:pPr>
              <a:t>16</a:t>
            </a:fld>
            <a:endParaRPr lang="en-US"/>
          </a:p>
        </p:txBody>
      </p:sp>
      <p:sp>
        <p:nvSpPr>
          <p:cNvPr id="3" name="Footer Placeholder 2">
            <a:extLst>
              <a:ext uri="{FF2B5EF4-FFF2-40B4-BE49-F238E27FC236}">
                <a16:creationId xmlns:a16="http://schemas.microsoft.com/office/drawing/2014/main" id="{BC2E7297-5FE5-AF4B-A76E-4BC13BDC69BE}"/>
              </a:ext>
            </a:extLst>
          </p:cNvPr>
          <p:cNvSpPr>
            <a:spLocks noGrp="1"/>
          </p:cNvSpPr>
          <p:nvPr>
            <p:ph type="ftr" sz="quarter" idx="11"/>
          </p:nvPr>
        </p:nvSpPr>
        <p:spPr/>
        <p:txBody>
          <a:bodyPr/>
          <a:lstStyle/>
          <a:p>
            <a:r>
              <a:rPr lang="en-US"/>
              <a:t>Intro to Public Finance Spring 2020</a:t>
            </a:r>
            <a:endParaRPr lang="en-US" dirty="0"/>
          </a:p>
        </p:txBody>
      </p:sp>
    </p:spTree>
    <p:extLst>
      <p:ext uri="{BB962C8B-B14F-4D97-AF65-F5344CB8AC3E}">
        <p14:creationId xmlns:p14="http://schemas.microsoft.com/office/powerpoint/2010/main" val="1495361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3F6D81C7-B083-478E-82FE-089A8CB72E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15" name="Picture 14">
              <a:extLst>
                <a:ext uri="{FF2B5EF4-FFF2-40B4-BE49-F238E27FC236}">
                  <a16:creationId xmlns:a16="http://schemas.microsoft.com/office/drawing/2014/main" id="{8398EDA2-4889-433D-AC01-5214D79764ED}"/>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6" name="Rectangle 15">
              <a:extLst>
                <a:ext uri="{FF2B5EF4-FFF2-40B4-BE49-F238E27FC236}">
                  <a16:creationId xmlns:a16="http://schemas.microsoft.com/office/drawing/2014/main" id="{0099D46A-AF52-46FD-938B-D31189460A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7" name="Picture 16">
              <a:extLst>
                <a:ext uri="{FF2B5EF4-FFF2-40B4-BE49-F238E27FC236}">
                  <a16:creationId xmlns:a16="http://schemas.microsoft.com/office/drawing/2014/main" id="{C933E919-C473-4F0E-9DBC-CC65FC9E926E}"/>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8" name="Picture 17">
              <a:extLst>
                <a:ext uri="{FF2B5EF4-FFF2-40B4-BE49-F238E27FC236}">
                  <a16:creationId xmlns:a16="http://schemas.microsoft.com/office/drawing/2014/main" id="{FBBF3BDD-5C99-4FDC-BBCB-E711359D93F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cxnSp>
        <p:nvCxnSpPr>
          <p:cNvPr id="20" name="Straight Connector 19">
            <a:extLst>
              <a:ext uri="{FF2B5EF4-FFF2-40B4-BE49-F238E27FC236}">
                <a16:creationId xmlns:a16="http://schemas.microsoft.com/office/drawing/2014/main" id="{F06B54F2-CD11-4359-A7D6-DA7C76C091A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333F0879-3DA0-4CB8-B35E-A0AD425581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88952" cy="6858000"/>
          </a:xfrm>
          <a:prstGeom prst="rect">
            <a:avLst/>
          </a:prstGeom>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24D2183-F388-476E-92A9-D6639D69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6138" y="496090"/>
            <a:ext cx="3823215" cy="5883295"/>
          </a:xfrm>
          <a:prstGeom prst="rect">
            <a:avLst/>
          </a:prstGeom>
          <a:blipFill dpi="0" rotWithShape="1">
            <a:blip r:embed="rId5"/>
            <a:srcRect/>
            <a:tile tx="0" ty="0" sx="100000" sy="100000" flip="none" algn="tl"/>
          </a:blip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43462E7-1698-4B21-BE89-AEFAC7C2F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012" y="609602"/>
            <a:ext cx="3552006"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sp>
        <p:nvSpPr>
          <p:cNvPr id="6" name="Title 5">
            <a:extLst>
              <a:ext uri="{FF2B5EF4-FFF2-40B4-BE49-F238E27FC236}">
                <a16:creationId xmlns:a16="http://schemas.microsoft.com/office/drawing/2014/main" id="{AA09CF06-2279-4228-8976-0C94EEC7A0B4}"/>
              </a:ext>
            </a:extLst>
          </p:cNvPr>
          <p:cNvSpPr>
            <a:spLocks noGrp="1"/>
          </p:cNvSpPr>
          <p:nvPr>
            <p:ph type="title"/>
          </p:nvPr>
        </p:nvSpPr>
        <p:spPr>
          <a:xfrm>
            <a:off x="929140" y="972766"/>
            <a:ext cx="2835464" cy="1254868"/>
          </a:xfrm>
        </p:spPr>
        <p:txBody>
          <a:bodyPr vert="horz" lIns="91440" tIns="45720" rIns="91440" bIns="45720" rtlCol="0" anchor="b">
            <a:normAutofit/>
          </a:bodyPr>
          <a:lstStyle/>
          <a:p>
            <a:r>
              <a:rPr lang="en-US" sz="2800">
                <a:solidFill>
                  <a:srgbClr val="262626"/>
                </a:solidFill>
              </a:rPr>
              <a:t>The Invisible Hand</a:t>
            </a:r>
          </a:p>
        </p:txBody>
      </p:sp>
      <p:sp>
        <p:nvSpPr>
          <p:cNvPr id="7" name="Content Placeholder 6">
            <a:extLst>
              <a:ext uri="{FF2B5EF4-FFF2-40B4-BE49-F238E27FC236}">
                <a16:creationId xmlns:a16="http://schemas.microsoft.com/office/drawing/2014/main" id="{07C3B557-F2CE-41C5-82D5-83CA1A55F2CE}"/>
              </a:ext>
            </a:extLst>
          </p:cNvPr>
          <p:cNvSpPr>
            <a:spLocks noGrp="1"/>
          </p:cNvSpPr>
          <p:nvPr>
            <p:ph sz="half" idx="1"/>
          </p:nvPr>
        </p:nvSpPr>
        <p:spPr>
          <a:xfrm>
            <a:off x="929141" y="2430471"/>
            <a:ext cx="2835464" cy="3552039"/>
          </a:xfrm>
        </p:spPr>
        <p:txBody>
          <a:bodyPr vert="horz" lIns="91440" tIns="45720" rIns="91440" bIns="45720" rtlCol="0" anchor="t">
            <a:normAutofit/>
          </a:bodyPr>
          <a:lstStyle/>
          <a:p>
            <a:r>
              <a:rPr lang="en-US" sz="1800">
                <a:solidFill>
                  <a:srgbClr val="262626"/>
                </a:solidFill>
              </a:rPr>
              <a:t>Left to its own devices, the market will find its way to equilibrium.</a:t>
            </a:r>
          </a:p>
          <a:p>
            <a:r>
              <a:rPr lang="en-US" sz="1800">
                <a:solidFill>
                  <a:srgbClr val="262626"/>
                </a:solidFill>
              </a:rPr>
              <a:t>This is the most efficient solution (Pareto optimality).</a:t>
            </a:r>
          </a:p>
          <a:p>
            <a:endParaRPr lang="en-US" sz="1800">
              <a:solidFill>
                <a:srgbClr val="262626"/>
              </a:solidFill>
            </a:endParaRPr>
          </a:p>
          <a:p>
            <a:endParaRPr lang="en-US" sz="1800">
              <a:solidFill>
                <a:srgbClr val="262626"/>
              </a:solidFill>
            </a:endParaRPr>
          </a:p>
        </p:txBody>
      </p:sp>
      <p:sp useBgFill="1">
        <p:nvSpPr>
          <p:cNvPr id="28" name="Rectangle 27">
            <a:extLst>
              <a:ext uri="{FF2B5EF4-FFF2-40B4-BE49-F238E27FC236}">
                <a16:creationId xmlns:a16="http://schemas.microsoft.com/office/drawing/2014/main" id="{6C22FCAC-D7EC-4A52-B153-FF761E223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5491" y="0"/>
            <a:ext cx="7396509"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9" descr="A close up of text on a white background&#10;&#10;Description generated with high confidence">
            <a:extLst>
              <a:ext uri="{FF2B5EF4-FFF2-40B4-BE49-F238E27FC236}">
                <a16:creationId xmlns:a16="http://schemas.microsoft.com/office/drawing/2014/main" id="{FA740CFB-30F1-4427-B4F6-C9ACEF257CA9}"/>
              </a:ext>
            </a:extLst>
          </p:cNvPr>
          <p:cNvPicPr>
            <a:picLocks noGrp="1" noChangeAspect="1"/>
          </p:cNvPicPr>
          <p:nvPr>
            <p:ph sz="half" idx="2"/>
          </p:nvPr>
        </p:nvPicPr>
        <p:blipFill>
          <a:blip r:embed="rId6"/>
          <a:stretch>
            <a:fillRect/>
          </a:stretch>
        </p:blipFill>
        <p:spPr>
          <a:xfrm>
            <a:off x="6131091" y="609602"/>
            <a:ext cx="4707678" cy="5587749"/>
          </a:xfrm>
          <a:prstGeom prst="rect">
            <a:avLst/>
          </a:prstGeom>
        </p:spPr>
      </p:pic>
      <p:sp>
        <p:nvSpPr>
          <p:cNvPr id="2" name="Footer Placeholder 1">
            <a:extLst>
              <a:ext uri="{FF2B5EF4-FFF2-40B4-BE49-F238E27FC236}">
                <a16:creationId xmlns:a16="http://schemas.microsoft.com/office/drawing/2014/main" id="{ACD58C5D-4E8A-4D45-BF99-83DAD37822E6}"/>
              </a:ext>
            </a:extLst>
          </p:cNvPr>
          <p:cNvSpPr>
            <a:spLocks noGrp="1"/>
          </p:cNvSpPr>
          <p:nvPr>
            <p:ph type="ftr" sz="quarter" idx="11"/>
          </p:nvPr>
        </p:nvSpPr>
        <p:spPr>
          <a:xfrm>
            <a:off x="5088466" y="6379383"/>
            <a:ext cx="3649133" cy="279400"/>
          </a:xfrm>
        </p:spPr>
        <p:txBody>
          <a:bodyPr vert="horz" lIns="91440" tIns="45720" rIns="91440" bIns="45720" rtlCol="0" anchor="ctr">
            <a:normAutofit/>
          </a:bodyPr>
          <a:lstStyle/>
          <a:p>
            <a:pPr>
              <a:spcAft>
                <a:spcPts val="600"/>
              </a:spcAft>
            </a:pPr>
            <a:r>
              <a:rPr lang="en-US" b="0" i="0" kern="1200" dirty="0">
                <a:solidFill>
                  <a:schemeClr val="tx1"/>
                </a:solidFill>
                <a:effectLst/>
                <a:latin typeface="+mn-lt"/>
                <a:ea typeface="+mn-ea"/>
                <a:cs typeface="+mn-cs"/>
              </a:rPr>
              <a:t>Intro to Public Finance Spring 2020</a:t>
            </a:r>
          </a:p>
        </p:txBody>
      </p:sp>
      <p:sp>
        <p:nvSpPr>
          <p:cNvPr id="3" name="Slide Number Placeholder 2">
            <a:extLst>
              <a:ext uri="{FF2B5EF4-FFF2-40B4-BE49-F238E27FC236}">
                <a16:creationId xmlns:a16="http://schemas.microsoft.com/office/drawing/2014/main" id="{EBC8F30A-346B-46C3-9D45-04955D92725E}"/>
              </a:ext>
            </a:extLst>
          </p:cNvPr>
          <p:cNvSpPr>
            <a:spLocks noGrp="1"/>
          </p:cNvSpPr>
          <p:nvPr>
            <p:ph type="sldNum" sz="quarter" idx="12"/>
          </p:nvPr>
        </p:nvSpPr>
        <p:spPr>
          <a:xfrm>
            <a:off x="11049630" y="6379383"/>
            <a:ext cx="542697" cy="279400"/>
          </a:xfrm>
        </p:spPr>
        <p:txBody>
          <a:bodyPr vert="horz" lIns="91440" tIns="45720" rIns="91440" bIns="45720" rtlCol="0" anchor="ctr">
            <a:normAutofit/>
          </a:bodyPr>
          <a:lstStyle/>
          <a:p>
            <a:pPr>
              <a:spcAft>
                <a:spcPts val="600"/>
              </a:spcAft>
            </a:pPr>
            <a:fld id="{D57F1E4F-1CFF-5643-939E-217C01CDF565}" type="slidenum">
              <a:rPr lang="en-US" dirty="0"/>
              <a:pPr>
                <a:spcAft>
                  <a:spcPts val="600"/>
                </a:spcAft>
              </a:pPr>
              <a:t>17</a:t>
            </a:fld>
            <a:endParaRPr lang="en-US"/>
          </a:p>
        </p:txBody>
      </p:sp>
    </p:spTree>
    <p:extLst>
      <p:ext uri="{BB962C8B-B14F-4D97-AF65-F5344CB8AC3E}">
        <p14:creationId xmlns:p14="http://schemas.microsoft.com/office/powerpoint/2010/main" val="42077295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1055599" y="1055077"/>
            <a:ext cx="2532909" cy="4794578"/>
          </a:xfrm>
        </p:spPr>
        <p:txBody>
          <a:bodyPr>
            <a:normAutofit/>
          </a:bodyPr>
          <a:lstStyle/>
          <a:p>
            <a:r>
              <a:rPr lang="en-US" sz="4100">
                <a:solidFill>
                  <a:srgbClr val="262626"/>
                </a:solidFill>
              </a:rPr>
              <a:t>Welfare Economics</a:t>
            </a:r>
          </a:p>
        </p:txBody>
      </p:sp>
      <p:graphicFrame>
        <p:nvGraphicFramePr>
          <p:cNvPr id="9" name="Content Placeholder 5">
            <a:extLst>
              <a:ext uri="{FF2B5EF4-FFF2-40B4-BE49-F238E27FC236}">
                <a16:creationId xmlns:a16="http://schemas.microsoft.com/office/drawing/2014/main" id="{B7DE643E-E09C-4B02-B406-566F57467847}"/>
              </a:ext>
            </a:extLst>
          </p:cNvPr>
          <p:cNvGraphicFramePr>
            <a:graphicFrameLocks noGrp="1"/>
          </p:cNvGraphicFramePr>
          <p:nvPr>
            <p:ph idx="1"/>
            <p:extLst>
              <p:ext uri="{D42A27DB-BD31-4B8C-83A1-F6EECF244321}">
                <p14:modId xmlns:p14="http://schemas.microsoft.com/office/powerpoint/2010/main" val="1421589083"/>
              </p:ext>
            </p:extLst>
          </p:nvPr>
        </p:nvGraphicFramePr>
        <p:xfrm>
          <a:off x="5470072" y="804670"/>
          <a:ext cx="5914209" cy="52486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lide Number Placeholder 6"/>
          <p:cNvSpPr>
            <a:spLocks noGrp="1"/>
          </p:cNvSpPr>
          <p:nvPr>
            <p:ph type="sldNum" sz="quarter" idx="12"/>
          </p:nvPr>
        </p:nvSpPr>
        <p:spPr>
          <a:xfrm>
            <a:off x="11049630" y="6379383"/>
            <a:ext cx="542697" cy="279400"/>
          </a:xfrm>
        </p:spPr>
        <p:txBody>
          <a:bodyPr>
            <a:normAutofit/>
          </a:bodyPr>
          <a:lstStyle/>
          <a:p>
            <a:pPr>
              <a:spcAft>
                <a:spcPts val="600"/>
              </a:spcAft>
            </a:pPr>
            <a:fld id="{98BA2A1B-C4DB-4748-B560-E3B8550C6AD3}" type="slidenum">
              <a:rPr lang="en-US"/>
              <a:pPr>
                <a:spcAft>
                  <a:spcPts val="600"/>
                </a:spcAft>
              </a:pPr>
              <a:t>18</a:t>
            </a:fld>
            <a:endParaRPr lang="en-US"/>
          </a:p>
        </p:txBody>
      </p:sp>
      <p:sp>
        <p:nvSpPr>
          <p:cNvPr id="2" name="Footer Placeholder 1">
            <a:extLst>
              <a:ext uri="{FF2B5EF4-FFF2-40B4-BE49-F238E27FC236}">
                <a16:creationId xmlns:a16="http://schemas.microsoft.com/office/drawing/2014/main" id="{5312C8C2-A7BE-B542-A672-DDDA0A6E704C}"/>
              </a:ext>
            </a:extLst>
          </p:cNvPr>
          <p:cNvSpPr>
            <a:spLocks noGrp="1"/>
          </p:cNvSpPr>
          <p:nvPr>
            <p:ph type="ftr" sz="quarter" idx="11"/>
          </p:nvPr>
        </p:nvSpPr>
        <p:spPr/>
        <p:txBody>
          <a:bodyPr/>
          <a:lstStyle/>
          <a:p>
            <a:r>
              <a:rPr lang="en-US"/>
              <a:t>Intro to Public Finance Spring 2020</a:t>
            </a:r>
            <a:endParaRPr lang="en-US" dirty="0"/>
          </a:p>
        </p:txBody>
      </p:sp>
    </p:spTree>
    <p:extLst>
      <p:ext uri="{BB962C8B-B14F-4D97-AF65-F5344CB8AC3E}">
        <p14:creationId xmlns:p14="http://schemas.microsoft.com/office/powerpoint/2010/main" val="26271414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a:t>Welfare Economics</a:t>
            </a:r>
          </a:p>
        </p:txBody>
      </p:sp>
      <p:sp>
        <p:nvSpPr>
          <p:cNvPr id="6" name="Content Placeholder 5"/>
          <p:cNvSpPr>
            <a:spLocks noGrp="1"/>
          </p:cNvSpPr>
          <p:nvPr>
            <p:ph idx="1"/>
          </p:nvPr>
        </p:nvSpPr>
        <p:spPr>
          <a:xfrm>
            <a:off x="1295402" y="2556932"/>
            <a:ext cx="6256866" cy="3318936"/>
          </a:xfrm>
        </p:spPr>
        <p:txBody>
          <a:bodyPr>
            <a:normAutofit/>
          </a:bodyPr>
          <a:lstStyle/>
          <a:p>
            <a:r>
              <a:rPr lang="en-US" dirty="0"/>
              <a:t>If economy is competitive, it is Pareto efficient.</a:t>
            </a:r>
          </a:p>
          <a:p>
            <a:r>
              <a:rPr lang="en-US" dirty="0"/>
              <a:t>Pareto efficiency is concerned with individual’s welfare and what counts is  his/her welfare.</a:t>
            </a:r>
          </a:p>
          <a:p>
            <a:r>
              <a:rPr lang="en-US" dirty="0"/>
              <a:t>After redistribution, if we allow market forces to play themselves out, we will have a Pareto efficient allocation of resources.</a:t>
            </a:r>
          </a:p>
        </p:txBody>
      </p:sp>
      <p:sp>
        <p:nvSpPr>
          <p:cNvPr id="7" name="Slide Number Placeholder 6"/>
          <p:cNvSpPr>
            <a:spLocks noGrp="1"/>
          </p:cNvSpPr>
          <p:nvPr>
            <p:ph type="sldNum" sz="quarter" idx="12"/>
          </p:nvPr>
        </p:nvSpPr>
        <p:spPr/>
        <p:txBody>
          <a:bodyPr>
            <a:normAutofit/>
          </a:bodyPr>
          <a:lstStyle/>
          <a:p>
            <a:pPr>
              <a:spcAft>
                <a:spcPts val="600"/>
              </a:spcAft>
            </a:pPr>
            <a:fld id="{98BA2A1B-C4DB-4748-B560-E3B8550C6AD3}" type="slidenum">
              <a:rPr lang="en-US"/>
              <a:pPr>
                <a:spcAft>
                  <a:spcPts val="600"/>
                </a:spcAft>
              </a:pPr>
              <a:t>19</a:t>
            </a:fld>
            <a:endParaRPr lang="en-US"/>
          </a:p>
        </p:txBody>
      </p:sp>
      <p:pic>
        <p:nvPicPr>
          <p:cNvPr id="2" name="Picture 2">
            <a:extLst>
              <a:ext uri="{FF2B5EF4-FFF2-40B4-BE49-F238E27FC236}">
                <a16:creationId xmlns:a16="http://schemas.microsoft.com/office/drawing/2014/main" id="{8834D26E-7BC3-4541-B8BD-9F2F89B37924}"/>
              </a:ext>
            </a:extLst>
          </p:cNvPr>
          <p:cNvPicPr>
            <a:picLocks noChangeAspect="1"/>
          </p:cNvPicPr>
          <p:nvPr/>
        </p:nvPicPr>
        <p:blipFill rotWithShape="1">
          <a:blip r:embed="rId4"/>
          <a:srcRect l="25170" r="44232"/>
          <a:stretch/>
        </p:blipFill>
        <p:spPr>
          <a:xfrm>
            <a:off x="8085026" y="2701180"/>
            <a:ext cx="2739728" cy="2852640"/>
          </a:xfrm>
          <a:prstGeom prst="rect">
            <a:avLst/>
          </a:prstGeom>
          <a:ln w="57150" cmpd="thickThin">
            <a:solidFill>
              <a:schemeClr val="tx1">
                <a:lumMod val="50000"/>
                <a:lumOff val="50000"/>
              </a:schemeClr>
            </a:solidFill>
            <a:miter lim="800000"/>
          </a:ln>
        </p:spPr>
      </p:pic>
      <p:sp>
        <p:nvSpPr>
          <p:cNvPr id="3" name="Footer Placeholder 2">
            <a:extLst>
              <a:ext uri="{FF2B5EF4-FFF2-40B4-BE49-F238E27FC236}">
                <a16:creationId xmlns:a16="http://schemas.microsoft.com/office/drawing/2014/main" id="{B4F8988F-DE22-9F47-9AAD-2BA666E55AA2}"/>
              </a:ext>
            </a:extLst>
          </p:cNvPr>
          <p:cNvSpPr>
            <a:spLocks noGrp="1"/>
          </p:cNvSpPr>
          <p:nvPr>
            <p:ph type="ftr" sz="quarter" idx="11"/>
          </p:nvPr>
        </p:nvSpPr>
        <p:spPr/>
        <p:txBody>
          <a:bodyPr/>
          <a:lstStyle/>
          <a:p>
            <a:r>
              <a:rPr lang="en-US"/>
              <a:t>Intro to Public Finance Spring 2020</a:t>
            </a:r>
            <a:endParaRPr lang="en-US" dirty="0"/>
          </a:p>
        </p:txBody>
      </p:sp>
    </p:spTree>
    <p:extLst>
      <p:ext uri="{BB962C8B-B14F-4D97-AF65-F5344CB8AC3E}">
        <p14:creationId xmlns:p14="http://schemas.microsoft.com/office/powerpoint/2010/main" val="906715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a:t>Why Competition Results in Efficiency</a:t>
            </a:r>
          </a:p>
        </p:txBody>
      </p:sp>
      <p:sp>
        <p:nvSpPr>
          <p:cNvPr id="6" name="Content Placeholder 5"/>
          <p:cNvSpPr>
            <a:spLocks noGrp="1"/>
          </p:cNvSpPr>
          <p:nvPr>
            <p:ph idx="1"/>
          </p:nvPr>
        </p:nvSpPr>
        <p:spPr/>
        <p:txBody>
          <a:bodyPr/>
          <a:lstStyle/>
          <a:p>
            <a:r>
              <a:rPr lang="en-US"/>
              <a:t>Demand curve = amount individual willing to buy at each price.</a:t>
            </a:r>
          </a:p>
          <a:p>
            <a:r>
              <a:rPr lang="en-US"/>
              <a:t>Supply curve = amount firm is willing to supply at each price.</a:t>
            </a:r>
          </a:p>
          <a:p>
            <a:r>
              <a:rPr lang="en-US"/>
              <a:t>Efficiency requires that marginal cost = marginal benefit (point e).</a:t>
            </a:r>
          </a:p>
        </p:txBody>
      </p:sp>
      <p:sp>
        <p:nvSpPr>
          <p:cNvPr id="7" name="Slide Number Placeholder 6"/>
          <p:cNvSpPr>
            <a:spLocks noGrp="1"/>
          </p:cNvSpPr>
          <p:nvPr>
            <p:ph type="sldNum" sz="quarter" idx="12"/>
          </p:nvPr>
        </p:nvSpPr>
        <p:spPr/>
        <p:txBody>
          <a:bodyPr/>
          <a:lstStyle/>
          <a:p>
            <a:fld id="{98BA2A1B-C4DB-4748-B560-E3B8550C6AD3}" type="slidenum">
              <a:rPr lang="en-US"/>
              <a:pPr/>
              <a:t>20</a:t>
            </a:fld>
            <a:endParaRPr lang="en-US"/>
          </a:p>
        </p:txBody>
      </p:sp>
      <p:sp>
        <p:nvSpPr>
          <p:cNvPr id="2" name="Footer Placeholder 1">
            <a:extLst>
              <a:ext uri="{FF2B5EF4-FFF2-40B4-BE49-F238E27FC236}">
                <a16:creationId xmlns:a16="http://schemas.microsoft.com/office/drawing/2014/main" id="{156C036F-D468-E546-8C04-E8349D1A6706}"/>
              </a:ext>
            </a:extLst>
          </p:cNvPr>
          <p:cNvSpPr>
            <a:spLocks noGrp="1"/>
          </p:cNvSpPr>
          <p:nvPr>
            <p:ph type="ftr" sz="quarter" idx="11"/>
          </p:nvPr>
        </p:nvSpPr>
        <p:spPr/>
        <p:txBody>
          <a:bodyPr/>
          <a:lstStyle/>
          <a:p>
            <a:r>
              <a:rPr lang="en-US"/>
              <a:t>Intro to Public Finance Spring 2020</a:t>
            </a:r>
            <a:endParaRPr lang="en-US" dirty="0"/>
          </a:p>
        </p:txBody>
      </p:sp>
    </p:spTree>
    <p:extLst>
      <p:ext uri="{BB962C8B-B14F-4D97-AF65-F5344CB8AC3E}">
        <p14:creationId xmlns:p14="http://schemas.microsoft.com/office/powerpoint/2010/main" val="2855054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pic>
        <p:nvPicPr>
          <p:cNvPr id="7170" name="Picture 1" descr="Figure 3.1 is entitled &quot;Efficiency from the Perspective of a Single Market,&quot; and shows a typical supply and demand curve. The demand curve is normally downward sloping, and as prices increase, individuals demand less of the good. The supply curve is normally upward sloping, and as prices increase, firms are willing to supply more of the good.  The equilibrium point, E, is where supply and demand curves meet. In deciding how much to demand, individuals equate the marginal benefit they receive from consuming an extra unit with the marginal cost, the price they have to pay. In deciding how much to supply, firms equate the marginal benefit they receive, which is just the price, with the marginal cost. At the market equilibrium, where supply equals demand, the marginal benefit (to consumers) is equal to the marginal cost (to firms)-and each equals the price."/>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auto">
          <a:xfrm>
            <a:off x="1604609" y="666795"/>
            <a:ext cx="8982782" cy="5524411"/>
          </a:xfrm>
          <a:prstGeom prst="rect">
            <a:avLst/>
          </a:prstGeo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 name="Slide Number Placeholder 4"/>
          <p:cNvSpPr>
            <a:spLocks noGrp="1"/>
          </p:cNvSpPr>
          <p:nvPr>
            <p:ph type="sldNum" sz="quarter" idx="12"/>
          </p:nvPr>
        </p:nvSpPr>
        <p:spPr>
          <a:xfrm>
            <a:off x="10353901" y="6198410"/>
            <a:ext cx="542697" cy="279400"/>
          </a:xfrm>
        </p:spPr>
        <p:txBody>
          <a:bodyPr>
            <a:normAutofit/>
          </a:bodyPr>
          <a:lstStyle/>
          <a:p>
            <a:pPr>
              <a:spcAft>
                <a:spcPts val="600"/>
              </a:spcAft>
            </a:pPr>
            <a:fld id="{F8D2704F-F2C4-C149-9542-53BC6BDE312F}" type="slidenum">
              <a:rPr lang="en-US">
                <a:solidFill>
                  <a:schemeClr val="tx2">
                    <a:lumMod val="75000"/>
                    <a:lumOff val="25000"/>
                  </a:schemeClr>
                </a:solidFill>
              </a:rPr>
              <a:pPr>
                <a:spcAft>
                  <a:spcPts val="600"/>
                </a:spcAft>
              </a:pPr>
              <a:t>21</a:t>
            </a:fld>
            <a:endParaRPr lang="en-US">
              <a:solidFill>
                <a:schemeClr val="tx2">
                  <a:lumMod val="75000"/>
                  <a:lumOff val="25000"/>
                </a:schemeClr>
              </a:solidFill>
            </a:endParaRPr>
          </a:p>
        </p:txBody>
      </p:sp>
      <p:sp>
        <p:nvSpPr>
          <p:cNvPr id="2" name="Footer Placeholder 1">
            <a:extLst>
              <a:ext uri="{FF2B5EF4-FFF2-40B4-BE49-F238E27FC236}">
                <a16:creationId xmlns:a16="http://schemas.microsoft.com/office/drawing/2014/main" id="{C829C554-233C-2442-87AC-CD90508A3BD7}"/>
              </a:ext>
            </a:extLst>
          </p:cNvPr>
          <p:cNvSpPr>
            <a:spLocks noGrp="1"/>
          </p:cNvSpPr>
          <p:nvPr>
            <p:ph type="ftr" sz="quarter" idx="11"/>
          </p:nvPr>
        </p:nvSpPr>
        <p:spPr/>
        <p:txBody>
          <a:bodyPr/>
          <a:lstStyle/>
          <a:p>
            <a:r>
              <a:rPr lang="en-US"/>
              <a:t>Intro to Public Finance Spring 2020</a:t>
            </a:r>
            <a:endParaRPr lang="en-US" dirty="0"/>
          </a:p>
        </p:txBody>
      </p:sp>
    </p:spTree>
    <p:extLst>
      <p:ext uri="{BB962C8B-B14F-4D97-AF65-F5344CB8AC3E}">
        <p14:creationId xmlns:p14="http://schemas.microsoft.com/office/powerpoint/2010/main" val="18752391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Utility Possibilities Curve</a:t>
            </a:r>
          </a:p>
        </p:txBody>
      </p:sp>
      <p:sp>
        <p:nvSpPr>
          <p:cNvPr id="6" name="Content Placeholder 5"/>
          <p:cNvSpPr>
            <a:spLocks noGrp="1"/>
          </p:cNvSpPr>
          <p:nvPr>
            <p:ph idx="1"/>
          </p:nvPr>
        </p:nvSpPr>
        <p:spPr/>
        <p:txBody>
          <a:bodyPr/>
          <a:lstStyle/>
          <a:p>
            <a:r>
              <a:rPr lang="en-US" dirty="0"/>
              <a:t>Benefit an individual receives from consumption is called utility.</a:t>
            </a:r>
          </a:p>
          <a:p>
            <a:r>
              <a:rPr lang="en-US" dirty="0"/>
              <a:t>If a person gets more goods, their utility increases. </a:t>
            </a:r>
          </a:p>
          <a:p>
            <a:pPr lvl="1"/>
            <a:r>
              <a:rPr lang="en-US" dirty="0"/>
              <a:t>More of any commodity is considered a good thing leaving aside other concerns like effects on the environment, etc. This also includes goods that we might consider social </a:t>
            </a:r>
            <a:r>
              <a:rPr lang="en-US" dirty="0" err="1"/>
              <a:t>bads</a:t>
            </a:r>
            <a:r>
              <a:rPr lang="en-US" dirty="0"/>
              <a:t> like alcohol, gambling, </a:t>
            </a:r>
            <a:r>
              <a:rPr lang="en-US" dirty="0" err="1"/>
              <a:t>etc</a:t>
            </a:r>
            <a:r>
              <a:rPr lang="en-US" dirty="0"/>
              <a:t>, when consumed in excess.</a:t>
            </a:r>
          </a:p>
          <a:p>
            <a:r>
              <a:rPr lang="en-US" dirty="0"/>
              <a:t>UPC traces out the maximum level of utility that may be achieved by 2 consumers.</a:t>
            </a:r>
          </a:p>
        </p:txBody>
      </p:sp>
      <p:sp>
        <p:nvSpPr>
          <p:cNvPr id="7" name="Slide Number Placeholder 6"/>
          <p:cNvSpPr>
            <a:spLocks noGrp="1"/>
          </p:cNvSpPr>
          <p:nvPr>
            <p:ph type="sldNum" sz="quarter" idx="12"/>
          </p:nvPr>
        </p:nvSpPr>
        <p:spPr/>
        <p:txBody>
          <a:bodyPr/>
          <a:lstStyle/>
          <a:p>
            <a:fld id="{98BA2A1B-C4DB-4748-B560-E3B8550C6AD3}" type="slidenum">
              <a:rPr lang="en-US"/>
              <a:pPr/>
              <a:t>22</a:t>
            </a:fld>
            <a:endParaRPr lang="en-US"/>
          </a:p>
        </p:txBody>
      </p:sp>
      <p:sp>
        <p:nvSpPr>
          <p:cNvPr id="2" name="Footer Placeholder 1">
            <a:extLst>
              <a:ext uri="{FF2B5EF4-FFF2-40B4-BE49-F238E27FC236}">
                <a16:creationId xmlns:a16="http://schemas.microsoft.com/office/drawing/2014/main" id="{B82DB10D-3651-6B41-AC47-DC36AE03EE50}"/>
              </a:ext>
            </a:extLst>
          </p:cNvPr>
          <p:cNvSpPr>
            <a:spLocks noGrp="1"/>
          </p:cNvSpPr>
          <p:nvPr>
            <p:ph type="ftr" sz="quarter" idx="11"/>
          </p:nvPr>
        </p:nvSpPr>
        <p:spPr/>
        <p:txBody>
          <a:bodyPr/>
          <a:lstStyle/>
          <a:p>
            <a:r>
              <a:rPr lang="en-US"/>
              <a:t>Intro to Public Finance Spring 2020</a:t>
            </a:r>
            <a:endParaRPr lang="en-US" dirty="0"/>
          </a:p>
        </p:txBody>
      </p:sp>
    </p:spTree>
    <p:extLst>
      <p:ext uri="{BB962C8B-B14F-4D97-AF65-F5344CB8AC3E}">
        <p14:creationId xmlns:p14="http://schemas.microsoft.com/office/powerpoint/2010/main" val="3797426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218" name="Picture 2" descr="Figure 3.2 shows a line graph of the utility possibilities. This curve gives the maximum level of utility that one individual named Friday can achieve, given the level of utility of the other individual named Crusoe. Along the frontier, it is not possible for Crusoe to consume more unless Friday consumes less. Therefore, the utility possibilities curve is downward sloping: the higher Crusoe’s utility, the lower the maximum level of Friday’s utility."/>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Slide Number Placeholder 4"/>
          <p:cNvSpPr>
            <a:spLocks noGrp="1"/>
          </p:cNvSpPr>
          <p:nvPr>
            <p:ph type="sldNum" sz="quarter" idx="12"/>
          </p:nvPr>
        </p:nvSpPr>
        <p:spPr/>
        <p:txBody>
          <a:bodyPr/>
          <a:lstStyle/>
          <a:p>
            <a:fld id="{F8D2704F-F2C4-C149-9542-53BC6BDE312F}" type="slidenum">
              <a:rPr lang="en-US"/>
              <a:pPr/>
              <a:t>23</a:t>
            </a:fld>
            <a:endParaRPr lang="en-US"/>
          </a:p>
        </p:txBody>
      </p:sp>
      <p:sp>
        <p:nvSpPr>
          <p:cNvPr id="2" name="Footer Placeholder 1">
            <a:extLst>
              <a:ext uri="{FF2B5EF4-FFF2-40B4-BE49-F238E27FC236}">
                <a16:creationId xmlns:a16="http://schemas.microsoft.com/office/drawing/2014/main" id="{C40467D5-2AF5-8D49-A893-34132DA8B049}"/>
              </a:ext>
            </a:extLst>
          </p:cNvPr>
          <p:cNvSpPr>
            <a:spLocks noGrp="1"/>
          </p:cNvSpPr>
          <p:nvPr>
            <p:ph type="ftr" sz="quarter" idx="11"/>
          </p:nvPr>
        </p:nvSpPr>
        <p:spPr/>
        <p:txBody>
          <a:bodyPr/>
          <a:lstStyle/>
          <a:p>
            <a:r>
              <a:rPr lang="en-US"/>
              <a:t>Intro to Public Finance Spring 2020</a:t>
            </a:r>
            <a:endParaRPr lang="en-US" dirty="0"/>
          </a:p>
        </p:txBody>
      </p:sp>
    </p:spTree>
    <p:extLst>
      <p:ext uri="{BB962C8B-B14F-4D97-AF65-F5344CB8AC3E}">
        <p14:creationId xmlns:p14="http://schemas.microsoft.com/office/powerpoint/2010/main" val="23782922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Exchange Efficiency</a:t>
            </a:r>
          </a:p>
        </p:txBody>
      </p:sp>
      <p:sp>
        <p:nvSpPr>
          <p:cNvPr id="6" name="Content Placeholder 5"/>
          <p:cNvSpPr>
            <a:spLocks noGrp="1"/>
          </p:cNvSpPr>
          <p:nvPr>
            <p:ph idx="1"/>
          </p:nvPr>
        </p:nvSpPr>
        <p:spPr/>
        <p:txBody>
          <a:bodyPr>
            <a:normAutofit/>
          </a:bodyPr>
          <a:lstStyle/>
          <a:p>
            <a:r>
              <a:rPr lang="en-US"/>
              <a:t>Amount that one individual is willing to give up in exchange for one unit of a commodity is the marginal rate of substitution (MRS).</a:t>
            </a:r>
          </a:p>
          <a:p>
            <a:r>
              <a:rPr lang="en-US"/>
              <a:t>Exchange efficiency requires that everyone has the same MRS.</a:t>
            </a:r>
          </a:p>
        </p:txBody>
      </p:sp>
      <p:sp>
        <p:nvSpPr>
          <p:cNvPr id="2" name="Slide Number Placeholder 1"/>
          <p:cNvSpPr>
            <a:spLocks noGrp="1"/>
          </p:cNvSpPr>
          <p:nvPr>
            <p:ph type="sldNum" sz="quarter" idx="12"/>
          </p:nvPr>
        </p:nvSpPr>
        <p:spPr/>
        <p:txBody>
          <a:bodyPr/>
          <a:lstStyle/>
          <a:p>
            <a:fld id="{98BA2A1B-C4DB-4748-B560-E3B8550C6AD3}" type="slidenum">
              <a:rPr lang="en-US"/>
              <a:pPr/>
              <a:t>24</a:t>
            </a:fld>
            <a:endParaRPr lang="en-US"/>
          </a:p>
        </p:txBody>
      </p:sp>
      <p:sp>
        <p:nvSpPr>
          <p:cNvPr id="3" name="Footer Placeholder 2">
            <a:extLst>
              <a:ext uri="{FF2B5EF4-FFF2-40B4-BE49-F238E27FC236}">
                <a16:creationId xmlns:a16="http://schemas.microsoft.com/office/drawing/2014/main" id="{FCE10982-F278-9B4D-810D-F45CD67C8EEA}"/>
              </a:ext>
            </a:extLst>
          </p:cNvPr>
          <p:cNvSpPr>
            <a:spLocks noGrp="1"/>
          </p:cNvSpPr>
          <p:nvPr>
            <p:ph type="ftr" sz="quarter" idx="11"/>
          </p:nvPr>
        </p:nvSpPr>
        <p:spPr/>
        <p:txBody>
          <a:bodyPr/>
          <a:lstStyle/>
          <a:p>
            <a:r>
              <a:rPr lang="en-US"/>
              <a:t>Intro to Public Finance Spring 2020</a:t>
            </a:r>
            <a:endParaRPr lang="en-US" dirty="0"/>
          </a:p>
        </p:txBody>
      </p:sp>
    </p:spTree>
    <p:extLst>
      <p:ext uri="{BB962C8B-B14F-4D97-AF65-F5344CB8AC3E}">
        <p14:creationId xmlns:p14="http://schemas.microsoft.com/office/powerpoint/2010/main" val="1942192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1266" name="Picture 1" descr="Figure 3.3 is a graph entitled &quot;Crusoe's Budget Constraint,&quot; which shows a production possibility curve. The curve is linear and downward sloping. Given income of 100 dollars, the price of oranges of 2 dollars, and the price of apples of 1 dollar, an individual can purchase any combination of apples and oranges along or to the left of the budget constraint. Any combination to the right of the budget constraint is unaffordable. The slope of the budget constraint is based on the relative price of oranges and apples."/>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Slide Number Placeholder 4"/>
          <p:cNvSpPr>
            <a:spLocks noGrp="1"/>
          </p:cNvSpPr>
          <p:nvPr>
            <p:ph type="sldNum" sz="quarter" idx="12"/>
          </p:nvPr>
        </p:nvSpPr>
        <p:spPr/>
        <p:txBody>
          <a:bodyPr/>
          <a:lstStyle/>
          <a:p>
            <a:fld id="{F8D2704F-F2C4-C149-9542-53BC6BDE312F}" type="slidenum">
              <a:rPr lang="en-US"/>
              <a:pPr/>
              <a:t>25</a:t>
            </a:fld>
            <a:endParaRPr lang="en-US"/>
          </a:p>
        </p:txBody>
      </p:sp>
      <p:sp>
        <p:nvSpPr>
          <p:cNvPr id="2" name="Footer Placeholder 1">
            <a:extLst>
              <a:ext uri="{FF2B5EF4-FFF2-40B4-BE49-F238E27FC236}">
                <a16:creationId xmlns:a16="http://schemas.microsoft.com/office/drawing/2014/main" id="{7661CD76-114A-624A-A7A1-A8404DA2E917}"/>
              </a:ext>
            </a:extLst>
          </p:cNvPr>
          <p:cNvSpPr>
            <a:spLocks noGrp="1"/>
          </p:cNvSpPr>
          <p:nvPr>
            <p:ph type="ftr" sz="quarter" idx="11"/>
          </p:nvPr>
        </p:nvSpPr>
        <p:spPr/>
        <p:txBody>
          <a:bodyPr/>
          <a:lstStyle/>
          <a:p>
            <a:r>
              <a:rPr lang="en-US"/>
              <a:t>Intro to Public Finance Spring 2020</a:t>
            </a:r>
            <a:endParaRPr lang="en-US" dirty="0"/>
          </a:p>
        </p:txBody>
      </p:sp>
    </p:spTree>
    <p:extLst>
      <p:ext uri="{BB962C8B-B14F-4D97-AF65-F5344CB8AC3E}">
        <p14:creationId xmlns:p14="http://schemas.microsoft.com/office/powerpoint/2010/main" val="3898489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Indifference Curves</a:t>
            </a:r>
          </a:p>
        </p:txBody>
      </p:sp>
      <p:sp>
        <p:nvSpPr>
          <p:cNvPr id="6" name="Content Placeholder 5"/>
          <p:cNvSpPr>
            <a:spLocks noGrp="1"/>
          </p:cNvSpPr>
          <p:nvPr>
            <p:ph idx="1"/>
          </p:nvPr>
        </p:nvSpPr>
        <p:spPr/>
        <p:txBody>
          <a:bodyPr/>
          <a:lstStyle/>
          <a:p>
            <a:r>
              <a:rPr lang="en-US"/>
              <a:t>Give the combinations of goods among which the consumer is indifferent or yield the same amount of utility.</a:t>
            </a:r>
          </a:p>
          <a:p>
            <a:r>
              <a:rPr lang="en-US"/>
              <a:t>Slope of indifference curve equals the MRS.</a:t>
            </a:r>
          </a:p>
          <a:p>
            <a:r>
              <a:rPr lang="en-US"/>
              <a:t>Combinations of goods along higher indifference curves give a higher level of utility.</a:t>
            </a:r>
          </a:p>
        </p:txBody>
      </p:sp>
      <p:sp>
        <p:nvSpPr>
          <p:cNvPr id="7" name="Slide Number Placeholder 6"/>
          <p:cNvSpPr>
            <a:spLocks noGrp="1"/>
          </p:cNvSpPr>
          <p:nvPr>
            <p:ph type="sldNum" sz="quarter" idx="12"/>
          </p:nvPr>
        </p:nvSpPr>
        <p:spPr/>
        <p:txBody>
          <a:bodyPr/>
          <a:lstStyle/>
          <a:p>
            <a:fld id="{98BA2A1B-C4DB-4748-B560-E3B8550C6AD3}" type="slidenum">
              <a:rPr lang="en-US"/>
              <a:pPr/>
              <a:t>26</a:t>
            </a:fld>
            <a:endParaRPr lang="en-US"/>
          </a:p>
        </p:txBody>
      </p:sp>
      <p:sp>
        <p:nvSpPr>
          <p:cNvPr id="2" name="Footer Placeholder 1">
            <a:extLst>
              <a:ext uri="{FF2B5EF4-FFF2-40B4-BE49-F238E27FC236}">
                <a16:creationId xmlns:a16="http://schemas.microsoft.com/office/drawing/2014/main" id="{B931C8BE-733B-C841-89A9-0CF3106DE7D3}"/>
              </a:ext>
            </a:extLst>
          </p:cNvPr>
          <p:cNvSpPr>
            <a:spLocks noGrp="1"/>
          </p:cNvSpPr>
          <p:nvPr>
            <p:ph type="ftr" sz="quarter" idx="11"/>
          </p:nvPr>
        </p:nvSpPr>
        <p:spPr/>
        <p:txBody>
          <a:bodyPr/>
          <a:lstStyle/>
          <a:p>
            <a:r>
              <a:rPr lang="en-US"/>
              <a:t>Intro to Public Finance Spring 2020</a:t>
            </a:r>
            <a:endParaRPr lang="en-US" dirty="0"/>
          </a:p>
        </p:txBody>
      </p:sp>
    </p:spTree>
    <p:extLst>
      <p:ext uri="{BB962C8B-B14F-4D97-AF65-F5344CB8AC3E}">
        <p14:creationId xmlns:p14="http://schemas.microsoft.com/office/powerpoint/2010/main" val="2879116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3314" name="Picture 2" descr="Figure 3.4 is a line graph illustrating the consumer’s choice problem. The budget constraint gives the combinations of apples and oranges that Crusoe can buy, given his income and given the price of apples and oranges. The indifference curve gives the combinations of apples and oranges among which Crusoe is indifferent. A and B are on the same indifference curve; Crusoe is indifferent between them. Other individuals prefer combinations of apples and oranges that are on a higher indifference curve. Thus, point F is preferred to either A or B. Crusoe chooses the point along the budget constraint that he most prefers; that is, the point at which the indifference curve I0 is tangent to the budget constraint (point E)."/>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Slide Number Placeholder 4"/>
          <p:cNvSpPr>
            <a:spLocks noGrp="1"/>
          </p:cNvSpPr>
          <p:nvPr>
            <p:ph type="sldNum" sz="quarter" idx="12"/>
          </p:nvPr>
        </p:nvSpPr>
        <p:spPr/>
        <p:txBody>
          <a:bodyPr/>
          <a:lstStyle/>
          <a:p>
            <a:fld id="{F8D2704F-F2C4-C149-9542-53BC6BDE312F}" type="slidenum">
              <a:rPr lang="en-US"/>
              <a:pPr/>
              <a:t>27</a:t>
            </a:fld>
            <a:endParaRPr lang="en-US"/>
          </a:p>
        </p:txBody>
      </p:sp>
      <p:sp>
        <p:nvSpPr>
          <p:cNvPr id="2" name="Footer Placeholder 1">
            <a:extLst>
              <a:ext uri="{FF2B5EF4-FFF2-40B4-BE49-F238E27FC236}">
                <a16:creationId xmlns:a16="http://schemas.microsoft.com/office/drawing/2014/main" id="{3D584192-AD85-A147-8946-641BAAAD377A}"/>
              </a:ext>
            </a:extLst>
          </p:cNvPr>
          <p:cNvSpPr>
            <a:spLocks noGrp="1"/>
          </p:cNvSpPr>
          <p:nvPr>
            <p:ph type="ftr" sz="quarter" idx="11"/>
          </p:nvPr>
        </p:nvSpPr>
        <p:spPr/>
        <p:txBody>
          <a:bodyPr/>
          <a:lstStyle/>
          <a:p>
            <a:r>
              <a:rPr lang="en-US"/>
              <a:t>Intro to Public Finance Spring 2020</a:t>
            </a:r>
            <a:endParaRPr lang="en-US" dirty="0"/>
          </a:p>
        </p:txBody>
      </p:sp>
    </p:spTree>
    <p:extLst>
      <p:ext uri="{BB962C8B-B14F-4D97-AF65-F5344CB8AC3E}">
        <p14:creationId xmlns:p14="http://schemas.microsoft.com/office/powerpoint/2010/main" val="23147787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Exchange Efficiency</a:t>
            </a:r>
          </a:p>
        </p:txBody>
      </p:sp>
      <p:sp>
        <p:nvSpPr>
          <p:cNvPr id="6" name="Content Placeholder 5"/>
          <p:cNvSpPr>
            <a:spLocks noGrp="1"/>
          </p:cNvSpPr>
          <p:nvPr>
            <p:ph idx="1"/>
          </p:nvPr>
        </p:nvSpPr>
        <p:spPr/>
        <p:txBody>
          <a:bodyPr/>
          <a:lstStyle/>
          <a:p>
            <a:r>
              <a:rPr lang="en-US"/>
              <a:t>All possible allocations between Crusoe and Friday can be represented in a box (next slide).</a:t>
            </a:r>
          </a:p>
          <a:p>
            <a:r>
              <a:rPr lang="en-US"/>
              <a:t>At the point of tangency (E), the slopes of the indifference curves are the same. </a:t>
            </a:r>
          </a:p>
          <a:p>
            <a:r>
              <a:rPr lang="en-US"/>
              <a:t>Their MRS for oranges are the same. </a:t>
            </a:r>
          </a:p>
          <a:p>
            <a:endParaRPr lang="en-US"/>
          </a:p>
        </p:txBody>
      </p:sp>
      <p:sp>
        <p:nvSpPr>
          <p:cNvPr id="7" name="Slide Number Placeholder 6"/>
          <p:cNvSpPr>
            <a:spLocks noGrp="1"/>
          </p:cNvSpPr>
          <p:nvPr>
            <p:ph type="sldNum" sz="quarter" idx="12"/>
          </p:nvPr>
        </p:nvSpPr>
        <p:spPr/>
        <p:txBody>
          <a:bodyPr/>
          <a:lstStyle/>
          <a:p>
            <a:fld id="{98BA2A1B-C4DB-4748-B560-E3B8550C6AD3}" type="slidenum">
              <a:rPr lang="en-US"/>
              <a:pPr/>
              <a:t>28</a:t>
            </a:fld>
            <a:endParaRPr lang="en-US"/>
          </a:p>
        </p:txBody>
      </p:sp>
      <p:sp>
        <p:nvSpPr>
          <p:cNvPr id="2" name="Footer Placeholder 1">
            <a:extLst>
              <a:ext uri="{FF2B5EF4-FFF2-40B4-BE49-F238E27FC236}">
                <a16:creationId xmlns:a16="http://schemas.microsoft.com/office/drawing/2014/main" id="{CEEAE2AC-18D0-2244-B862-5B8F97B68EDF}"/>
              </a:ext>
            </a:extLst>
          </p:cNvPr>
          <p:cNvSpPr>
            <a:spLocks noGrp="1"/>
          </p:cNvSpPr>
          <p:nvPr>
            <p:ph type="ftr" sz="quarter" idx="11"/>
          </p:nvPr>
        </p:nvSpPr>
        <p:spPr/>
        <p:txBody>
          <a:bodyPr/>
          <a:lstStyle/>
          <a:p>
            <a:r>
              <a:rPr lang="en-US"/>
              <a:t>Intro to Public Finance Spring 2020</a:t>
            </a:r>
            <a:endParaRPr lang="en-US" dirty="0"/>
          </a:p>
        </p:txBody>
      </p:sp>
    </p:spTree>
    <p:extLst>
      <p:ext uri="{BB962C8B-B14F-4D97-AF65-F5344CB8AC3E}">
        <p14:creationId xmlns:p14="http://schemas.microsoft.com/office/powerpoint/2010/main" val="3381557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5362" name="Picture 1" descr="Figure 3.5 is a diagram illustrating exchange efficiency with the Edgeworth-Bowley box. The sides of the box give the available supplies of apples and oranges.  Three different indifference curves for Friday and one indifference curve for Crusoe are graphed. Pareto efficiency requires the tangency of the two indifference curves (one such point is at E on the graph), where the marginal rates of substitution of apples for oranges are equal."/>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Slide Number Placeholder 4"/>
          <p:cNvSpPr>
            <a:spLocks noGrp="1"/>
          </p:cNvSpPr>
          <p:nvPr>
            <p:ph type="sldNum" sz="quarter" idx="12"/>
          </p:nvPr>
        </p:nvSpPr>
        <p:spPr/>
        <p:txBody>
          <a:bodyPr/>
          <a:lstStyle/>
          <a:p>
            <a:fld id="{F8D2704F-F2C4-C149-9542-53BC6BDE312F}" type="slidenum">
              <a:rPr lang="en-US"/>
              <a:pPr/>
              <a:t>29</a:t>
            </a:fld>
            <a:endParaRPr lang="en-US"/>
          </a:p>
        </p:txBody>
      </p:sp>
      <p:sp>
        <p:nvSpPr>
          <p:cNvPr id="2" name="Footer Placeholder 1">
            <a:extLst>
              <a:ext uri="{FF2B5EF4-FFF2-40B4-BE49-F238E27FC236}">
                <a16:creationId xmlns:a16="http://schemas.microsoft.com/office/drawing/2014/main" id="{9DC645D1-D594-D140-8900-A8E2B4064C0B}"/>
              </a:ext>
            </a:extLst>
          </p:cNvPr>
          <p:cNvSpPr>
            <a:spLocks noGrp="1"/>
          </p:cNvSpPr>
          <p:nvPr>
            <p:ph type="ftr" sz="quarter" idx="11"/>
          </p:nvPr>
        </p:nvSpPr>
        <p:spPr/>
        <p:txBody>
          <a:bodyPr/>
          <a:lstStyle/>
          <a:p>
            <a:r>
              <a:rPr lang="en-US"/>
              <a:t>Intro to Public Finance Spring 2020</a:t>
            </a:r>
            <a:endParaRPr lang="en-US" dirty="0"/>
          </a:p>
        </p:txBody>
      </p:sp>
    </p:spTree>
    <p:extLst>
      <p:ext uri="{BB962C8B-B14F-4D97-AF65-F5344CB8AC3E}">
        <p14:creationId xmlns:p14="http://schemas.microsoft.com/office/powerpoint/2010/main" val="23150236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Production Efficiency</a:t>
            </a:r>
          </a:p>
        </p:txBody>
      </p:sp>
      <p:sp>
        <p:nvSpPr>
          <p:cNvPr id="6" name="Content Placeholder 5"/>
          <p:cNvSpPr>
            <a:spLocks noGrp="1"/>
          </p:cNvSpPr>
          <p:nvPr>
            <p:ph idx="1"/>
          </p:nvPr>
        </p:nvSpPr>
        <p:spPr/>
        <p:txBody>
          <a:bodyPr/>
          <a:lstStyle/>
          <a:p>
            <a:r>
              <a:rPr lang="en-US"/>
              <a:t>Along the Production Efficiency Frontier, the economy cannot produce more of one good without sacrificing some of another good, given a fixed set of inputs.</a:t>
            </a:r>
          </a:p>
          <a:p>
            <a:r>
              <a:rPr lang="en-US"/>
              <a:t>Isocost line is similar to budget constraint but for firms not individuals. </a:t>
            </a:r>
          </a:p>
        </p:txBody>
      </p:sp>
      <p:sp>
        <p:nvSpPr>
          <p:cNvPr id="7" name="Slide Number Placeholder 6"/>
          <p:cNvSpPr>
            <a:spLocks noGrp="1"/>
          </p:cNvSpPr>
          <p:nvPr>
            <p:ph type="sldNum" sz="quarter" idx="12"/>
          </p:nvPr>
        </p:nvSpPr>
        <p:spPr/>
        <p:txBody>
          <a:bodyPr/>
          <a:lstStyle/>
          <a:p>
            <a:fld id="{98BA2A1B-C4DB-4748-B560-E3B8550C6AD3}" type="slidenum">
              <a:rPr lang="en-US"/>
              <a:pPr/>
              <a:t>30</a:t>
            </a:fld>
            <a:endParaRPr lang="en-US"/>
          </a:p>
        </p:txBody>
      </p:sp>
      <p:sp>
        <p:nvSpPr>
          <p:cNvPr id="2" name="Footer Placeholder 1">
            <a:extLst>
              <a:ext uri="{FF2B5EF4-FFF2-40B4-BE49-F238E27FC236}">
                <a16:creationId xmlns:a16="http://schemas.microsoft.com/office/drawing/2014/main" id="{426D9E0B-B8D8-3843-9CA9-47A5BF4D7ED0}"/>
              </a:ext>
            </a:extLst>
          </p:cNvPr>
          <p:cNvSpPr>
            <a:spLocks noGrp="1"/>
          </p:cNvSpPr>
          <p:nvPr>
            <p:ph type="ftr" sz="quarter" idx="11"/>
          </p:nvPr>
        </p:nvSpPr>
        <p:spPr/>
        <p:txBody>
          <a:bodyPr/>
          <a:lstStyle/>
          <a:p>
            <a:r>
              <a:rPr lang="en-US"/>
              <a:t>Intro to Public Finance Spring 2020</a:t>
            </a:r>
            <a:endParaRPr lang="en-US" dirty="0"/>
          </a:p>
        </p:txBody>
      </p:sp>
    </p:spTree>
    <p:extLst>
      <p:ext uri="{BB962C8B-B14F-4D97-AF65-F5344CB8AC3E}">
        <p14:creationId xmlns:p14="http://schemas.microsoft.com/office/powerpoint/2010/main" val="3496474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TotalTime>
  <Words>1797</Words>
  <Application>Microsoft Office PowerPoint</Application>
  <PresentationFormat>Widescreen</PresentationFormat>
  <Paragraphs>174</Paragraphs>
  <Slides>30</Slides>
  <Notes>23</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Organic</vt:lpstr>
      <vt:lpstr>Intro to Public Finance</vt:lpstr>
      <vt:lpstr>Some Examples from the Blogs</vt:lpstr>
      <vt:lpstr>Some Examples from the Blogs </vt:lpstr>
      <vt:lpstr>PowerPoint Presentation</vt:lpstr>
      <vt:lpstr>Overview</vt:lpstr>
      <vt:lpstr> Public Goods</vt:lpstr>
      <vt:lpstr> Pure Public Goods &amp; Market Failure </vt:lpstr>
      <vt:lpstr>PowerPoint Presentation</vt:lpstr>
      <vt:lpstr>Review of Pure Public Goods </vt:lpstr>
      <vt:lpstr>Comparison of Private with Public Goods</vt:lpstr>
      <vt:lpstr>Provision of Public Goods</vt:lpstr>
      <vt:lpstr>Pure &amp; Impure Public Goods</vt:lpstr>
      <vt:lpstr> Private &amp; Public Sectors Intertwined</vt:lpstr>
      <vt:lpstr>Government Failures</vt:lpstr>
      <vt:lpstr>Private &amp; Public Sectors Intertwined</vt:lpstr>
      <vt:lpstr>Competition is Good!</vt:lpstr>
      <vt:lpstr>The Invisible Hand</vt:lpstr>
      <vt:lpstr>Welfare Economics</vt:lpstr>
      <vt:lpstr>Welfare Economics</vt:lpstr>
      <vt:lpstr>Why Competition Results in Efficiency</vt:lpstr>
      <vt:lpstr>PowerPoint Presentation</vt:lpstr>
      <vt:lpstr>Utility Possibilities Curve</vt:lpstr>
      <vt:lpstr>PowerPoint Presentation</vt:lpstr>
      <vt:lpstr>Exchange Efficiency</vt:lpstr>
      <vt:lpstr>PowerPoint Presentation</vt:lpstr>
      <vt:lpstr>Indifference Curves</vt:lpstr>
      <vt:lpstr>PowerPoint Presentation</vt:lpstr>
      <vt:lpstr>Exchange Efficiency</vt:lpstr>
      <vt:lpstr>PowerPoint Presentation</vt:lpstr>
      <vt:lpstr>Production Efficiency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Robert Cropf</cp:lastModifiedBy>
  <cp:revision>652</cp:revision>
  <dcterms:created xsi:type="dcterms:W3CDTF">2020-01-25T15:29:36Z</dcterms:created>
  <dcterms:modified xsi:type="dcterms:W3CDTF">2020-02-24T17:22:07Z</dcterms:modified>
</cp:coreProperties>
</file>