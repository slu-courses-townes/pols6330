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1" r:id="rId1"/>
  </p:sldMasterIdLst>
  <p:notesMasterIdLst>
    <p:notesMasterId r:id="rId27"/>
  </p:notesMasterIdLst>
  <p:sldIdLst>
    <p:sldId id="256" r:id="rId2"/>
    <p:sldId id="283" r:id="rId3"/>
    <p:sldId id="281" r:id="rId4"/>
    <p:sldId id="282" r:id="rId5"/>
    <p:sldId id="279" r:id="rId6"/>
    <p:sldId id="276" r:id="rId7"/>
    <p:sldId id="272" r:id="rId8"/>
    <p:sldId id="275" r:id="rId9"/>
    <p:sldId id="263" r:id="rId10"/>
    <p:sldId id="271" r:id="rId11"/>
    <p:sldId id="257" r:id="rId12"/>
    <p:sldId id="264" r:id="rId13"/>
    <p:sldId id="258" r:id="rId14"/>
    <p:sldId id="265" r:id="rId15"/>
    <p:sldId id="259" r:id="rId16"/>
    <p:sldId id="266" r:id="rId17"/>
    <p:sldId id="260" r:id="rId18"/>
    <p:sldId id="277" r:id="rId19"/>
    <p:sldId id="267" r:id="rId20"/>
    <p:sldId id="261" r:id="rId21"/>
    <p:sldId id="268" r:id="rId22"/>
    <p:sldId id="262" r:id="rId23"/>
    <p:sldId id="269" r:id="rId24"/>
    <p:sldId id="278" r:id="rId25"/>
    <p:sldId id="27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2E9263-85FB-68FF-0C3D-14593B94F5CB}" v="193" dt="2020-02-07T19:11:31.944"/>
    <p1510:client id="{7FF66B7E-1565-6B0C-A1B9-36EF4276C084}" v="632" dt="2020-02-10T18:40:51.699"/>
    <p1510:client id="{EF97E896-2C1A-2E9E-BE51-AD229B9EFAFB}" v="1" dt="2020-02-11T18:53:44.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108" d="100"/>
          <a:sy n="108" d="100"/>
        </p:scale>
        <p:origin x="-112" y="-552"/>
      </p:cViewPr>
      <p:guideLst>
        <p:guide orient="horz" pos="2160"/>
        <p:guide pos="3840"/>
      </p:guideLst>
    </p:cSldViewPr>
  </p:slideViewPr>
  <p:notesTextViewPr>
    <p:cViewPr>
      <p:scale>
        <a:sx n="100" d="100"/>
        <a:sy n="100" d="100"/>
      </p:scale>
      <p:origin x="0" y="0"/>
    </p:cViewPr>
  </p:notesTextViewPr>
  <p:notesViewPr>
    <p:cSldViewPr snapToGrid="0">
      <p:cViewPr>
        <p:scale>
          <a:sx n="85" d="100"/>
          <a:sy n="85" d="100"/>
        </p:scale>
        <p:origin x="2226" y="-77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BE01D4-81FD-4A5F-B4BD-9010FA6868F4}" type="datetimeFigureOut">
              <a:rPr lang="en-US" smtClean="0"/>
              <a:t>2/24/2020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236705-BA94-4057-A726-5C5AE0E287E6}" type="slidenum">
              <a:rPr lang="en-US" smtClean="0"/>
              <a:t>‹#›</a:t>
            </a:fld>
            <a:endParaRPr lang="en-US"/>
          </a:p>
        </p:txBody>
      </p:sp>
    </p:spTree>
    <p:extLst>
      <p:ext uri="{BB962C8B-B14F-4D97-AF65-F5344CB8AC3E}">
        <p14:creationId xmlns:p14="http://schemas.microsoft.com/office/powerpoint/2010/main" val="1421811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www.policonomics.com/production" TargetMode="External"/><Relationship Id="rId2" Type="http://schemas.openxmlformats.org/officeDocument/2006/relationships/slide" Target="../slides/slide15.xml"/><Relationship Id="rId1" Type="http://schemas.openxmlformats.org/officeDocument/2006/relationships/notesMaster" Target="../notesMasters/notesMaster1.xml"/><Relationship Id="rId5" Type="http://schemas.openxmlformats.org/officeDocument/2006/relationships/hyperlink" Target="http://www.policonomics.com/supply-and-demand" TargetMode="External"/><Relationship Id="rId4" Type="http://schemas.openxmlformats.org/officeDocument/2006/relationships/hyperlink" Target="http://www.policonomics.com/average-and-marginal-cost"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Private goods demand is summed horizontally, which means people pay the same amount but demand different quantities. Carton of milk costs $2.00 and I demand 2 cartons while you demand only one.</a:t>
            </a:r>
          </a:p>
          <a:p>
            <a:endParaRPr lang="en-US" dirty="0">
              <a:cs typeface="Calibri"/>
            </a:endParaRPr>
          </a:p>
          <a:p>
            <a:r>
              <a:rPr lang="en-US" dirty="0">
                <a:cs typeface="Calibri"/>
              </a:rPr>
              <a:t>Public good demand is summed vertically: everyone pays a different price and demand the same quantity. Public park. National defense.</a:t>
            </a:r>
          </a:p>
        </p:txBody>
      </p:sp>
      <p:sp>
        <p:nvSpPr>
          <p:cNvPr id="4" name="Slide Number Placeholder 3"/>
          <p:cNvSpPr>
            <a:spLocks noGrp="1"/>
          </p:cNvSpPr>
          <p:nvPr>
            <p:ph type="sldNum" sz="quarter" idx="5"/>
          </p:nvPr>
        </p:nvSpPr>
        <p:spPr/>
        <p:txBody>
          <a:bodyPr/>
          <a:lstStyle/>
          <a:p>
            <a:fld id="{F7236705-BA94-4057-A726-5C5AE0E287E6}" type="slidenum">
              <a:rPr lang="en-US" smtClean="0"/>
              <a:t>4</a:t>
            </a:fld>
            <a:endParaRPr lang="en-US"/>
          </a:p>
        </p:txBody>
      </p:sp>
    </p:spTree>
    <p:extLst>
      <p:ext uri="{BB962C8B-B14F-4D97-AF65-F5344CB8AC3E}">
        <p14:creationId xmlns:p14="http://schemas.microsoft.com/office/powerpoint/2010/main" val="1283824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Economic analysis can be used to reveal certain important</a:t>
            </a:r>
            <a:r>
              <a:rPr lang="en-US" baseline="0"/>
              <a:t> aspects of any policy issue. This analysis can be performed in addition to other types of analysis as a supplement.</a:t>
            </a:r>
          </a:p>
          <a:p>
            <a:endParaRPr lang="en-US" baseline="0"/>
          </a:p>
          <a:p>
            <a:r>
              <a:rPr lang="en-US" baseline="0"/>
              <a:t>In general, knowledge of economics can help us think more logically and precisely about any public policy.</a:t>
            </a:r>
            <a:endParaRPr lang="en-US"/>
          </a:p>
        </p:txBody>
      </p:sp>
      <p:sp>
        <p:nvSpPr>
          <p:cNvPr id="4" name="Slide Number Placeholder 3"/>
          <p:cNvSpPr>
            <a:spLocks noGrp="1"/>
          </p:cNvSpPr>
          <p:nvPr>
            <p:ph type="sldNum" sz="quarter" idx="10"/>
          </p:nvPr>
        </p:nvSpPr>
        <p:spPr/>
        <p:txBody>
          <a:bodyPr/>
          <a:lstStyle/>
          <a:p>
            <a:fld id="{F7236705-BA94-4057-A726-5C5AE0E287E6}" type="slidenum">
              <a:rPr lang="en-US" smtClean="0"/>
              <a:t>5</a:t>
            </a:fld>
            <a:endParaRPr lang="en-US"/>
          </a:p>
        </p:txBody>
      </p:sp>
    </p:spTree>
    <p:extLst>
      <p:ext uri="{BB962C8B-B14F-4D97-AF65-F5344CB8AC3E}">
        <p14:creationId xmlns:p14="http://schemas.microsoft.com/office/powerpoint/2010/main" val="2453758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are these examples of merit goods?</a:t>
            </a:r>
          </a:p>
          <a:p>
            <a:endParaRPr lang="en-US" dirty="0">
              <a:cs typeface="Calibri"/>
            </a:endParaRPr>
          </a:p>
          <a:p>
            <a:r>
              <a:rPr lang="en-US" dirty="0">
                <a:cs typeface="Calibri"/>
              </a:rPr>
              <a:t>Useful to think of private goods and public goods  as existing on a continuum. At one end, are the pure private goods and at the other are pure public goods. Stretched along the continuum is every good known to people. As we get closer to the pure public good end, these are the impure public goods. They have qualities of both private and public goods. </a:t>
            </a:r>
          </a:p>
          <a:p>
            <a:endParaRPr lang="en-US" dirty="0">
              <a:cs typeface="Calibri"/>
            </a:endParaRPr>
          </a:p>
          <a:p>
            <a:endParaRPr lang="en-US" dirty="0">
              <a:cs typeface="Calibri"/>
            </a:endParaRPr>
          </a:p>
        </p:txBody>
      </p:sp>
      <p:sp>
        <p:nvSpPr>
          <p:cNvPr id="4" name="Slide Number Placeholder 3"/>
          <p:cNvSpPr>
            <a:spLocks noGrp="1"/>
          </p:cNvSpPr>
          <p:nvPr>
            <p:ph type="sldNum" sz="quarter" idx="10"/>
          </p:nvPr>
        </p:nvSpPr>
        <p:spPr/>
        <p:txBody>
          <a:bodyPr/>
          <a:lstStyle/>
          <a:p>
            <a:fld id="{F7236705-BA94-4057-A726-5C5AE0E287E6}" type="slidenum">
              <a:rPr lang="en-US" smtClean="0"/>
              <a:t>6</a:t>
            </a:fld>
            <a:endParaRPr lang="en-US"/>
          </a:p>
        </p:txBody>
      </p:sp>
    </p:spTree>
    <p:extLst>
      <p:ext uri="{BB962C8B-B14F-4D97-AF65-F5344CB8AC3E}">
        <p14:creationId xmlns:p14="http://schemas.microsoft.com/office/powerpoint/2010/main" val="1640340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In economics, a person is supposed to make rational choices, I.e., he/she calculates the material benefits and costs of something and chooses the one with B&gt;C. </a:t>
            </a:r>
            <a:endParaRPr lang="en-US"/>
          </a:p>
          <a:p>
            <a:endParaRPr lang="en-US" dirty="0"/>
          </a:p>
          <a:p>
            <a:r>
              <a:rPr lang="en-US"/>
              <a:t>The</a:t>
            </a:r>
            <a:r>
              <a:rPr lang="en-US" baseline="0"/>
              <a:t> view that government should intervene because it knows what is in the best interest of individuals is called paternalism. Thus, a paternalistic approach would ban smoking as being bad for a person’s health and thus not permitted under any circumstance. This is the reason for rules prohibiting smoking on campus.</a:t>
            </a:r>
            <a:endParaRPr lang="en-US"/>
          </a:p>
          <a:p>
            <a:endParaRPr lang="en-US" baseline="0"/>
          </a:p>
          <a:p>
            <a:r>
              <a:rPr lang="en-US" baseline="0" dirty="0"/>
              <a:t>The opposite approach is known as libertarianism, which basically says that government should respect consumers’ preferences. Libertarians worry that once government assumes a paternalistic role, special interests will use the government to further their own views about how individuals should act or what they should consume.</a:t>
            </a:r>
            <a:endParaRPr lang="en-US" dirty="0">
              <a:cs typeface="Calibri"/>
            </a:endParaRPr>
          </a:p>
          <a:p>
            <a:endParaRPr lang="en-US" dirty="0">
              <a:cs typeface="Calibri"/>
            </a:endParaRPr>
          </a:p>
          <a:p>
            <a:r>
              <a:rPr lang="en-US">
                <a:cs typeface="Calibri"/>
              </a:rPr>
              <a:t>Merit goods are ones with positive externalities. </a:t>
            </a:r>
            <a:endParaRPr lang="en-US" dirty="0">
              <a:cs typeface="Calibri"/>
            </a:endParaRPr>
          </a:p>
        </p:txBody>
      </p:sp>
      <p:sp>
        <p:nvSpPr>
          <p:cNvPr id="4" name="Slide Number Placeholder 3"/>
          <p:cNvSpPr>
            <a:spLocks noGrp="1"/>
          </p:cNvSpPr>
          <p:nvPr>
            <p:ph type="sldNum" sz="quarter" idx="10"/>
          </p:nvPr>
        </p:nvSpPr>
        <p:spPr/>
        <p:txBody>
          <a:bodyPr/>
          <a:lstStyle/>
          <a:p>
            <a:fld id="{0C5D9B2D-C0A1-421B-AC56-A36F9DEAB365}" type="slidenum">
              <a:rPr lang="en-US" smtClean="0"/>
              <a:t>7</a:t>
            </a:fld>
            <a:endParaRPr lang="en-US"/>
          </a:p>
        </p:txBody>
      </p:sp>
    </p:spTree>
    <p:extLst>
      <p:ext uri="{BB962C8B-B14F-4D97-AF65-F5344CB8AC3E}">
        <p14:creationId xmlns:p14="http://schemas.microsoft.com/office/powerpoint/2010/main" val="885033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individual’s perception of their own welfare may be an unreliable criterion for making welfare judgments. </a:t>
            </a:r>
          </a:p>
          <a:p>
            <a:endParaRPr lang="en-US"/>
          </a:p>
          <a:p>
            <a:r>
              <a:rPr lang="en-US"/>
              <a:t>The</a:t>
            </a:r>
            <a:r>
              <a:rPr lang="en-US" baseline="0"/>
              <a:t> view that government should intervene because it knows what is in the best interest of individuals is called paternalism. Thus, a paternalistic approach would ban smoking as being bad for a person’s health and thus not permitted under any circumstance. This is the reason for rules prohibiting smoking on campus.</a:t>
            </a:r>
          </a:p>
          <a:p>
            <a:endParaRPr lang="en-US" baseline="0"/>
          </a:p>
          <a:p>
            <a:r>
              <a:rPr lang="en-US" baseline="0"/>
              <a:t>The opposite approach is known as libertarianism, which basically says that government should respect consumers’ preferences. Libertarians worry that once government assumes a paternalistic role, special interests will use the government to further their own views about how individuals should act or what they should consume.</a:t>
            </a:r>
            <a:endParaRPr lang="en-US"/>
          </a:p>
        </p:txBody>
      </p:sp>
      <p:sp>
        <p:nvSpPr>
          <p:cNvPr id="4" name="Slide Number Placeholder 3"/>
          <p:cNvSpPr>
            <a:spLocks noGrp="1"/>
          </p:cNvSpPr>
          <p:nvPr>
            <p:ph type="sldNum" sz="quarter" idx="10"/>
          </p:nvPr>
        </p:nvSpPr>
        <p:spPr/>
        <p:txBody>
          <a:bodyPr/>
          <a:lstStyle/>
          <a:p>
            <a:fld id="{0C5D9B2D-C0A1-421B-AC56-A36F9DEAB365}" type="slidenum">
              <a:rPr lang="en-US" smtClean="0"/>
              <a:t>8</a:t>
            </a:fld>
            <a:endParaRPr lang="en-US"/>
          </a:p>
        </p:txBody>
      </p:sp>
    </p:spTree>
    <p:extLst>
      <p:ext uri="{BB962C8B-B14F-4D97-AF65-F5344CB8AC3E}">
        <p14:creationId xmlns:p14="http://schemas.microsoft.com/office/powerpoint/2010/main" val="885033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Also called </a:t>
            </a:r>
            <a:r>
              <a:rPr lang="en-US" i="1" dirty="0"/>
              <a:t>spill over effects.</a:t>
            </a:r>
          </a:p>
          <a:p>
            <a:r>
              <a:rPr lang="en-US" sz="1200" b="0" i="0" kern="1200" dirty="0">
                <a:solidFill>
                  <a:schemeClr val="tx1"/>
                </a:solidFill>
                <a:effectLst/>
                <a:latin typeface="+mn-lt"/>
                <a:ea typeface="+mn-ea"/>
                <a:cs typeface="+mn-cs"/>
              </a:rPr>
              <a:t>Externalities commonly occur in situations where property rights over assets or resources have not been allocated, or are uncertain. For example, no one owns the oceans and they are not the private property of anyone, so ships may pollute the sea without fear of being taken to court. </a:t>
            </a:r>
          </a:p>
          <a:p>
            <a:r>
              <a:rPr lang="en-US" sz="1200" b="0" i="0" kern="1200" dirty="0">
                <a:solidFill>
                  <a:schemeClr val="tx1"/>
                </a:solidFill>
                <a:effectLst/>
                <a:latin typeface="+mn-lt"/>
                <a:ea typeface="+mn-ea"/>
                <a:cs typeface="+mn-cs"/>
              </a:rPr>
              <a:t>The importance of establishing property rights is central to the ideas of influential Peruvian economist, </a:t>
            </a:r>
            <a:r>
              <a:rPr lang="en-US" b="1" dirty="0"/>
              <a:t>Hernando De Soto</a:t>
            </a:r>
            <a:r>
              <a:rPr lang="en-US" sz="1200" b="0" i="0" kern="1200" dirty="0">
                <a:solidFill>
                  <a:schemeClr val="tx1"/>
                </a:solidFill>
                <a:effectLst/>
                <a:latin typeface="+mn-lt"/>
                <a:ea typeface="+mn-ea"/>
                <a:cs typeface="+mn-cs"/>
              </a:rPr>
              <a:t>, who has widely argued that successful market economies need a widespread allocation of property rights to enable economies to fully develop.</a:t>
            </a:r>
            <a:endParaRPr lang="en-US" dirty="0"/>
          </a:p>
        </p:txBody>
      </p:sp>
      <p:sp>
        <p:nvSpPr>
          <p:cNvPr id="4" name="Slide Number Placeholder 3"/>
          <p:cNvSpPr>
            <a:spLocks noGrp="1"/>
          </p:cNvSpPr>
          <p:nvPr>
            <p:ph type="sldNum" sz="quarter" idx="10"/>
          </p:nvPr>
        </p:nvSpPr>
        <p:spPr/>
        <p:txBody>
          <a:bodyPr/>
          <a:lstStyle/>
          <a:p>
            <a:fld id="{F7236705-BA94-4057-A726-5C5AE0E287E6}" type="slidenum">
              <a:rPr lang="en-US" smtClean="0"/>
              <a:t>9</a:t>
            </a:fld>
            <a:endParaRPr lang="en-US"/>
          </a:p>
        </p:txBody>
      </p:sp>
    </p:spTree>
    <p:extLst>
      <p:ext uri="{BB962C8B-B14F-4D97-AF65-F5344CB8AC3E}">
        <p14:creationId xmlns:p14="http://schemas.microsoft.com/office/powerpoint/2010/main" val="882148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Difficult,</a:t>
            </a:r>
            <a:r>
              <a:rPr lang="en-US" baseline="0"/>
              <a:t> in practice, to draw a line in the sand between “right amount” and “too much</a:t>
            </a:r>
            <a:r>
              <a:rPr lang="en-US"/>
              <a:t>” negative externalities.</a:t>
            </a:r>
            <a:r>
              <a:rPr lang="en-US" baseline="0"/>
              <a:t> From </a:t>
            </a:r>
            <a:r>
              <a:rPr lang="en-US"/>
              <a:t>industry’s</a:t>
            </a:r>
            <a:r>
              <a:rPr lang="en-US" baseline="0"/>
              <a:t> persepctive, this might be the right amount. But not from the viewpoint of someone </a:t>
            </a:r>
            <a:r>
              <a:rPr lang="en-US"/>
              <a:t>living</a:t>
            </a:r>
            <a:r>
              <a:rPr lang="en-US" baseline="0"/>
              <a:t> a few </a:t>
            </a:r>
            <a:r>
              <a:rPr lang="en-US"/>
              <a:t>hundred yards </a:t>
            </a:r>
            <a:r>
              <a:rPr lang="en-US" baseline="0"/>
              <a:t>downriver.</a:t>
            </a:r>
          </a:p>
          <a:p>
            <a:endParaRPr lang="en-US" dirty="0">
              <a:cs typeface="Calibri"/>
            </a:endParaRPr>
          </a:p>
          <a:p>
            <a:r>
              <a:rPr lang="en-US">
                <a:cs typeface="Calibri"/>
              </a:rPr>
              <a:t>Harmful effects vary by items. For some items, a little bit can be very harmful while in other cases, the harm threshold is higher.</a:t>
            </a:r>
          </a:p>
          <a:p>
            <a:endParaRPr lang="en-US" dirty="0">
              <a:cs typeface="Calibri"/>
            </a:endParaRPr>
          </a:p>
          <a:p>
            <a:r>
              <a:rPr lang="en-US">
                <a:cs typeface="Calibri"/>
              </a:rPr>
              <a:t>Strontium 90</a:t>
            </a:r>
          </a:p>
          <a:p>
            <a:r>
              <a:rPr lang="en-US">
                <a:cs typeface="Calibri"/>
              </a:rPr>
              <a:t>Cyanide</a:t>
            </a:r>
          </a:p>
          <a:p>
            <a:r>
              <a:rPr lang="en-US">
                <a:cs typeface="Calibri"/>
              </a:rPr>
              <a:t>Tobacco</a:t>
            </a:r>
          </a:p>
          <a:p>
            <a:r>
              <a:rPr lang="en-US">
                <a:cs typeface="Calibri"/>
              </a:rPr>
              <a:t>Salt</a:t>
            </a:r>
            <a:endParaRPr lang="en-US" dirty="0">
              <a:cs typeface="Calibri"/>
            </a:endParaRPr>
          </a:p>
          <a:p>
            <a:r>
              <a:rPr lang="en-US">
                <a:cs typeface="Calibri"/>
              </a:rPr>
              <a:t>Sugar</a:t>
            </a:r>
            <a:endParaRPr lang="en-US" dirty="0">
              <a:cs typeface="Calibri"/>
            </a:endParaRPr>
          </a:p>
        </p:txBody>
      </p:sp>
      <p:sp>
        <p:nvSpPr>
          <p:cNvPr id="4" name="Slide Number Placeholder 3"/>
          <p:cNvSpPr>
            <a:spLocks noGrp="1"/>
          </p:cNvSpPr>
          <p:nvPr>
            <p:ph type="sldNum" sz="quarter" idx="10"/>
          </p:nvPr>
        </p:nvSpPr>
        <p:spPr/>
        <p:txBody>
          <a:bodyPr/>
          <a:lstStyle/>
          <a:p>
            <a:fld id="{F7236705-BA94-4057-A726-5C5AE0E287E6}" type="slidenum">
              <a:rPr lang="en-US" smtClean="0"/>
              <a:t>10</a:t>
            </a:fld>
            <a:endParaRPr lang="en-US"/>
          </a:p>
        </p:txBody>
      </p:sp>
    </p:spTree>
    <p:extLst>
      <p:ext uri="{BB962C8B-B14F-4D97-AF65-F5344CB8AC3E}">
        <p14:creationId xmlns:p14="http://schemas.microsoft.com/office/powerpoint/2010/main" val="3473906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8194"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a:t>Net welfare loss results from output at Q</a:t>
            </a:r>
            <a:r>
              <a:rPr lang="en-US" baseline="-25000" dirty="0"/>
              <a:t>m</a:t>
            </a:r>
            <a:endParaRPr lang="en-US" dirty="0"/>
          </a:p>
          <a:p>
            <a:r>
              <a:rPr lang="en-US" dirty="0"/>
              <a:t>Net welfare loss can exist in two situations. First, it exists when the marginal cost to society of a particular economic activity, such as manufacturing 200,000 computers, is greater than the marginal benefit to society. Secondly, it can exist when the marginal benefit of a given economic activity, such as producing 50,000m computers, is greater than the marginal cost.</a:t>
            </a:r>
          </a:p>
          <a:p>
            <a:pPr marL="0" lvl="2" eaLnBrk="1" hangingPunct="1"/>
            <a:endParaRPr lang="en-US" altLang="en-US" sz="900" dirty="0">
              <a:ea typeface="ＭＳ Ｐゴシック" pitchFamily="34" charset="-128"/>
            </a:endParaRPr>
          </a:p>
          <a:p>
            <a:pPr marL="0" lvl="2"/>
            <a:r>
              <a:rPr lang="en-US" dirty="0"/>
              <a:t>The first situation can occur when the market produces 'too much', and the second when it produces 'too little'.</a:t>
            </a:r>
            <a:endParaRPr lang="en-US" altLang="en-US" sz="900" dirty="0">
              <a:ea typeface="ＭＳ Ｐゴシック" pitchFamily="34" charset="-128"/>
            </a:endParaRPr>
          </a:p>
        </p:txBody>
      </p:sp>
      <p:sp>
        <p:nvSpPr>
          <p:cNvPr id="8195"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2F0EB989-C751-4849-9142-CC87B87D182E}" type="slidenum">
              <a:rPr lang="en-US" altLang="en-US" sz="1200"/>
              <a:pPr/>
              <a:t>11</a:t>
            </a:fld>
            <a:endParaRPr lang="en-US" altLang="en-US" sz="1200"/>
          </a:p>
        </p:txBody>
      </p:sp>
    </p:spTree>
    <p:extLst>
      <p:ext uri="{BB962C8B-B14F-4D97-AF65-F5344CB8AC3E}">
        <p14:creationId xmlns:p14="http://schemas.microsoft.com/office/powerpoint/2010/main" val="1508535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A common resource is a resource, such as water or pasture, that provides users with tangible benefits. A major concern with common resources is overuse, especially when there are poor social-management systems in place to protect the core resource. </a:t>
            </a:r>
            <a:br>
              <a:rPr lang="en-US" dirty="0"/>
            </a:br>
            <a:br>
              <a:rPr lang="en-US" dirty="0"/>
            </a:br>
            <a:r>
              <a:rPr lang="en-US" dirty="0"/>
              <a:t>Common resources that are not owned by anyone are called open-access resources.</a:t>
            </a:r>
          </a:p>
          <a:p>
            <a:endParaRPr lang="en-US" dirty="0"/>
          </a:p>
          <a:p>
            <a:r>
              <a:rPr lang="en-US" dirty="0"/>
              <a:t>BREAKING DOWN 'Common Resource'</a:t>
            </a:r>
          </a:p>
          <a:p>
            <a:r>
              <a:rPr lang="en-US" dirty="0"/>
              <a:t>Overuse of common resources often leads to economic problems such as the tragedy of the commons, where user self-interest leads to the destruction of the resource in the long term, to the disadvantage of everyone.</a:t>
            </a:r>
          </a:p>
          <a:p>
            <a:endParaRPr lang="en-US" dirty="0"/>
          </a:p>
          <a:p>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F7236705-BA94-4057-A726-5C5AE0E287E6}" type="slidenum">
              <a:rPr lang="en-US" smtClean="0"/>
              <a:t>12</a:t>
            </a:fld>
            <a:endParaRPr lang="en-US"/>
          </a:p>
        </p:txBody>
      </p:sp>
    </p:spTree>
    <p:extLst>
      <p:ext uri="{BB962C8B-B14F-4D97-AF65-F5344CB8AC3E}">
        <p14:creationId xmlns:p14="http://schemas.microsoft.com/office/powerpoint/2010/main" val="3220409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0242"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0" lvl="2"/>
            <a:r>
              <a:rPr lang="en-US" sz="900" dirty="0"/>
              <a:t>Unlike pure public goods, common pool resources face problems of congestion or overuse, because they are </a:t>
            </a:r>
            <a:r>
              <a:rPr lang="en-US" sz="900" u="sng" dirty="0" err="1"/>
              <a:t>subtractable</a:t>
            </a:r>
            <a:r>
              <a:rPr lang="en-US" sz="900" dirty="0"/>
              <a:t>. A common-pool resource typically consists of a core resource (e.g. water or fish), which defines the </a:t>
            </a:r>
            <a:r>
              <a:rPr lang="en-US" sz="900" i="1" dirty="0"/>
              <a:t>stock variable</a:t>
            </a:r>
            <a:r>
              <a:rPr lang="en-US" sz="900" dirty="0"/>
              <a:t>, while providing a limited quantity of extractable fringe units, which defines the </a:t>
            </a:r>
            <a:r>
              <a:rPr lang="en-US" sz="900" i="1" dirty="0"/>
              <a:t>flow variable</a:t>
            </a:r>
            <a:r>
              <a:rPr lang="en-US" sz="900" dirty="0"/>
              <a:t>. While the core resource is to be protected or nurtured in order to allow for its continuous exploitation, the fringe units can be harvested or consumed.</a:t>
            </a:r>
            <a:endParaRPr lang="en-US" sz="900" baseline="30000" dirty="0"/>
          </a:p>
          <a:p>
            <a:pPr marL="0" lvl="2"/>
            <a:endParaRPr lang="en-US" sz="900" baseline="30000" dirty="0"/>
          </a:p>
          <a:p>
            <a:pPr marL="0" lvl="2"/>
            <a:r>
              <a:rPr lang="en-US" sz="900" baseline="0" dirty="0"/>
              <a:t>This means that generally things are fine as long as the core is unaffected by fishing. Over-fishing that affects the core begins to deplete the supply of fish. Over time, the lake will stop providing fish.</a:t>
            </a:r>
          </a:p>
          <a:p>
            <a:pPr marL="0" lvl="2" eaLnBrk="1" hangingPunct="1"/>
            <a:endParaRPr lang="en-US" altLang="en-US" sz="900" dirty="0">
              <a:ea typeface="ＭＳ Ｐゴシック" pitchFamily="34" charset="-128"/>
            </a:endParaRPr>
          </a:p>
        </p:txBody>
      </p:sp>
      <p:sp>
        <p:nvSpPr>
          <p:cNvPr id="10243"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E50224A3-D765-486A-8525-A97B7BC97511}" type="slidenum">
              <a:rPr lang="en-US" altLang="en-US" sz="1200"/>
              <a:pPr/>
              <a:t>13</a:t>
            </a:fld>
            <a:endParaRPr lang="en-US" altLang="en-US" sz="1200"/>
          </a:p>
        </p:txBody>
      </p:sp>
    </p:spTree>
    <p:extLst>
      <p:ext uri="{BB962C8B-B14F-4D97-AF65-F5344CB8AC3E}">
        <p14:creationId xmlns:p14="http://schemas.microsoft.com/office/powerpoint/2010/main" val="29318572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fontAlgn="base"/>
            <a:r>
              <a:rPr lang="en-US" dirty="0"/>
              <a:t>Pigouvian taxes are corrective </a:t>
            </a:r>
            <a:r>
              <a:rPr lang="en-US" i="1" u="sng" dirty="0"/>
              <a:t>taxes </a:t>
            </a:r>
            <a:r>
              <a:rPr lang="en-US" dirty="0"/>
              <a:t>levied on each unit of output an </a:t>
            </a:r>
            <a:r>
              <a:rPr lang="en-US" i="1" u="sng" dirty="0"/>
              <a:t>externality</a:t>
            </a:r>
            <a:r>
              <a:rPr lang="en-US" dirty="0"/>
              <a:t>-generator agent produces. It is named after economist </a:t>
            </a:r>
            <a:r>
              <a:rPr lang="en-US" i="1" u="sng" dirty="0"/>
              <a:t>Arthur C. Pigou,</a:t>
            </a:r>
            <a:r>
              <a:rPr lang="en-US" dirty="0"/>
              <a:t> who developed the idea in his book “The Economics of Welfare”, 1920. Pigouvian taxes are used in order to diminish the ugly consequences of externalities, specially in highly polluting industries.</a:t>
            </a:r>
          </a:p>
          <a:p>
            <a:br>
              <a:rPr lang="en-US" dirty="0"/>
            </a:br>
            <a:endParaRPr lang="en-US" dirty="0"/>
          </a:p>
        </p:txBody>
      </p:sp>
      <p:sp>
        <p:nvSpPr>
          <p:cNvPr id="4" name="Slide Number Placeholder 3"/>
          <p:cNvSpPr>
            <a:spLocks noGrp="1"/>
          </p:cNvSpPr>
          <p:nvPr>
            <p:ph type="sldNum" sz="quarter" idx="10"/>
          </p:nvPr>
        </p:nvSpPr>
        <p:spPr/>
        <p:txBody>
          <a:bodyPr/>
          <a:lstStyle/>
          <a:p>
            <a:fld id="{F7236705-BA94-4057-A726-5C5AE0E287E6}" type="slidenum">
              <a:rPr lang="en-US" smtClean="0"/>
              <a:t>14</a:t>
            </a:fld>
            <a:endParaRPr lang="en-US"/>
          </a:p>
        </p:txBody>
      </p:sp>
    </p:spTree>
    <p:extLst>
      <p:ext uri="{BB962C8B-B14F-4D97-AF65-F5344CB8AC3E}">
        <p14:creationId xmlns:p14="http://schemas.microsoft.com/office/powerpoint/2010/main" val="3375029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2290"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0" lvl="2"/>
            <a:r>
              <a:rPr lang="en-US" dirty="0"/>
              <a:t>Consider the diagram below, which shows the graphical representation of a negative externality problem using a polluting factory as an example. The horizontal axis or x-axis measures the amount of output produced by the polluting factory and the vertical axis or the y-axis measures monetary units. The marginal benefit curve (MB) represents the marginal benefit of the factory for each level of </a:t>
            </a:r>
            <a:r>
              <a:rPr lang="en-US" i="1" u="sng" dirty="0">
                <a:hlinkClick r:id="rId3" tooltip="Production"/>
              </a:rPr>
              <a:t>production</a:t>
            </a:r>
            <a:r>
              <a:rPr lang="en-US" dirty="0"/>
              <a:t> which declines as the amount of output increases. The marginal private cost curve (MPC) shows the </a:t>
            </a:r>
            <a:r>
              <a:rPr lang="en-US" i="1" u="sng" dirty="0">
                <a:hlinkClick r:id="rId4" tooltip="Average and marginal cost"/>
              </a:rPr>
              <a:t>marginal cost</a:t>
            </a:r>
            <a:r>
              <a:rPr lang="en-US" dirty="0"/>
              <a:t> of the factory as output rises. The more the factory produces, the more it pollutes and hence the bigger the negative effects, which is represented by the marginal damage curve (MD). Lastly, the marginal social cost (MSC) represents the total marginal cost for the whole society, and is constructed by adding together the private costs (which directly translate to higher prices) and social costs.</a:t>
            </a:r>
          </a:p>
          <a:p>
            <a:pPr fontAlgn="base"/>
            <a:r>
              <a:rPr lang="en-US" dirty="0"/>
              <a:t>In this scenario, we have a negative externality equal to E, and the </a:t>
            </a:r>
            <a:r>
              <a:rPr lang="en-US" i="1" u="sng" dirty="0">
                <a:hlinkClick r:id="rId5" tooltip="Supply and demand"/>
              </a:rPr>
              <a:t>equilibrium</a:t>
            </a:r>
            <a:r>
              <a:rPr lang="en-US" dirty="0"/>
              <a:t> is set at an output level of </a:t>
            </a:r>
            <a:r>
              <a:rPr lang="en-US" dirty="0" err="1"/>
              <a:t>Q</a:t>
            </a:r>
            <a:r>
              <a:rPr lang="en-US" baseline="-25000" dirty="0" err="1"/>
              <a:t>A</a:t>
            </a:r>
            <a:r>
              <a:rPr lang="en-US" dirty="0" err="1"/>
              <a:t>at</a:t>
            </a:r>
            <a:r>
              <a:rPr lang="en-US" dirty="0"/>
              <a:t> a price P</a:t>
            </a:r>
            <a:r>
              <a:rPr lang="en-US" baseline="-25000" dirty="0"/>
              <a:t>A</a:t>
            </a:r>
            <a:r>
              <a:rPr lang="en-US" dirty="0"/>
              <a:t>. A Pigouvian tax could be imposed, in order to eliminate such negative externality. This tax would decrease the output produced to Q</a:t>
            </a:r>
            <a:r>
              <a:rPr lang="en-US" baseline="-25000" dirty="0"/>
              <a:t>S</a:t>
            </a:r>
            <a:r>
              <a:rPr lang="en-US" dirty="0"/>
              <a:t>, and increase price to P</a:t>
            </a:r>
            <a:r>
              <a:rPr lang="en-US" baseline="-25000" dirty="0"/>
              <a:t>S</a:t>
            </a:r>
            <a:r>
              <a:rPr lang="en-US" dirty="0"/>
              <a:t>, being this a </a:t>
            </a:r>
            <a:r>
              <a:rPr lang="en-US" i="1" u="sng" dirty="0"/>
              <a:t>socially efficient equilibrium.</a:t>
            </a:r>
            <a:endParaRPr lang="en-US" altLang="en-US" sz="900" dirty="0">
              <a:ea typeface="ＭＳ Ｐゴシック" pitchFamily="34" charset="-128"/>
            </a:endParaRPr>
          </a:p>
        </p:txBody>
      </p:sp>
      <p:sp>
        <p:nvSpPr>
          <p:cNvPr id="12291"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A658B072-BA5A-4D83-8612-6DF168257418}" type="slidenum">
              <a:rPr lang="en-US" altLang="en-US" sz="1200"/>
              <a:pPr/>
              <a:t>15</a:t>
            </a:fld>
            <a:endParaRPr lang="en-US" altLang="en-US" sz="1200"/>
          </a:p>
        </p:txBody>
      </p:sp>
    </p:spTree>
    <p:extLst>
      <p:ext uri="{BB962C8B-B14F-4D97-AF65-F5344CB8AC3E}">
        <p14:creationId xmlns:p14="http://schemas.microsoft.com/office/powerpoint/2010/main" val="4144528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Pigouvian taxes alter firm’s decision to produce by increasing their costs and lowering profits. Tax can be levied on producers or consumers. Either way it reduces demand for the good. Example is tobacco tax. Tariffs can be viewed as a form of Pigouvian</a:t>
            </a:r>
            <a:r>
              <a:rPr lang="en-US" baseline="0" dirty="0"/>
              <a:t> tax on imported goods. In this case, the tax is designed to make foreign goods more expensive in comparison with domestic goods. In an earlier era, this was more feasible and effective than today.</a:t>
            </a:r>
            <a:endParaRPr lang="en-US" dirty="0"/>
          </a:p>
          <a:p>
            <a:endParaRPr lang="en-US" dirty="0"/>
          </a:p>
          <a:p>
            <a:r>
              <a:rPr lang="en-US" dirty="0"/>
              <a:t>Alternatively, government can pay firms to produce less or install machinery that reduces the amount of pollution emitted.</a:t>
            </a:r>
          </a:p>
        </p:txBody>
      </p:sp>
      <p:sp>
        <p:nvSpPr>
          <p:cNvPr id="4" name="Slide Number Placeholder 3"/>
          <p:cNvSpPr>
            <a:spLocks noGrp="1"/>
          </p:cNvSpPr>
          <p:nvPr>
            <p:ph type="sldNum" sz="quarter" idx="10"/>
          </p:nvPr>
        </p:nvSpPr>
        <p:spPr/>
        <p:txBody>
          <a:bodyPr/>
          <a:lstStyle/>
          <a:p>
            <a:fld id="{F7236705-BA94-4057-A726-5C5AE0E287E6}" type="slidenum">
              <a:rPr lang="en-US" smtClean="0"/>
              <a:t>16</a:t>
            </a:fld>
            <a:endParaRPr lang="en-US"/>
          </a:p>
        </p:txBody>
      </p:sp>
    </p:spTree>
    <p:extLst>
      <p:ext uri="{BB962C8B-B14F-4D97-AF65-F5344CB8AC3E}">
        <p14:creationId xmlns:p14="http://schemas.microsoft.com/office/powerpoint/2010/main" val="6478383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4338"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0" lvl="2" eaLnBrk="1" hangingPunct="1"/>
            <a:r>
              <a:rPr lang="en-US" altLang="en-US" sz="900" dirty="0">
                <a:ea typeface="ＭＳ Ｐゴシック" pitchFamily="34" charset="-128"/>
              </a:rPr>
              <a:t>Assumes a fixed marginal social cost of pollution and rising costs of pollution abatement. </a:t>
            </a:r>
          </a:p>
        </p:txBody>
      </p:sp>
      <p:sp>
        <p:nvSpPr>
          <p:cNvPr id="14339"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5F935C07-08C0-4C58-9BF9-EB3144B3FFAA}" type="slidenum">
              <a:rPr lang="en-US" altLang="en-US" sz="1200"/>
              <a:pPr/>
              <a:t>17</a:t>
            </a:fld>
            <a:endParaRPr lang="en-US" altLang="en-US" sz="1200"/>
          </a:p>
        </p:txBody>
      </p:sp>
    </p:spTree>
    <p:extLst>
      <p:ext uri="{BB962C8B-B14F-4D97-AF65-F5344CB8AC3E}">
        <p14:creationId xmlns:p14="http://schemas.microsoft.com/office/powerpoint/2010/main" val="2949679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a:t>
            </a:r>
            <a:r>
              <a:rPr lang="en-US" baseline="0"/>
              <a:t> the market price, the quantity demanded does not take account of the social price. In order to bring the quantity into line with social costs, a tax equal to social cost must be imposed.  This is represented by the Orange  line. The Orange line intersects the demand at Q</a:t>
            </a:r>
            <a:r>
              <a:rPr lang="en-US" baseline="-25000"/>
              <a:t>efficient</a:t>
            </a:r>
            <a:r>
              <a:rPr lang="en-US" baseline="0"/>
              <a:t> . This results in a socially efficient level of femand.</a:t>
            </a:r>
            <a:endParaRPr lang="en-US"/>
          </a:p>
        </p:txBody>
      </p:sp>
      <p:sp>
        <p:nvSpPr>
          <p:cNvPr id="4" name="Slide Number Placeholder 3"/>
          <p:cNvSpPr>
            <a:spLocks noGrp="1"/>
          </p:cNvSpPr>
          <p:nvPr>
            <p:ph type="sldNum" sz="quarter" idx="10"/>
          </p:nvPr>
        </p:nvSpPr>
        <p:spPr/>
        <p:txBody>
          <a:bodyPr/>
          <a:lstStyle/>
          <a:p>
            <a:fld id="{F7236705-BA94-4057-A726-5C5AE0E287E6}" type="slidenum">
              <a:rPr lang="en-US" smtClean="0"/>
              <a:t>18</a:t>
            </a:fld>
            <a:endParaRPr lang="en-US"/>
          </a:p>
        </p:txBody>
      </p:sp>
    </p:spTree>
    <p:extLst>
      <p:ext uri="{BB962C8B-B14F-4D97-AF65-F5344CB8AC3E}">
        <p14:creationId xmlns:p14="http://schemas.microsoft.com/office/powerpoint/2010/main" val="13941003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Pigouvian subsidy. </a:t>
            </a:r>
            <a:r>
              <a:rPr lang="en-US" sz="1200" b="0" i="0" kern="1200" dirty="0">
                <a:solidFill>
                  <a:schemeClr val="tx1"/>
                </a:solidFill>
                <a:effectLst/>
                <a:latin typeface="+mn-lt"/>
                <a:ea typeface="+mn-ea"/>
                <a:cs typeface="+mn-cs"/>
              </a:rPr>
              <a:t>Whereas </a:t>
            </a:r>
            <a:r>
              <a:rPr lang="en-US" sz="1200" b="0" i="0" kern="1200" dirty="0" err="1">
                <a:solidFill>
                  <a:schemeClr val="tx1"/>
                </a:solidFill>
                <a:effectLst/>
                <a:latin typeface="+mn-lt"/>
                <a:ea typeface="+mn-ea"/>
                <a:cs typeface="+mn-cs"/>
              </a:rPr>
              <a:t>pigouvian</a:t>
            </a:r>
            <a:r>
              <a:rPr lang="en-US" sz="1200" b="0" i="0" kern="1200" dirty="0">
                <a:solidFill>
                  <a:schemeClr val="tx1"/>
                </a:solidFill>
                <a:effectLst/>
                <a:latin typeface="+mn-lt"/>
                <a:ea typeface="+mn-ea"/>
                <a:cs typeface="+mn-cs"/>
              </a:rPr>
              <a:t> taxes are meant to discourage causing </a:t>
            </a:r>
            <a:r>
              <a:rPr lang="en-US" sz="1200" b="0" i="1" kern="1200" dirty="0">
                <a:solidFill>
                  <a:schemeClr val="tx1"/>
                </a:solidFill>
                <a:effectLst/>
                <a:latin typeface="+mn-lt"/>
                <a:ea typeface="+mn-ea"/>
                <a:cs typeface="+mn-cs"/>
              </a:rPr>
              <a:t>negative </a:t>
            </a:r>
            <a:r>
              <a:rPr lang="en-US" sz="1200" b="0" i="0" kern="1200" dirty="0">
                <a:solidFill>
                  <a:schemeClr val="tx1"/>
                </a:solidFill>
                <a:effectLst/>
                <a:latin typeface="+mn-lt"/>
                <a:ea typeface="+mn-ea"/>
                <a:cs typeface="+mn-cs"/>
              </a:rPr>
              <a:t>externalities, a </a:t>
            </a:r>
            <a:r>
              <a:rPr lang="en-US" sz="1200" b="0" i="0" kern="1200" dirty="0" err="1">
                <a:solidFill>
                  <a:schemeClr val="tx1"/>
                </a:solidFill>
                <a:effectLst/>
                <a:latin typeface="+mn-lt"/>
                <a:ea typeface="+mn-ea"/>
                <a:cs typeface="+mn-cs"/>
              </a:rPr>
              <a:t>pigouvian</a:t>
            </a:r>
            <a:r>
              <a:rPr lang="en-US" sz="1200" b="0" i="0" kern="1200" dirty="0">
                <a:solidFill>
                  <a:schemeClr val="tx1"/>
                </a:solidFill>
                <a:effectLst/>
                <a:latin typeface="+mn-lt"/>
                <a:ea typeface="+mn-ea"/>
                <a:cs typeface="+mn-cs"/>
              </a:rPr>
              <a:t> subsidy would be a reward for creating </a:t>
            </a:r>
            <a:r>
              <a:rPr lang="en-US" sz="1200" b="0" i="1" kern="1200" dirty="0">
                <a:solidFill>
                  <a:schemeClr val="tx1"/>
                </a:solidFill>
                <a:effectLst/>
                <a:latin typeface="+mn-lt"/>
                <a:ea typeface="+mn-ea"/>
                <a:cs typeface="+mn-cs"/>
              </a:rPr>
              <a:t>positive </a:t>
            </a:r>
            <a:r>
              <a:rPr lang="en-US" sz="1200" b="0" i="0" kern="1200" dirty="0">
                <a:solidFill>
                  <a:schemeClr val="tx1"/>
                </a:solidFill>
                <a:effectLst/>
                <a:latin typeface="+mn-lt"/>
                <a:ea typeface="+mn-ea"/>
                <a:cs typeface="+mn-cs"/>
              </a:rPr>
              <a:t>externalities. </a:t>
            </a:r>
          </a:p>
          <a:p>
            <a:r>
              <a:rPr lang="en-US" sz="1200" b="0" i="0" kern="1200" dirty="0" err="1">
                <a:solidFill>
                  <a:schemeClr val="tx1"/>
                </a:solidFill>
                <a:effectLst/>
                <a:latin typeface="+mn-lt"/>
                <a:ea typeface="+mn-ea"/>
                <a:cs typeface="+mn-cs"/>
              </a:rPr>
              <a:t>One</a:t>
            </a:r>
            <a:r>
              <a:rPr lang="en-US" sz="1200" b="0" i="0" kern="1200" dirty="0">
                <a:solidFill>
                  <a:schemeClr val="tx1"/>
                </a:solidFill>
                <a:effectLst/>
                <a:latin typeface="+mn-lt"/>
                <a:ea typeface="+mn-ea"/>
                <a:cs typeface="+mn-cs"/>
              </a:rPr>
              <a:t> way to do this is the government would create an incentive for creating positive externalities by offering monetary rewards. Though entrepreneurs cannot still charge their “consumer”, they get at least an opportunity to make money from their activities. Needless to say some checks should be implemented to prevent abuse of such subsidies.</a:t>
            </a:r>
            <a:endParaRPr lang="en-US" dirty="0"/>
          </a:p>
        </p:txBody>
      </p:sp>
      <p:sp>
        <p:nvSpPr>
          <p:cNvPr id="4" name="Slide Number Placeholder 3"/>
          <p:cNvSpPr>
            <a:spLocks noGrp="1"/>
          </p:cNvSpPr>
          <p:nvPr>
            <p:ph type="sldNum" sz="quarter" idx="10"/>
          </p:nvPr>
        </p:nvSpPr>
        <p:spPr/>
        <p:txBody>
          <a:bodyPr/>
          <a:lstStyle/>
          <a:p>
            <a:fld id="{F7236705-BA94-4057-A726-5C5AE0E287E6}" type="slidenum">
              <a:rPr lang="en-US" smtClean="0"/>
              <a:t>19</a:t>
            </a:fld>
            <a:endParaRPr lang="en-US"/>
          </a:p>
        </p:txBody>
      </p:sp>
    </p:spTree>
    <p:extLst>
      <p:ext uri="{BB962C8B-B14F-4D97-AF65-F5344CB8AC3E}">
        <p14:creationId xmlns:p14="http://schemas.microsoft.com/office/powerpoint/2010/main" val="40220573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6386"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0" lvl="2" eaLnBrk="1" hangingPunct="1"/>
            <a:r>
              <a:rPr lang="en-US" altLang="en-US" sz="900" dirty="0">
                <a:ea typeface="ＭＳ Ｐゴシック" pitchFamily="34" charset="-128"/>
              </a:rPr>
              <a:t>As pollution decreases, the marginal social benefit from further pollution abatement decreases. In this graph, we assume that marginal costs are constant.</a:t>
            </a:r>
          </a:p>
          <a:p>
            <a:pPr marL="0" lvl="2" eaLnBrk="1" hangingPunct="1"/>
            <a:endParaRPr lang="en-US" altLang="en-US" sz="900" dirty="0">
              <a:ea typeface="ＭＳ Ｐゴシック" pitchFamily="34" charset="-128"/>
            </a:endParaRPr>
          </a:p>
          <a:p>
            <a:pPr marL="0" lvl="2" eaLnBrk="1" hangingPunct="1"/>
            <a:r>
              <a:rPr lang="en-US" altLang="en-US" sz="900" dirty="0">
                <a:ea typeface="ＭＳ Ｐゴシック" pitchFamily="34" charset="-128"/>
              </a:rPr>
              <a:t>In this graph, the MC curve represents the private demand for pollution abatement, which is socially inefficient because it’s too low. MSB represents the social demand for pollution abatement. By lowering the price for the firm of purchasing pollution abatement equipment, it decreases</a:t>
            </a:r>
            <a:r>
              <a:rPr lang="en-US" altLang="en-US" sz="900" baseline="0" dirty="0">
                <a:ea typeface="ＭＳ Ｐゴシック" pitchFamily="34" charset="-128"/>
              </a:rPr>
              <a:t> the MC and increases consumption (the firm purchases more of it). Now the quantity demanded is more in line with the MSB. However, it is still not at Q</a:t>
            </a:r>
            <a:r>
              <a:rPr lang="en-US" altLang="en-US" sz="900" baseline="-25000" dirty="0">
                <a:ea typeface="ＭＳ Ｐゴシック" pitchFamily="34" charset="-128"/>
              </a:rPr>
              <a:t>E</a:t>
            </a:r>
            <a:r>
              <a:rPr lang="en-US" altLang="en-US" sz="900" baseline="0" dirty="0">
                <a:ea typeface="ＭＳ Ｐゴシック" pitchFamily="34" charset="-128"/>
              </a:rPr>
              <a:t> But this unfortunately is not the end of the story!</a:t>
            </a:r>
            <a:endParaRPr lang="en-US" altLang="en-US" sz="900" dirty="0">
              <a:ea typeface="ＭＳ Ｐゴシック" pitchFamily="34" charset="-128"/>
            </a:endParaRPr>
          </a:p>
        </p:txBody>
      </p:sp>
      <p:sp>
        <p:nvSpPr>
          <p:cNvPr id="16387"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6965214C-9DCF-46AF-8FB0-9C7E66FF0BE8}" type="slidenum">
              <a:rPr lang="en-US" altLang="en-US" sz="1200"/>
              <a:pPr/>
              <a:t>20</a:t>
            </a:fld>
            <a:endParaRPr lang="en-US" altLang="en-US" sz="1200"/>
          </a:p>
        </p:txBody>
      </p:sp>
    </p:spTree>
    <p:extLst>
      <p:ext uri="{BB962C8B-B14F-4D97-AF65-F5344CB8AC3E}">
        <p14:creationId xmlns:p14="http://schemas.microsoft.com/office/powerpoint/2010/main" val="17959087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Public subsidies require additional costs in the form of administration</a:t>
            </a:r>
            <a:r>
              <a:rPr lang="en-US" baseline="0" dirty="0"/>
              <a:t> of the tax required to support the subsidy. As the subsidy increases with firm’s output so too do the deadweight loss associated with the subsidy. Therefore, a tax is more efficient that a Pigouvian subsidy. </a:t>
            </a:r>
            <a:endParaRPr lang="en-US" dirty="0"/>
          </a:p>
        </p:txBody>
      </p:sp>
      <p:sp>
        <p:nvSpPr>
          <p:cNvPr id="4" name="Slide Number Placeholder 3"/>
          <p:cNvSpPr>
            <a:spLocks noGrp="1"/>
          </p:cNvSpPr>
          <p:nvPr>
            <p:ph type="sldNum" sz="quarter" idx="10"/>
          </p:nvPr>
        </p:nvSpPr>
        <p:spPr/>
        <p:txBody>
          <a:bodyPr/>
          <a:lstStyle/>
          <a:p>
            <a:fld id="{F7236705-BA94-4057-A726-5C5AE0E287E6}" type="slidenum">
              <a:rPr lang="en-US" smtClean="0"/>
              <a:t>21</a:t>
            </a:fld>
            <a:endParaRPr lang="en-US"/>
          </a:p>
        </p:txBody>
      </p:sp>
    </p:spTree>
    <p:extLst>
      <p:ext uri="{BB962C8B-B14F-4D97-AF65-F5344CB8AC3E}">
        <p14:creationId xmlns:p14="http://schemas.microsoft.com/office/powerpoint/2010/main" val="6419145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8434"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0" lvl="2" eaLnBrk="1" hangingPunct="1"/>
            <a:endParaRPr lang="en-US" altLang="en-US" sz="900" dirty="0">
              <a:ea typeface="ＭＳ Ｐゴシック" pitchFamily="34" charset="-128"/>
            </a:endParaRPr>
          </a:p>
        </p:txBody>
      </p:sp>
      <p:sp>
        <p:nvSpPr>
          <p:cNvPr id="18435"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511197B0-A6BB-4BFA-BA50-E051FDDF61E7}" type="slidenum">
              <a:rPr lang="en-US" altLang="en-US" sz="1200"/>
              <a:pPr/>
              <a:t>22</a:t>
            </a:fld>
            <a:endParaRPr lang="en-US" altLang="en-US" sz="1200"/>
          </a:p>
        </p:txBody>
      </p:sp>
    </p:spTree>
    <p:extLst>
      <p:ext uri="{BB962C8B-B14F-4D97-AF65-F5344CB8AC3E}">
        <p14:creationId xmlns:p14="http://schemas.microsoft.com/office/powerpoint/2010/main" val="2863908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Coase’s Theorem implies that government action is not always necessary, at least in theory.</a:t>
            </a:r>
          </a:p>
        </p:txBody>
      </p:sp>
      <p:sp>
        <p:nvSpPr>
          <p:cNvPr id="4" name="Slide Number Placeholder 3"/>
          <p:cNvSpPr>
            <a:spLocks noGrp="1"/>
          </p:cNvSpPr>
          <p:nvPr>
            <p:ph type="sldNum" sz="quarter" idx="10"/>
          </p:nvPr>
        </p:nvSpPr>
        <p:spPr/>
        <p:txBody>
          <a:bodyPr/>
          <a:lstStyle/>
          <a:p>
            <a:fld id="{F7236705-BA94-4057-A726-5C5AE0E287E6}" type="slidenum">
              <a:rPr lang="en-US" smtClean="0"/>
              <a:t>23</a:t>
            </a:fld>
            <a:endParaRPr lang="en-US"/>
          </a:p>
        </p:txBody>
      </p:sp>
    </p:spTree>
    <p:extLst>
      <p:ext uri="{BB962C8B-B14F-4D97-AF65-F5344CB8AC3E}">
        <p14:creationId xmlns:p14="http://schemas.microsoft.com/office/powerpoint/2010/main" val="24471002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a:t>
            </a:r>
            <a:r>
              <a:rPr lang="en-US" baseline="0"/>
              <a:t> this example, the fishermen own the property rights to use of the stream and are able to charge the steel company for its use. Again, this is how externalities can be internalized, in theory.  </a:t>
            </a:r>
          </a:p>
          <a:p>
            <a:endParaRPr lang="en-US" dirty="0">
              <a:cs typeface="Calibri"/>
            </a:endParaRPr>
          </a:p>
          <a:p>
            <a:r>
              <a:rPr lang="en-US">
                <a:cs typeface="Calibri"/>
              </a:rPr>
              <a:t>In practice, the allocation of property rights in this way may be difficult to achieve. Property rights are not always allocated in the public interest.</a:t>
            </a:r>
            <a:endParaRPr lang="en-US" dirty="0">
              <a:cs typeface="Calibri"/>
            </a:endParaRPr>
          </a:p>
        </p:txBody>
      </p:sp>
      <p:sp>
        <p:nvSpPr>
          <p:cNvPr id="4" name="Slide Number Placeholder 3"/>
          <p:cNvSpPr>
            <a:spLocks noGrp="1"/>
          </p:cNvSpPr>
          <p:nvPr>
            <p:ph type="sldNum" sz="quarter" idx="10"/>
          </p:nvPr>
        </p:nvSpPr>
        <p:spPr/>
        <p:txBody>
          <a:bodyPr/>
          <a:lstStyle/>
          <a:p>
            <a:fld id="{F7236705-BA94-4057-A726-5C5AE0E287E6}" type="slidenum">
              <a:rPr lang="en-US" smtClean="0"/>
              <a:t>24</a:t>
            </a:fld>
            <a:endParaRPr lang="en-US"/>
          </a:p>
        </p:txBody>
      </p:sp>
    </p:spTree>
    <p:extLst>
      <p:ext uri="{BB962C8B-B14F-4D97-AF65-F5344CB8AC3E}">
        <p14:creationId xmlns:p14="http://schemas.microsoft.com/office/powerpoint/2010/main" val="27151875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Why is coercion a bad thing from an economics perspective? Because it imposes costs on the coercee. It is inefficient.</a:t>
            </a:r>
            <a:endParaRPr lang="en-US" dirty="0">
              <a:cs typeface="Calibri"/>
            </a:endParaRPr>
          </a:p>
        </p:txBody>
      </p:sp>
      <p:sp>
        <p:nvSpPr>
          <p:cNvPr id="4" name="Slide Number Placeholder 3"/>
          <p:cNvSpPr>
            <a:spLocks noGrp="1"/>
          </p:cNvSpPr>
          <p:nvPr>
            <p:ph type="sldNum" sz="quarter" idx="5"/>
          </p:nvPr>
        </p:nvSpPr>
        <p:spPr/>
        <p:txBody>
          <a:bodyPr/>
          <a:lstStyle/>
          <a:p>
            <a:fld id="{F7236705-BA94-4057-A726-5C5AE0E287E6}" type="slidenum">
              <a:rPr lang="en-US" smtClean="0"/>
              <a:t>25</a:t>
            </a:fld>
            <a:endParaRPr lang="en-US"/>
          </a:p>
        </p:txBody>
      </p:sp>
    </p:spTree>
    <p:extLst>
      <p:ext uri="{BB962C8B-B14F-4D97-AF65-F5344CB8AC3E}">
        <p14:creationId xmlns:p14="http://schemas.microsoft.com/office/powerpoint/2010/main" val="1237340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dirty="0"/>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053625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p:cNvSpPr>
            <a:spLocks noGrp="1"/>
          </p:cNvSpPr>
          <p:nvPr>
            <p:ph type="dt" sz="half" idx="10"/>
          </p:nvPr>
        </p:nvSpPr>
        <p:spPr/>
        <p:txBody>
          <a:bodyPr/>
          <a:lstStyle/>
          <a:p>
            <a:fld id="{4509A250-FF31-4206-8172-F9D3106AACB1}" type="datetimeFigureOut">
              <a:rPr lang="en-US" dirty="0"/>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878594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926661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796027F-7875-4030-9381-8BD8C4F21935}" type="datetimeFigureOut">
              <a:rPr lang="en-US" dirty="0"/>
              <a:t>2/24/2020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148965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796027F-7875-4030-9381-8BD8C4F21935}" type="datetimeFigureOut">
              <a:rPr lang="en-US" dirty="0"/>
              <a:t>2/24/2020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416295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2/24/2020</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941405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2/24/2020</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982508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dirty="0"/>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2/24/2020</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274902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dirty="0"/>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2/24/2020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437608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2/24/2020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295916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dirty="0"/>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559148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dirty="0"/>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dirty="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3650214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108684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2/24/2020</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6875987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2/24/2020</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119880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2864040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dirty="0"/>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2/24/2020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799413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2/24/2020</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3466753143"/>
      </p:ext>
    </p:extLst>
  </p:cSld>
  <p:clrMap bg1="dk1" tx1="lt1" bg2="dk2" tx2="lt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 id="2147483883" r:id="rId12"/>
    <p:sldLayoutId id="2147483884" r:id="rId13"/>
    <p:sldLayoutId id="2147483885" r:id="rId14"/>
    <p:sldLayoutId id="2147483886" r:id="rId15"/>
    <p:sldLayoutId id="2147483887" r:id="rId16"/>
    <p:sldLayoutId id="2147483888"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C7I7AgpPOB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youtube.com/watch?time_continue=22&amp;v=jGOf6GHSigc&amp;feature=emb_title"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CxC161GvMPc"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Theory of Public finance</a:t>
            </a:r>
          </a:p>
        </p:txBody>
      </p:sp>
      <p:sp>
        <p:nvSpPr>
          <p:cNvPr id="3" name="Subtitle 2"/>
          <p:cNvSpPr>
            <a:spLocks noGrp="1"/>
          </p:cNvSpPr>
          <p:nvPr>
            <p:ph type="subTitle" idx="1"/>
          </p:nvPr>
        </p:nvSpPr>
        <p:spPr/>
        <p:txBody>
          <a:bodyPr/>
          <a:lstStyle/>
          <a:p>
            <a:r>
              <a:rPr lang="en-US" dirty="0"/>
              <a:t>Week 5</a:t>
            </a:r>
          </a:p>
        </p:txBody>
      </p:sp>
    </p:spTree>
    <p:extLst>
      <p:ext uri="{BB962C8B-B14F-4D97-AF65-F5344CB8AC3E}">
        <p14:creationId xmlns:p14="http://schemas.microsoft.com/office/powerpoint/2010/main" val="1665591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88502-290D-40B7-82F9-F11F216487DC}"/>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295D69E6-DB36-4755-9A33-AC8F7AE12CF7}"/>
              </a:ext>
            </a:extLst>
          </p:cNvPr>
          <p:cNvSpPr>
            <a:spLocks noGrp="1"/>
          </p:cNvSpPr>
          <p:nvPr>
            <p:ph idx="1"/>
          </p:nvPr>
        </p:nvSpPr>
        <p:spPr/>
        <p:txBody>
          <a:bodyPr vert="horz" lIns="91440" tIns="45720" rIns="91440" bIns="45720" rtlCol="0" anchor="t">
            <a:normAutofit/>
          </a:bodyPr>
          <a:lstStyle/>
          <a:p>
            <a:r>
              <a:rPr lang="en-US" dirty="0"/>
              <a:t>Finish production efficiency.</a:t>
            </a:r>
          </a:p>
          <a:p>
            <a:r>
              <a:rPr lang="en-US" dirty="0"/>
              <a:t>Review pure public goods vs. Private goods.</a:t>
            </a:r>
          </a:p>
          <a:p>
            <a:r>
              <a:rPr lang="en-US" dirty="0"/>
              <a:t>Pure Public Goods vs. Impure Public Goods.</a:t>
            </a:r>
          </a:p>
          <a:p>
            <a:r>
              <a:rPr lang="en-US" dirty="0"/>
              <a:t>Externalities</a:t>
            </a:r>
          </a:p>
          <a:p>
            <a:pPr lvl="1"/>
            <a:r>
              <a:rPr lang="en-US" dirty="0"/>
              <a:t>Positive vs. Negative</a:t>
            </a:r>
          </a:p>
          <a:p>
            <a:r>
              <a:rPr lang="en-US" dirty="0"/>
              <a:t>Common resource problem.</a:t>
            </a:r>
          </a:p>
          <a:p>
            <a:r>
              <a:rPr lang="en-US" dirty="0"/>
              <a:t>Addressing negative externalities.</a:t>
            </a:r>
          </a:p>
          <a:p>
            <a:pPr lvl="1"/>
            <a:r>
              <a:rPr lang="en-US" dirty="0"/>
              <a:t>Pigouvian taxes.</a:t>
            </a:r>
          </a:p>
          <a:p>
            <a:r>
              <a:rPr lang="en-US" dirty="0"/>
              <a:t>Subsidies.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9C95CA4-C48D-4866-90F1-D75DE6B572EA}"/>
              </a:ext>
            </a:extLst>
          </p:cNvPr>
          <p:cNvSpPr>
            <a:spLocks noGrp="1"/>
          </p:cNvSpPr>
          <p:nvPr>
            <p:ph type="sldNum" sz="quarter" idx="12"/>
          </p:nvPr>
        </p:nvSpPr>
        <p:spPr/>
        <p:txBody>
          <a:bodyPr/>
          <a:lstStyle/>
          <a:p>
            <a:fld id="{98BA2A1B-C4DB-4748-B560-E3B8550C6AD3}" type="slidenum">
              <a:rPr lang="en-US"/>
              <a:pPr/>
              <a:t>2</a:t>
            </a:fld>
            <a:endParaRPr lang="en-US"/>
          </a:p>
        </p:txBody>
      </p:sp>
    </p:spTree>
    <p:extLst>
      <p:ext uri="{BB962C8B-B14F-4D97-AF65-F5344CB8AC3E}">
        <p14:creationId xmlns:p14="http://schemas.microsoft.com/office/powerpoint/2010/main" val="1481638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Market Failure</a:t>
            </a:r>
          </a:p>
        </p:txBody>
      </p:sp>
      <p:sp>
        <p:nvSpPr>
          <p:cNvPr id="9" name="Content Placeholder 8"/>
          <p:cNvSpPr>
            <a:spLocks noGrp="1"/>
          </p:cNvSpPr>
          <p:nvPr>
            <p:ph sz="half" idx="1"/>
          </p:nvPr>
        </p:nvSpPr>
        <p:spPr/>
        <p:txBody>
          <a:bodyPr vert="horz" lIns="91440" tIns="45720" rIns="91440" bIns="45720" rtlCol="0" anchor="t">
            <a:normAutofit/>
          </a:bodyPr>
          <a:lstStyle/>
          <a:p>
            <a:r>
              <a:rPr lang="en-US" dirty="0"/>
              <a:t>We’ve outlined why markets lead to Pareto efficient outcomes...but markets don’t always work the way they should.</a:t>
            </a:r>
          </a:p>
          <a:p>
            <a:pPr lvl="1"/>
            <a:r>
              <a:rPr lang="en-US" dirty="0"/>
              <a:t>This week we will examine externalities, a large class of market failures.</a:t>
            </a:r>
          </a:p>
          <a:p>
            <a:r>
              <a:rPr lang="en-US" dirty="0"/>
              <a:t>When a market fails, it no longer produces an efficient outcome.</a:t>
            </a:r>
          </a:p>
          <a:p>
            <a:r>
              <a:rPr lang="en-US" dirty="0"/>
              <a:t>Pareto optimality isn't met so that it becomes possible to make one person better off without making someone else worse off.</a:t>
            </a:r>
          </a:p>
        </p:txBody>
      </p:sp>
      <p:pic>
        <p:nvPicPr>
          <p:cNvPr id="11" name="Content Placeholder 10" descr="market-forces.jpg"/>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654675" y="2458231"/>
            <a:ext cx="4395788" cy="3395688"/>
          </a:xfrm>
        </p:spPr>
      </p:pic>
      <p:sp>
        <p:nvSpPr>
          <p:cNvPr id="2" name="Slide Number Placeholder 1"/>
          <p:cNvSpPr>
            <a:spLocks noGrp="1"/>
          </p:cNvSpPr>
          <p:nvPr>
            <p:ph type="sldNum" sz="quarter" idx="12"/>
          </p:nvPr>
        </p:nvSpPr>
        <p:spPr/>
        <p:txBody>
          <a:bodyPr/>
          <a:lstStyle/>
          <a:p>
            <a:fld id="{C0D706F6-AB59-BF4B-8C73-057DCCE535BB}" type="slidenum">
              <a:rPr lang="en-US"/>
              <a:pPr/>
              <a:t>3</a:t>
            </a:fld>
            <a:endParaRPr lang="en-US"/>
          </a:p>
        </p:txBody>
      </p:sp>
    </p:spTree>
    <p:extLst>
      <p:ext uri="{BB962C8B-B14F-4D97-AF65-F5344CB8AC3E}">
        <p14:creationId xmlns:p14="http://schemas.microsoft.com/office/powerpoint/2010/main" val="2907932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Good Market </a:t>
            </a:r>
          </a:p>
        </p:txBody>
      </p:sp>
      <p:pic>
        <p:nvPicPr>
          <p:cNvPr id="13" name="Content Placeholder 12" descr="1326_Inefficient Provision of Public Goods.png"/>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61831" y="2573911"/>
            <a:ext cx="5830114" cy="3153215"/>
          </a:xfrm>
        </p:spPr>
      </p:pic>
      <p:sp>
        <p:nvSpPr>
          <p:cNvPr id="3" name="Slide Number Placeholder 2"/>
          <p:cNvSpPr>
            <a:spLocks noGrp="1"/>
          </p:cNvSpPr>
          <p:nvPr>
            <p:ph type="sldNum" sz="quarter" idx="12"/>
          </p:nvPr>
        </p:nvSpPr>
        <p:spPr/>
        <p:txBody>
          <a:bodyPr/>
          <a:lstStyle/>
          <a:p>
            <a:fld id="{98BA2A1B-C4DB-4748-B560-E3B8550C6AD3}" type="slidenum">
              <a:rPr lang="en-US"/>
              <a:pPr/>
              <a:t>4</a:t>
            </a:fld>
            <a:endParaRPr lang="en-US"/>
          </a:p>
        </p:txBody>
      </p:sp>
    </p:spTree>
    <p:extLst>
      <p:ext uri="{BB962C8B-B14F-4D97-AF65-F5344CB8AC3E}">
        <p14:creationId xmlns:p14="http://schemas.microsoft.com/office/powerpoint/2010/main" val="1738216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LOGIC OF PUBLIC ECONOMICS	</a:t>
            </a:r>
          </a:p>
        </p:txBody>
      </p:sp>
      <p:sp>
        <p:nvSpPr>
          <p:cNvPr id="3" name="Content Placeholder 2"/>
          <p:cNvSpPr>
            <a:spLocks noGrp="1"/>
          </p:cNvSpPr>
          <p:nvPr>
            <p:ph idx="1"/>
          </p:nvPr>
        </p:nvSpPr>
        <p:spPr/>
        <p:txBody>
          <a:bodyPr vert="horz" lIns="91440" tIns="45720" rIns="91440" bIns="45720" rtlCol="0" anchor="t">
            <a:normAutofit/>
          </a:bodyPr>
          <a:lstStyle/>
          <a:p>
            <a:r>
              <a:rPr lang="en-US" dirty="0"/>
              <a:t>A theoretical approach to any public policy problem.</a:t>
            </a:r>
          </a:p>
          <a:p>
            <a:r>
              <a:rPr lang="en-US" dirty="0"/>
              <a:t>Who receives the benefits and who bears the costs in society?</a:t>
            </a:r>
          </a:p>
          <a:p>
            <a:pPr lvl="1"/>
            <a:r>
              <a:rPr lang="en-US" dirty="0"/>
              <a:t>Includes individual and social benefits, individual and social costs.</a:t>
            </a:r>
          </a:p>
          <a:p>
            <a:r>
              <a:rPr lang="en-US" dirty="0"/>
              <a:t>How might these be precisely assigned?</a:t>
            </a:r>
          </a:p>
          <a:p>
            <a:r>
              <a:rPr lang="en-US" dirty="0"/>
              <a:t>If the benefits and costs are misaligned or unequal, by what arrangement might this be altered?</a:t>
            </a:r>
          </a:p>
          <a:p>
            <a:r>
              <a:rPr lang="en-US" dirty="0"/>
              <a:t>This provides a valuable dimension to understanding any policy problem.</a:t>
            </a:r>
          </a:p>
        </p:txBody>
      </p:sp>
    </p:spTree>
    <p:extLst>
      <p:ext uri="{BB962C8B-B14F-4D97-AF65-F5344CB8AC3E}">
        <p14:creationId xmlns:p14="http://schemas.microsoft.com/office/powerpoint/2010/main" val="186017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7000"/>
                <a:hueMod val="88000"/>
                <a:satMod val="130000"/>
                <a:lumMod val="124000"/>
              </a:schemeClr>
            </a:gs>
            <a:gs pos="100000">
              <a:schemeClr val="bg1">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0487C8F-7D6C-4EAF-A9A5-45D8E94FC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A3B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578DA0F-394A-417D-892B-8253831A2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2" descr="A screenshot of a cell phone&#10;&#10;Description generated with very high confidence">
            <a:extLst>
              <a:ext uri="{FF2B5EF4-FFF2-40B4-BE49-F238E27FC236}">
                <a16:creationId xmlns:a16="http://schemas.microsoft.com/office/drawing/2014/main" id="{5ADFB9C6-3314-4606-A1F8-7C7DB45246F4}"/>
              </a:ext>
            </a:extLst>
          </p:cNvPr>
          <p:cNvPicPr>
            <a:picLocks noChangeAspect="1"/>
          </p:cNvPicPr>
          <p:nvPr/>
        </p:nvPicPr>
        <p:blipFill>
          <a:blip r:embed="rId3"/>
          <a:stretch>
            <a:fillRect/>
          </a:stretch>
        </p:blipFill>
        <p:spPr>
          <a:xfrm>
            <a:off x="2381956" y="643467"/>
            <a:ext cx="7428088" cy="5571066"/>
          </a:xfrm>
          <a:prstGeom prst="rect">
            <a:avLst/>
          </a:prstGeom>
        </p:spPr>
      </p:pic>
    </p:spTree>
    <p:extLst>
      <p:ext uri="{BB962C8B-B14F-4D97-AF65-F5344CB8AC3E}">
        <p14:creationId xmlns:p14="http://schemas.microsoft.com/office/powerpoint/2010/main" val="3594804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Merit Goods</a:t>
            </a:r>
          </a:p>
        </p:txBody>
      </p:sp>
      <p:sp>
        <p:nvSpPr>
          <p:cNvPr id="3" name="Content Placeholder 2"/>
          <p:cNvSpPr>
            <a:spLocks noGrp="1"/>
          </p:cNvSpPr>
          <p:nvPr>
            <p:ph idx="1"/>
          </p:nvPr>
        </p:nvSpPr>
        <p:spPr/>
        <p:txBody>
          <a:bodyPr vert="horz" lIns="91440" tIns="45720" rIns="91440" bIns="45720" rtlCol="0" anchor="t">
            <a:normAutofit/>
          </a:bodyPr>
          <a:lstStyle/>
          <a:p>
            <a:r>
              <a:rPr lang="en-US"/>
              <a:t>One example of impure public good is a merit good.</a:t>
            </a:r>
            <a:endParaRPr lang="en-US" dirty="0"/>
          </a:p>
          <a:p>
            <a:r>
              <a:rPr lang="en-US"/>
              <a:t>Reflects a concern that some individuals might not act in their own </a:t>
            </a:r>
            <a:r>
              <a:rPr lang="en-US" dirty="0"/>
              <a:t>best interests.</a:t>
            </a:r>
            <a:endParaRPr lang="en-US"/>
          </a:p>
          <a:p>
            <a:r>
              <a:rPr lang="en-US" dirty="0"/>
              <a:t>Even when fully informed some people might make poor decisions.</a:t>
            </a:r>
          </a:p>
          <a:p>
            <a:r>
              <a:rPr lang="en-US"/>
              <a:t>An individual’s perception of their own welfare may be an unreliable criterion for making welfare judgments. </a:t>
            </a:r>
          </a:p>
          <a:p>
            <a:r>
              <a:rPr lang="en-US" dirty="0"/>
              <a:t>In this case, government basically steps in and provides goods that </a:t>
            </a:r>
            <a:r>
              <a:rPr lang="en-US"/>
              <a:t>are in the best interests of society.</a:t>
            </a:r>
          </a:p>
        </p:txBody>
      </p:sp>
      <p:sp>
        <p:nvSpPr>
          <p:cNvPr id="5" name="Footer Placeholder 4"/>
          <p:cNvSpPr>
            <a:spLocks noGrp="1"/>
          </p:cNvSpPr>
          <p:nvPr>
            <p:ph type="ftr" sz="quarter" idx="11"/>
          </p:nvPr>
        </p:nvSpPr>
        <p:spPr/>
        <p:txBody>
          <a:bodyPr/>
          <a:lstStyle/>
          <a:p>
            <a:r>
              <a:rPr lang="nl-NL"/>
              <a:t>POLS 6330 Public Finance Theory</a:t>
            </a:r>
            <a:endParaRPr lang="en-US"/>
          </a:p>
        </p:txBody>
      </p:sp>
      <p:sp>
        <p:nvSpPr>
          <p:cNvPr id="6" name="Slide Number Placeholder 5"/>
          <p:cNvSpPr>
            <a:spLocks noGrp="1"/>
          </p:cNvSpPr>
          <p:nvPr>
            <p:ph type="sldNum" sz="quarter" idx="12"/>
          </p:nvPr>
        </p:nvSpPr>
        <p:spPr/>
        <p:txBody>
          <a:bodyPr/>
          <a:lstStyle/>
          <a:p>
            <a:fld id="{98BA2A1B-C4DB-4748-B560-E3B8550C6AD3}" type="slidenum">
              <a:rPr lang="en-US" smtClean="0"/>
              <a:pPr/>
              <a:t>7</a:t>
            </a:fld>
            <a:endParaRPr lang="en-US"/>
          </a:p>
        </p:txBody>
      </p:sp>
    </p:spTree>
    <p:extLst>
      <p:ext uri="{BB962C8B-B14F-4D97-AF65-F5344CB8AC3E}">
        <p14:creationId xmlns:p14="http://schemas.microsoft.com/office/powerpoint/2010/main" val="407749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Merit Goods</a:t>
            </a:r>
          </a:p>
        </p:txBody>
      </p:sp>
      <p:sp>
        <p:nvSpPr>
          <p:cNvPr id="3" name="Content Placeholder 2"/>
          <p:cNvSpPr>
            <a:spLocks noGrp="1"/>
          </p:cNvSpPr>
          <p:nvPr>
            <p:ph idx="1"/>
          </p:nvPr>
        </p:nvSpPr>
        <p:spPr/>
        <p:txBody>
          <a:bodyPr vert="horz" lIns="91440" tIns="45720" rIns="91440" bIns="45720" rtlCol="0" anchor="t">
            <a:normAutofit/>
          </a:bodyPr>
          <a:lstStyle/>
          <a:p>
            <a:r>
              <a:rPr lang="en-US" dirty="0"/>
              <a:t>For example, smoking, not wearing seat belts, not wearing safety helmets, not purchasing health insurance, etc.</a:t>
            </a:r>
          </a:p>
          <a:p>
            <a:r>
              <a:rPr lang="en-US" dirty="0"/>
              <a:t>In these and other cases, individuals must be compelled to consume certain kinds of goods for their “own good”.</a:t>
            </a:r>
          </a:p>
          <a:p>
            <a:r>
              <a:rPr lang="en-US" dirty="0"/>
              <a:t>Libertarians, like Milton Friedman, oppose most forms of merit goods including </a:t>
            </a:r>
            <a:r>
              <a:rPr lang="en-US" dirty="0">
                <a:hlinkClick r:id="rId3"/>
              </a:rPr>
              <a:t>Social Security</a:t>
            </a:r>
            <a:r>
              <a:rPr lang="en-US" dirty="0"/>
              <a:t>.</a:t>
            </a:r>
          </a:p>
          <a:p>
            <a:r>
              <a:rPr lang="en-US" dirty="0">
                <a:hlinkClick r:id="rId4"/>
              </a:rPr>
              <a:t>Residents of Lake Charles, La,</a:t>
            </a:r>
            <a:r>
              <a:rPr lang="en-US"/>
              <a:t> oppose environmental regulations even though they are the ones who are most affected by industry.</a:t>
            </a:r>
          </a:p>
        </p:txBody>
      </p:sp>
      <p:sp>
        <p:nvSpPr>
          <p:cNvPr id="5" name="Footer Placeholder 4"/>
          <p:cNvSpPr>
            <a:spLocks noGrp="1"/>
          </p:cNvSpPr>
          <p:nvPr>
            <p:ph type="ftr" sz="quarter" idx="11"/>
          </p:nvPr>
        </p:nvSpPr>
        <p:spPr/>
        <p:txBody>
          <a:bodyPr/>
          <a:lstStyle/>
          <a:p>
            <a:r>
              <a:rPr lang="nl-NL"/>
              <a:t>POLS 6330 Public Finance Theory</a:t>
            </a:r>
            <a:endParaRPr lang="en-US"/>
          </a:p>
        </p:txBody>
      </p:sp>
      <p:sp>
        <p:nvSpPr>
          <p:cNvPr id="6" name="Slide Number Placeholder 5"/>
          <p:cNvSpPr>
            <a:spLocks noGrp="1"/>
          </p:cNvSpPr>
          <p:nvPr>
            <p:ph type="sldNum" sz="quarter" idx="12"/>
          </p:nvPr>
        </p:nvSpPr>
        <p:spPr/>
        <p:txBody>
          <a:bodyPr/>
          <a:lstStyle/>
          <a:p>
            <a:fld id="{98BA2A1B-C4DB-4748-B560-E3B8550C6AD3}" type="slidenum">
              <a:rPr lang="en-US" smtClean="0"/>
              <a:pPr/>
              <a:t>8</a:t>
            </a:fld>
            <a:endParaRPr lang="en-US"/>
          </a:p>
        </p:txBody>
      </p:sp>
    </p:spTree>
    <p:extLst>
      <p:ext uri="{BB962C8B-B14F-4D97-AF65-F5344CB8AC3E}">
        <p14:creationId xmlns:p14="http://schemas.microsoft.com/office/powerpoint/2010/main" val="407749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altLang="en-US" b="1" dirty="0">
                <a:ea typeface="ＭＳ Ｐゴシック" pitchFamily="34" charset="-128"/>
              </a:rPr>
              <a:t>EXCESSIVE PRODUCTION OF GOODS YIELDING NEGATIVE EXTERNALITIES </a:t>
            </a:r>
            <a:br>
              <a:rPr lang="en-US" altLang="en-US" b="1" dirty="0">
                <a:ea typeface="ＭＳ Ｐゴシック" pitchFamily="34" charset="-128"/>
              </a:rPr>
            </a:br>
            <a:endParaRPr lang="en-US" dirty="0"/>
          </a:p>
        </p:txBody>
      </p:sp>
      <p:sp>
        <p:nvSpPr>
          <p:cNvPr id="3" name="Content Placeholder 2"/>
          <p:cNvSpPr>
            <a:spLocks noGrp="1"/>
          </p:cNvSpPr>
          <p:nvPr>
            <p:ph idx="1"/>
          </p:nvPr>
        </p:nvSpPr>
        <p:spPr/>
        <p:txBody>
          <a:bodyPr>
            <a:normAutofit/>
          </a:bodyPr>
          <a:lstStyle/>
          <a:p>
            <a:r>
              <a:rPr lang="en-US" altLang="en-US" dirty="0">
                <a:ea typeface="ＭＳ Ｐゴシック" pitchFamily="34" charset="-128"/>
              </a:rPr>
              <a:t>The presence of  negative externality means that marginal social costs (MSC) exceed marginal private costs (MC), and the market equilibrium will entail an excessive production of the commodity. </a:t>
            </a:r>
          </a:p>
          <a:p>
            <a:pPr lvl="1"/>
            <a:r>
              <a:rPr lang="en-US" altLang="en-US" dirty="0">
                <a:ea typeface="ＭＳ Ｐゴシック" pitchFamily="34" charset="-128"/>
              </a:rPr>
              <a:t>Output exceeds what is socially efficient.</a:t>
            </a:r>
          </a:p>
          <a:p>
            <a:r>
              <a:rPr lang="en-US" altLang="en-US" i="1" dirty="0" err="1">
                <a:ea typeface="ＭＳ Ｐゴシック" pitchFamily="34" charset="-128"/>
              </a:rPr>
              <a:t>Q</a:t>
            </a:r>
            <a:r>
              <a:rPr lang="en-US" altLang="en-US" i="1" baseline="-25000" dirty="0" err="1">
                <a:ea typeface="ＭＳ Ｐゴシック" pitchFamily="34" charset="-128"/>
              </a:rPr>
              <a:t>m</a:t>
            </a:r>
            <a:r>
              <a:rPr lang="en-US" altLang="en-US" dirty="0">
                <a:ea typeface="ＭＳ Ｐゴシック" pitchFamily="34" charset="-128"/>
              </a:rPr>
              <a:t> is market equilibrium, </a:t>
            </a:r>
            <a:r>
              <a:rPr lang="en-US" altLang="en-US" i="1" dirty="0" err="1">
                <a:ea typeface="ＭＳ Ｐゴシック" pitchFamily="34" charset="-128"/>
              </a:rPr>
              <a:t>Q</a:t>
            </a:r>
            <a:r>
              <a:rPr lang="en-US" altLang="en-US" i="1" baseline="-25000" dirty="0" err="1">
                <a:ea typeface="ＭＳ Ｐゴシック" pitchFamily="34" charset="-128"/>
              </a:rPr>
              <a:t>e</a:t>
            </a:r>
            <a:r>
              <a:rPr lang="en-US" altLang="en-US" dirty="0">
                <a:ea typeface="ＭＳ Ｐゴシック" pitchFamily="34" charset="-128"/>
              </a:rPr>
              <a:t> is the efﬁcient level of output (next slide).</a:t>
            </a:r>
          </a:p>
          <a:p>
            <a:r>
              <a:rPr lang="en-US" altLang="en-US" dirty="0">
                <a:ea typeface="ＭＳ Ｐゴシック" pitchFamily="34" charset="-128"/>
              </a:rPr>
              <a:t>Producing at </a:t>
            </a:r>
            <a:r>
              <a:rPr lang="en-US" altLang="en-US" i="1" dirty="0" err="1">
                <a:ea typeface="ＭＳ Ｐゴシック" pitchFamily="34" charset="-128"/>
              </a:rPr>
              <a:t>Q</a:t>
            </a:r>
            <a:r>
              <a:rPr lang="en-US" altLang="en-US" i="1" baseline="-25000" dirty="0" err="1">
                <a:ea typeface="ＭＳ Ｐゴシック" pitchFamily="34" charset="-128"/>
              </a:rPr>
              <a:t>m</a:t>
            </a:r>
            <a:r>
              <a:rPr lang="en-US" altLang="en-US" i="1" baseline="-25000" dirty="0">
                <a:ea typeface="ＭＳ Ｐゴシック" pitchFamily="34" charset="-128"/>
              </a:rPr>
              <a:t> </a:t>
            </a:r>
            <a:r>
              <a:rPr lang="en-US" altLang="en-US" i="1" dirty="0">
                <a:ea typeface="ＭＳ Ｐゴシック" pitchFamily="34" charset="-128"/>
              </a:rPr>
              <a:t> </a:t>
            </a:r>
            <a:r>
              <a:rPr lang="en-US" altLang="en-US" dirty="0">
                <a:ea typeface="ＭＳ Ｐゴシック" pitchFamily="34" charset="-128"/>
              </a:rPr>
              <a:t>means that the producer fails to take into account the social costs.</a:t>
            </a:r>
          </a:p>
          <a:p>
            <a:r>
              <a:rPr lang="en-US" altLang="en-US" dirty="0">
                <a:ea typeface="ＭＳ Ｐゴシック" pitchFamily="34" charset="-128"/>
              </a:rPr>
              <a:t>In practical terms, means too much pollution or whatever “bad” being produced. </a:t>
            </a:r>
          </a:p>
          <a:p>
            <a:endParaRPr lang="en-US" dirty="0"/>
          </a:p>
        </p:txBody>
      </p:sp>
    </p:spTree>
    <p:extLst>
      <p:ext uri="{BB962C8B-B14F-4D97-AF65-F5344CB8AC3E}">
        <p14:creationId xmlns:p14="http://schemas.microsoft.com/office/powerpoint/2010/main" val="891046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Much is Too Much?</a:t>
            </a:r>
          </a:p>
        </p:txBody>
      </p:sp>
      <p:pic>
        <p:nvPicPr>
          <p:cNvPr id="4" name="Content Placeholder 3" descr="Screen Shot 2018-09-26 at 1.27.18 PM.png"/>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00288" y="2116931"/>
            <a:ext cx="6553200" cy="4067175"/>
          </a:xfrm>
        </p:spPr>
      </p:pic>
    </p:spTree>
    <p:extLst>
      <p:ext uri="{BB962C8B-B14F-4D97-AF65-F5344CB8AC3E}">
        <p14:creationId xmlns:p14="http://schemas.microsoft.com/office/powerpoint/2010/main" val="45145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1" descr="Figure 6.1 is entitled &quot;Excessive Production of Good Yielding Negative Externalities&quot; and is a line graph that shows conventional demand and supply curves. The x-axis represents the quantity of steel and the y-axis represents the price. The presence of a negative externality means that marginal social costs exceed marginal private costs, and the market equilibrium will entail an excessive production of the commodity. Qm, or market equilibrium, is where the demand curve and marginal social cost intersect. Qe, or the efficient level of output, is where the demand curve and supply curve intersec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08201" y="1892300"/>
            <a:ext cx="7956551" cy="4203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p:txBody>
          <a:bodyPr>
            <a:normAutofit/>
          </a:bodyPr>
          <a:lstStyle/>
          <a:p>
            <a:r>
              <a:rPr lang="en-US" dirty="0"/>
              <a:t>EXTERNALITIES AND OVER PRODUCTION</a:t>
            </a:r>
          </a:p>
        </p:txBody>
      </p:sp>
    </p:spTree>
    <p:extLst>
      <p:ext uri="{BB962C8B-B14F-4D97-AF65-F5344CB8AC3E}">
        <p14:creationId xmlns:p14="http://schemas.microsoft.com/office/powerpoint/2010/main" val="3493179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COMMON RESOURCE PROBLEM</a:t>
            </a:r>
          </a:p>
        </p:txBody>
      </p:sp>
      <p:sp>
        <p:nvSpPr>
          <p:cNvPr id="6" name="Text Placeholder 5"/>
          <p:cNvSpPr>
            <a:spLocks noGrp="1"/>
          </p:cNvSpPr>
          <p:nvPr>
            <p:ph type="body" idx="1"/>
          </p:nvPr>
        </p:nvSpPr>
        <p:spPr/>
        <p:txBody>
          <a:bodyPr/>
          <a:lstStyle/>
          <a:p>
            <a:endParaRPr lang="en-US"/>
          </a:p>
        </p:txBody>
      </p:sp>
      <p:sp>
        <p:nvSpPr>
          <p:cNvPr id="4" name="Content Placeholder 3"/>
          <p:cNvSpPr>
            <a:spLocks noGrp="1"/>
          </p:cNvSpPr>
          <p:nvPr>
            <p:ph sz="half" idx="2"/>
          </p:nvPr>
        </p:nvSpPr>
        <p:spPr/>
        <p:txBody>
          <a:bodyPr>
            <a:normAutofit fontScale="92500" lnSpcReduction="20000"/>
          </a:bodyPr>
          <a:lstStyle/>
          <a:p>
            <a:r>
              <a:rPr lang="en-US" altLang="en-US" dirty="0">
                <a:ea typeface="ＭＳ Ｐゴシック" pitchFamily="34" charset="-128"/>
              </a:rPr>
              <a:t>They refer to a pool of scarce resources to which access is unrestricted.</a:t>
            </a:r>
          </a:p>
          <a:p>
            <a:r>
              <a:rPr lang="en-US" altLang="en-US" dirty="0">
                <a:ea typeface="ＭＳ Ｐゴシック" pitchFamily="34" charset="-128"/>
              </a:rPr>
              <a:t>Can give rise to a common problem known as </a:t>
            </a:r>
            <a:r>
              <a:rPr lang="en-US" altLang="en-US" dirty="0">
                <a:ea typeface="ＭＳ Ｐゴシック" pitchFamily="34" charset="-128"/>
                <a:hlinkClick r:id="rId3"/>
              </a:rPr>
              <a:t>tragedy of the commons</a:t>
            </a:r>
            <a:r>
              <a:rPr lang="en-US" altLang="en-US" dirty="0">
                <a:ea typeface="ＭＳ Ｐゴシック" pitchFamily="34" charset="-128"/>
              </a:rPr>
              <a:t>.</a:t>
            </a:r>
          </a:p>
          <a:p>
            <a:r>
              <a:rPr lang="en-US" altLang="en-US" dirty="0">
                <a:ea typeface="ＭＳ Ｐゴシック" pitchFamily="34" charset="-128"/>
              </a:rPr>
              <a:t>Imagine a lake stocked with fish in which the nearby town has universal access.</a:t>
            </a:r>
          </a:p>
          <a:p>
            <a:r>
              <a:rPr lang="en-US" altLang="en-US" dirty="0">
                <a:ea typeface="ＭＳ Ｐゴシック" pitchFamily="34" charset="-128"/>
              </a:rPr>
              <a:t>The extra output of an additional boat is less than the average output. </a:t>
            </a:r>
          </a:p>
          <a:p>
            <a:r>
              <a:rPr lang="en-US" altLang="en-US" dirty="0">
                <a:ea typeface="ＭＳ Ｐゴシック" pitchFamily="34" charset="-128"/>
              </a:rPr>
              <a:t>There will be an excessive number of boats.</a:t>
            </a:r>
          </a:p>
          <a:p>
            <a:r>
              <a:rPr lang="en-US" altLang="en-US" dirty="0">
                <a:ea typeface="ＭＳ Ｐゴシック" pitchFamily="34" charset="-128"/>
              </a:rPr>
              <a:t>Each additional boat reduces the catch of the other boats.</a:t>
            </a:r>
          </a:p>
          <a:p>
            <a:endParaRPr lang="en-US" altLang="en-US" dirty="0">
              <a:ea typeface="ＭＳ Ｐゴシック" pitchFamily="34" charset="-128"/>
            </a:endParaRPr>
          </a:p>
          <a:p>
            <a:endParaRPr lang="en-US" dirty="0"/>
          </a:p>
        </p:txBody>
      </p:sp>
      <p:sp>
        <p:nvSpPr>
          <p:cNvPr id="7" name="Text Placeholder 6"/>
          <p:cNvSpPr>
            <a:spLocks noGrp="1"/>
          </p:cNvSpPr>
          <p:nvPr>
            <p:ph type="body" sz="quarter" idx="3"/>
          </p:nvPr>
        </p:nvSpPr>
        <p:spPr/>
        <p:txBody>
          <a:bodyPr/>
          <a:lstStyle/>
          <a:p>
            <a:r>
              <a:rPr lang="en-US"/>
              <a:t>What is the common resource here?</a:t>
            </a:r>
          </a:p>
        </p:txBody>
      </p:sp>
      <p:pic>
        <p:nvPicPr>
          <p:cNvPr id="5" name="Content Placeholder 4" descr="Screen Shot 2018-09-26 at 1.38.43 PM.png"/>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5654675" y="2955153"/>
            <a:ext cx="4395788" cy="2860632"/>
          </a:xfrm>
        </p:spPr>
      </p:pic>
    </p:spTree>
    <p:extLst>
      <p:ext uri="{BB962C8B-B14F-4D97-AF65-F5344CB8AC3E}">
        <p14:creationId xmlns:p14="http://schemas.microsoft.com/office/powerpoint/2010/main" val="1039896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Figure 6.2 is a line graph entitled &quot;Common Resource Problem Leads to Excessive Fishing.&quot; This graph shows that the marginal social benefit of an additional boat is less than the average catch of each boat because some of the fish that the additional boat catches would have been caught by some other boat. The extra output of an additional boat is less than the average output. The end result is that there will be an excessive number of boat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24101" y="1892300"/>
            <a:ext cx="7531100" cy="4203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1851" y="365761"/>
            <a:ext cx="10515600" cy="1526540"/>
          </a:xfrm>
        </p:spPr>
        <p:txBody>
          <a:bodyPr>
            <a:normAutofit fontScale="90000"/>
          </a:bodyPr>
          <a:lstStyle/>
          <a:p>
            <a:pPr algn="ctr"/>
            <a:r>
              <a:rPr lang="en-US" altLang="en-US" b="1" dirty="0">
                <a:ea typeface="ＭＳ Ｐゴシック" pitchFamily="34" charset="-128"/>
              </a:rPr>
              <a:t>COMMON RESOURCE PROBLEM LEADS TO EXCESSIVE FISHING</a:t>
            </a:r>
            <a:br>
              <a:rPr lang="en-US" altLang="en-US" b="1" dirty="0">
                <a:ea typeface="ＭＳ Ｐゴシック" pitchFamily="34" charset="-128"/>
              </a:rPr>
            </a:br>
            <a:endParaRPr lang="en-US" dirty="0"/>
          </a:p>
        </p:txBody>
      </p:sp>
    </p:spTree>
    <p:extLst>
      <p:ext uri="{BB962C8B-B14F-4D97-AF65-F5344CB8AC3E}">
        <p14:creationId xmlns:p14="http://schemas.microsoft.com/office/powerpoint/2010/main" val="1599414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MARKET-BASED SOLUTIONS  TO COMMON RESOURCE </a:t>
            </a:r>
          </a:p>
        </p:txBody>
      </p:sp>
      <p:sp>
        <p:nvSpPr>
          <p:cNvPr id="3" name="Content Placeholder 2"/>
          <p:cNvSpPr>
            <a:spLocks noGrp="1"/>
          </p:cNvSpPr>
          <p:nvPr>
            <p:ph idx="1"/>
          </p:nvPr>
        </p:nvSpPr>
        <p:spPr/>
        <p:txBody>
          <a:bodyPr/>
          <a:lstStyle/>
          <a:p>
            <a:r>
              <a:rPr lang="en-US" dirty="0"/>
              <a:t>Levy a fine or tax in proportion to the amount of pollution.</a:t>
            </a:r>
          </a:p>
          <a:p>
            <a:r>
              <a:rPr lang="en-US" dirty="0"/>
              <a:t>Such a fine or tax would present the firm with the true social costs of its actions.</a:t>
            </a:r>
          </a:p>
          <a:p>
            <a:r>
              <a:rPr lang="en-US" dirty="0"/>
              <a:t>Pigouvian taxes—designed to make marginal private costs equal marginal social costs.</a:t>
            </a:r>
          </a:p>
          <a:p>
            <a:r>
              <a:rPr lang="en-US" dirty="0"/>
              <a:t>On the next slide, without a tax, the producers set price equal to MC thereby resulting in excessive production (and pollution). </a:t>
            </a:r>
          </a:p>
        </p:txBody>
      </p:sp>
    </p:spTree>
    <p:extLst>
      <p:ext uri="{BB962C8B-B14F-4D97-AF65-F5344CB8AC3E}">
        <p14:creationId xmlns:p14="http://schemas.microsoft.com/office/powerpoint/2010/main" val="3995345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3" descr="Figure 6.3 is a line graph entitled &quot;Market Equilibrium With and Without Fines.&quot; In this graph we have assumed that the amount of pollution is proportional to the level of output, and the marginal cost of each unit of pollution is fixed; hence, by imposing a fixed charge per unit of output, equal to the marginal social cost of pollution, each firm will be induced to produce the socially efficient level of output. In the absence of a tax on pollution, firms will set a price equal to marginal private cost. There will be excessive production (Qm). By setting a tax equal to the marginal pollution cost, efficiency is obtained."/>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17701" y="1892300"/>
            <a:ext cx="8343900" cy="4203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normAutofit fontScale="90000"/>
          </a:bodyPr>
          <a:lstStyle/>
          <a:p>
            <a:pPr algn="ctr"/>
            <a:r>
              <a:rPr lang="en-US" altLang="en-US" b="1" dirty="0">
                <a:ea typeface="ＭＳ Ｐゴシック" pitchFamily="34" charset="-128"/>
              </a:rPr>
              <a:t>MARKET EQUILIBRIUM WITH AND WITHOUT FINES</a:t>
            </a:r>
            <a:br>
              <a:rPr lang="en-US" altLang="en-US" b="1" dirty="0">
                <a:ea typeface="ＭＳ Ｐゴシック" pitchFamily="34" charset="-128"/>
              </a:rPr>
            </a:br>
            <a:endParaRPr lang="en-US" dirty="0"/>
          </a:p>
        </p:txBody>
      </p:sp>
    </p:spTree>
    <p:extLst>
      <p:ext uri="{BB962C8B-B14F-4D97-AF65-F5344CB8AC3E}">
        <p14:creationId xmlns:p14="http://schemas.microsoft.com/office/powerpoint/2010/main" val="3922017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EFFICIENT POLLUTION CONTROL</a:t>
            </a:r>
          </a:p>
        </p:txBody>
      </p:sp>
      <p:sp>
        <p:nvSpPr>
          <p:cNvPr id="3" name="Content Placeholder 2"/>
          <p:cNvSpPr>
            <a:spLocks noGrp="1"/>
          </p:cNvSpPr>
          <p:nvPr>
            <p:ph idx="1"/>
          </p:nvPr>
        </p:nvSpPr>
        <p:spPr/>
        <p:txBody>
          <a:bodyPr>
            <a:normAutofit/>
          </a:bodyPr>
          <a:lstStyle/>
          <a:p>
            <a:r>
              <a:rPr lang="en-US" altLang="en-US" dirty="0">
                <a:ea typeface="ＭＳ Ｐゴシック" pitchFamily="34" charset="-128"/>
              </a:rPr>
              <a:t>Firms can reduce pollution by producing less or changing production methods.</a:t>
            </a:r>
          </a:p>
          <a:p>
            <a:pPr lvl="1"/>
            <a:r>
              <a:rPr lang="en-US" altLang="en-US" dirty="0">
                <a:ea typeface="ＭＳ Ｐゴシック" pitchFamily="34" charset="-128"/>
              </a:rPr>
              <a:t>Can also charge more for product, which should result in lower demand; but firm will not willingly charge more must have an incentive.</a:t>
            </a:r>
          </a:p>
          <a:p>
            <a:r>
              <a:rPr lang="en-US" altLang="en-US" dirty="0">
                <a:ea typeface="ＭＳ Ｐゴシック" pitchFamily="34" charset="-128"/>
              </a:rPr>
              <a:t>Fines related directly to the amount of pollution will ensure that firms will use the most efficient pollution abatement methods.</a:t>
            </a:r>
          </a:p>
          <a:p>
            <a:r>
              <a:rPr lang="en-US" altLang="en-US" dirty="0">
                <a:ea typeface="ＭＳ Ｐゴシック" pitchFamily="34" charset="-128"/>
              </a:rPr>
              <a:t>The efﬁcient level of pollution can be attained either by charging ﬁrms a ﬁne of </a:t>
            </a:r>
            <a:r>
              <a:rPr lang="en-US" altLang="en-US" i="1" dirty="0">
                <a:ea typeface="ＭＳ Ｐゴシック" pitchFamily="34" charset="-128"/>
              </a:rPr>
              <a:t>f</a:t>
            </a:r>
            <a:r>
              <a:rPr lang="en-US" altLang="en-US" dirty="0">
                <a:ea typeface="ＭＳ Ｐゴシック" pitchFamily="34" charset="-128"/>
              </a:rPr>
              <a:t>* per unit of pollution (say, measured by the number of particles added to the air) or by imposing a regulation that ﬁrms have a pollution abatement level </a:t>
            </a:r>
            <a:r>
              <a:rPr lang="en-US" altLang="en-US" i="1" dirty="0">
                <a:ea typeface="ＭＳ Ｐゴシック" pitchFamily="34" charset="-128"/>
              </a:rPr>
              <a:t>P</a:t>
            </a:r>
            <a:r>
              <a:rPr lang="en-US" altLang="en-US" dirty="0">
                <a:ea typeface="ＭＳ Ｐゴシック" pitchFamily="34" charset="-128"/>
              </a:rPr>
              <a:t>*.</a:t>
            </a:r>
          </a:p>
          <a:p>
            <a:endParaRPr lang="en-US" dirty="0"/>
          </a:p>
        </p:txBody>
      </p:sp>
    </p:spTree>
    <p:extLst>
      <p:ext uri="{BB962C8B-B14F-4D97-AF65-F5344CB8AC3E}">
        <p14:creationId xmlns:p14="http://schemas.microsoft.com/office/powerpoint/2010/main" val="909351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1" descr="Figure 6.4 is a line graph entitled &quot;Efficient Control of Pollution.&quot; This graph compares the price for pollution and level of pollution abatement. The efficient level of pollution can be attained either by charging firms a fine of f* per unit of pollution (say, measured by the number of particles added to the air) or by imposing a regulation that firms have a pollution abatement level P*. The marginal cost of pollution depicted in this graph is directly related to the marginal benefit of pollution abatement depicted in the next line graph, Figure 6.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0701" y="1892300"/>
            <a:ext cx="8597900" cy="4203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normAutofit fontScale="90000"/>
          </a:bodyPr>
          <a:lstStyle/>
          <a:p>
            <a:pPr algn="ctr"/>
            <a:r>
              <a:rPr lang="en-US" altLang="en-US" b="1" dirty="0">
                <a:ea typeface="ＭＳ Ｐゴシック" pitchFamily="34" charset="-128"/>
              </a:rPr>
              <a:t>EFFICIENT CONTROL OF POLLUTION</a:t>
            </a:r>
            <a:br>
              <a:rPr lang="en-US" altLang="en-US" b="1" dirty="0">
                <a:ea typeface="ＭＳ Ｐゴシック" pitchFamily="34" charset="-128"/>
              </a:rPr>
            </a:br>
            <a:endParaRPr lang="en-US" dirty="0"/>
          </a:p>
        </p:txBody>
      </p:sp>
    </p:spTree>
    <p:extLst>
      <p:ext uri="{BB962C8B-B14F-4D97-AF65-F5344CB8AC3E}">
        <p14:creationId xmlns:p14="http://schemas.microsoft.com/office/powerpoint/2010/main" val="1239398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EFFECTS OF A PIGOUVIAN TAX</a:t>
            </a:r>
          </a:p>
        </p:txBody>
      </p:sp>
      <p:pic>
        <p:nvPicPr>
          <p:cNvPr id="4" name="Content Placeholder 3" descr="Screen Shot 2018-09-26 at 3.47.01 PM.png"/>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14613" y="2531269"/>
            <a:ext cx="5924550" cy="3238500"/>
          </a:xfrm>
        </p:spPr>
      </p:pic>
    </p:spTree>
    <p:extLst>
      <p:ext uri="{BB962C8B-B14F-4D97-AF65-F5344CB8AC3E}">
        <p14:creationId xmlns:p14="http://schemas.microsoft.com/office/powerpoint/2010/main" val="1222334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lgn="ctr"/>
            <a:r>
              <a:rPr lang="en-US" altLang="en-US" b="1" dirty="0">
                <a:ea typeface="ＭＳ Ｐゴシック" pitchFamily="34" charset="-128"/>
              </a:rPr>
              <a:t>POLLUTION ABATEMENT SUBSIDIES</a:t>
            </a:r>
            <a:br>
              <a:rPr lang="en-US" altLang="en-US" b="1" dirty="0">
                <a:ea typeface="ＭＳ Ｐゴシック" pitchFamily="34" charset="-128"/>
              </a:rPr>
            </a:br>
            <a:endParaRPr lang="en-US" dirty="0"/>
          </a:p>
        </p:txBody>
      </p:sp>
      <p:sp>
        <p:nvSpPr>
          <p:cNvPr id="4" name="Content Placeholder 3"/>
          <p:cNvSpPr>
            <a:spLocks noGrp="1"/>
          </p:cNvSpPr>
          <p:nvPr>
            <p:ph idx="1"/>
          </p:nvPr>
        </p:nvSpPr>
        <p:spPr/>
        <p:txBody>
          <a:bodyPr/>
          <a:lstStyle/>
          <a:p>
            <a:r>
              <a:rPr lang="en-US" altLang="en-US" dirty="0">
                <a:ea typeface="ＭＳ Ｐゴシック" pitchFamily="34" charset="-128"/>
              </a:rPr>
              <a:t>Firms have little incentive to make expenditures on pollution abatement.</a:t>
            </a:r>
          </a:p>
          <a:p>
            <a:r>
              <a:rPr lang="en-US" altLang="en-US" dirty="0">
                <a:ea typeface="ＭＳ Ｐゴシック" pitchFamily="34" charset="-128"/>
              </a:rPr>
              <a:t>Rather than taxing pollution, government could subsidize the firms’ pollution abatement expenditures.</a:t>
            </a:r>
          </a:p>
          <a:p>
            <a:r>
              <a:rPr lang="en-US" altLang="en-US" dirty="0">
                <a:ea typeface="ＭＳ Ｐゴシック" pitchFamily="34" charset="-128"/>
              </a:rPr>
              <a:t>By subsidizing the purchase of pollution abatement equipment (by the difference between marginal social beneﬁt of pollution abatement and marginal private beneﬁt), an efﬁcient level of expenditure on pollution abatement can be attained.</a:t>
            </a:r>
          </a:p>
          <a:p>
            <a:endParaRPr lang="en-US" dirty="0"/>
          </a:p>
        </p:txBody>
      </p:sp>
    </p:spTree>
    <p:extLst>
      <p:ext uri="{BB962C8B-B14F-4D97-AF65-F5344CB8AC3E}">
        <p14:creationId xmlns:p14="http://schemas.microsoft.com/office/powerpoint/2010/main" val="135395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Figure 6.5 is entitled &quot;Pollution Abatement Subsidies.&quot; In this line graph, marginal costs are constant. The x-axis illustrates the quantity of pollution abatement equipment per unit output. The graph illustrates that by providing a subsidy equal to the difference between the marginal social benefit of pollution abatement and the firm’s marginal private benefit, the efficient level of pollution abatement expenditures can be attained."/>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06600" y="1892300"/>
            <a:ext cx="8172451" cy="4203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normAutofit fontScale="90000"/>
          </a:bodyPr>
          <a:lstStyle/>
          <a:p>
            <a:pPr algn="ctr"/>
            <a:r>
              <a:rPr lang="en-US" altLang="en-US" b="1" dirty="0">
                <a:ea typeface="ＭＳ Ｐゴシック" pitchFamily="34" charset="-128"/>
              </a:rPr>
              <a:t>POLLUTION ABATEMENT SUBSIDIES</a:t>
            </a:r>
            <a:br>
              <a:rPr lang="en-US" altLang="en-US" b="1" dirty="0">
                <a:ea typeface="ＭＳ Ｐゴシック" pitchFamily="34" charset="-128"/>
              </a:rPr>
            </a:br>
            <a:endParaRPr lang="en-US" dirty="0"/>
          </a:p>
        </p:txBody>
      </p:sp>
    </p:spTree>
    <p:extLst>
      <p:ext uri="{BB962C8B-B14F-4D97-AF65-F5344CB8AC3E}">
        <p14:creationId xmlns:p14="http://schemas.microsoft.com/office/powerpoint/2010/main" val="1388535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altLang="en-US" b="1" dirty="0">
                <a:ea typeface="ＭＳ Ｐゴシック" pitchFamily="34" charset="-128"/>
              </a:rPr>
              <a:t>POLLUTION ABATEMENT SUBSIDIES</a:t>
            </a:r>
            <a:br>
              <a:rPr lang="en-US" altLang="en-US" b="1" dirty="0">
                <a:ea typeface="ＭＳ Ｐゴシック" pitchFamily="34" charset="-128"/>
              </a:rPr>
            </a:br>
            <a:endParaRPr lang="en-US" dirty="0"/>
          </a:p>
        </p:txBody>
      </p:sp>
      <p:sp>
        <p:nvSpPr>
          <p:cNvPr id="3" name="Content Placeholder 2"/>
          <p:cNvSpPr>
            <a:spLocks noGrp="1"/>
          </p:cNvSpPr>
          <p:nvPr>
            <p:ph idx="1"/>
          </p:nvPr>
        </p:nvSpPr>
        <p:spPr/>
        <p:txBody>
          <a:bodyPr>
            <a:normAutofit/>
          </a:bodyPr>
          <a:lstStyle/>
          <a:p>
            <a:r>
              <a:rPr lang="en-US" altLang="en-US" dirty="0">
                <a:ea typeface="ＭＳ Ｐゴシック" pitchFamily="34" charset="-128"/>
              </a:rPr>
              <a:t>The problem is that this remedy does not attain a socially efficient resource allocation.</a:t>
            </a:r>
          </a:p>
          <a:p>
            <a:r>
              <a:rPr lang="en-US" altLang="en-US" dirty="0">
                <a:ea typeface="ＭＳ Ｐゴシック" pitchFamily="34" charset="-128"/>
              </a:rPr>
              <a:t>Even after the pollution abatement subsidy, the equilibrium level of output of steel is still inefﬁcient; the ﬁrm fails to take into account the extra costs of public subsidies for pollution abatement associated with increased output of steel as well as the marginal social cost of any remaining pollution.</a:t>
            </a:r>
          </a:p>
          <a:p>
            <a:r>
              <a:rPr lang="en-US" altLang="en-US" dirty="0">
                <a:ea typeface="ＭＳ Ｐゴシック" pitchFamily="34" charset="-128"/>
              </a:rPr>
              <a:t>As before, the MSC of steel production exceeds the </a:t>
            </a:r>
            <a:r>
              <a:rPr lang="en-US" altLang="en-US">
                <a:ea typeface="ＭＳ Ｐゴシック" pitchFamily="34" charset="-128"/>
              </a:rPr>
              <a:t>marginal private cost.</a:t>
            </a:r>
            <a:endParaRPr lang="en-US" altLang="en-US" dirty="0">
              <a:ea typeface="ＭＳ Ｐゴシック" pitchFamily="34" charset="-128"/>
            </a:endParaRPr>
          </a:p>
          <a:p>
            <a:endParaRPr lang="en-US" dirty="0"/>
          </a:p>
        </p:txBody>
      </p:sp>
    </p:spTree>
    <p:extLst>
      <p:ext uri="{BB962C8B-B14F-4D97-AF65-F5344CB8AC3E}">
        <p14:creationId xmlns:p14="http://schemas.microsoft.com/office/powerpoint/2010/main" val="118959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1" descr="Figure 6.6 is entitled &quot;Market Equilibrium with Pollution Abatement Subsidies&quot; and consists of a line graph showing that the pollution abatement subsidy reduces the marginal social cost of output, but it also reduces the marginal private costs. There is still an excessive level of production of steel, as illustrated by point Qs, which represents the output after subsidy. Even after the pollution abatement subsidy, the equilibrium level of output of steel is still inefficient; the firm fails to take into account the extra costs of public subsidies for pollution abatement associated with increased output of steel, as well as the marginal social cost of any remaining pollutio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14501" y="1892300"/>
            <a:ext cx="8750300" cy="4203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1851" y="525167"/>
            <a:ext cx="10515600" cy="1184252"/>
          </a:xfrm>
        </p:spPr>
        <p:txBody>
          <a:bodyPr>
            <a:normAutofit fontScale="90000"/>
          </a:bodyPr>
          <a:lstStyle/>
          <a:p>
            <a:pPr algn="ctr"/>
            <a:r>
              <a:rPr lang="en-US" altLang="en-US" b="1" dirty="0">
                <a:ea typeface="ＭＳ Ｐゴシック" pitchFamily="34" charset="-128"/>
              </a:rPr>
              <a:t>MARKET EQUILIBRIUM WITH POLLUTION ABATEMENT SUBSIDIES</a:t>
            </a:r>
            <a:br>
              <a:rPr lang="en-US" altLang="en-US" b="1" dirty="0">
                <a:ea typeface="ＭＳ Ｐゴシック" pitchFamily="34" charset="-128"/>
              </a:rPr>
            </a:br>
            <a:endParaRPr lang="en-US" dirty="0"/>
          </a:p>
        </p:txBody>
      </p:sp>
    </p:spTree>
    <p:extLst>
      <p:ext uri="{BB962C8B-B14F-4D97-AF65-F5344CB8AC3E}">
        <p14:creationId xmlns:p14="http://schemas.microsoft.com/office/powerpoint/2010/main" val="4254804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PRIVATE SECTOR SOLUTIONS TO EXTERNALITIES</a:t>
            </a:r>
          </a:p>
        </p:txBody>
      </p:sp>
      <p:sp>
        <p:nvSpPr>
          <p:cNvPr id="3" name="Content Placeholder 2"/>
          <p:cNvSpPr>
            <a:spLocks noGrp="1"/>
          </p:cNvSpPr>
          <p:nvPr>
            <p:ph idx="1"/>
          </p:nvPr>
        </p:nvSpPr>
        <p:spPr/>
        <p:txBody>
          <a:bodyPr>
            <a:normAutofit/>
          </a:bodyPr>
          <a:lstStyle/>
          <a:p>
            <a:r>
              <a:rPr lang="en-US" dirty="0"/>
              <a:t>Are externalities really outside the market?</a:t>
            </a:r>
          </a:p>
          <a:p>
            <a:r>
              <a:rPr lang="en-US" dirty="0"/>
              <a:t>Key question raised by Ronald Coase.</a:t>
            </a:r>
          </a:p>
          <a:p>
            <a:r>
              <a:rPr lang="en-US" dirty="0"/>
              <a:t>Internalizing the externality: When either private negotiations or government action lead the price to the party to fully reflect the external costs or benefits of that party’s actions.</a:t>
            </a:r>
          </a:p>
          <a:p>
            <a:r>
              <a:rPr lang="en-US" dirty="0"/>
              <a:t>Coase Theorem (Part I): When there are well-defined property rights and costless bargaining, then negotiations between the party creating the externality and the party affected by the externality can bring about the socially optimal market quantity.</a:t>
            </a:r>
          </a:p>
        </p:txBody>
      </p:sp>
    </p:spTree>
    <p:extLst>
      <p:ext uri="{BB962C8B-B14F-4D97-AF65-F5344CB8AC3E}">
        <p14:creationId xmlns:p14="http://schemas.microsoft.com/office/powerpoint/2010/main" val="2102789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USING COASE TO CORRECT EXTERNALITIES</a:t>
            </a:r>
          </a:p>
        </p:txBody>
      </p:sp>
      <p:pic>
        <p:nvPicPr>
          <p:cNvPr id="4" name="Content Placeholder 3" descr="Screen Shot 2018-09-26 at 4.23.19 PM.png"/>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05025" y="2393156"/>
            <a:ext cx="6943725" cy="3514725"/>
          </a:xfrm>
        </p:spPr>
      </p:pic>
    </p:spTree>
    <p:extLst>
      <p:ext uri="{BB962C8B-B14F-4D97-AF65-F5344CB8AC3E}">
        <p14:creationId xmlns:p14="http://schemas.microsoft.com/office/powerpoint/2010/main" val="1611227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algn="ctr"/>
            <a:r>
              <a:rPr lang="en-US" dirty="0"/>
              <a:t>PRIVATE SECTOR SOLUTIONS TO EXTERNALITIES</a:t>
            </a:r>
          </a:p>
        </p:txBody>
      </p:sp>
      <p:sp>
        <p:nvSpPr>
          <p:cNvPr id="5" name="Content Placeholder 4"/>
          <p:cNvSpPr>
            <a:spLocks noGrp="1"/>
          </p:cNvSpPr>
          <p:nvPr>
            <p:ph sz="half" idx="1"/>
          </p:nvPr>
        </p:nvSpPr>
        <p:spPr/>
        <p:txBody>
          <a:bodyPr/>
          <a:lstStyle/>
          <a:p>
            <a:r>
              <a:rPr lang="en-US" dirty="0"/>
              <a:t>Coase Theorem (Part II): The efficient solution to an externality does not depend on which party is assigned the property rights, as long as someone is assigned those rights. </a:t>
            </a:r>
          </a:p>
          <a:p>
            <a:r>
              <a:rPr lang="en-US" dirty="0"/>
              <a:t>Coase’s is appealing to economists because it represents a market-based solution to externalities.</a:t>
            </a:r>
          </a:p>
          <a:p>
            <a:r>
              <a:rPr lang="en-US" dirty="0"/>
              <a:t>The advantage of the market is that avoids government coercion by letting everyone act on their own self-interest (in theory).</a:t>
            </a:r>
          </a:p>
        </p:txBody>
      </p:sp>
      <p:pic>
        <p:nvPicPr>
          <p:cNvPr id="7" name="Content Placeholder 6"/>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654675" y="3472668"/>
            <a:ext cx="4395788" cy="1366815"/>
          </a:xfrm>
        </p:spPr>
      </p:pic>
    </p:spTree>
    <p:extLst>
      <p:ext uri="{BB962C8B-B14F-4D97-AF65-F5344CB8AC3E}">
        <p14:creationId xmlns:p14="http://schemas.microsoft.com/office/powerpoint/2010/main" val="39764335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Advantage.thmx</Template>
  <TotalTime>490</TotalTime>
  <Words>1996</Words>
  <Application>Microsoft Office PowerPoint</Application>
  <PresentationFormat>Widescreen</PresentationFormat>
  <Paragraphs>139</Paragraphs>
  <Slides>25</Slides>
  <Notes>22</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Ion</vt:lpstr>
      <vt:lpstr>Theory of Public finance</vt:lpstr>
      <vt:lpstr>Overview</vt:lpstr>
      <vt:lpstr>Market Failure</vt:lpstr>
      <vt:lpstr>Public Good Market </vt:lpstr>
      <vt:lpstr>THE LOGIC OF PUBLIC ECONOMICS </vt:lpstr>
      <vt:lpstr>PowerPoint Presentation</vt:lpstr>
      <vt:lpstr>Merit Goods</vt:lpstr>
      <vt:lpstr>Merit Goods</vt:lpstr>
      <vt:lpstr>EXCESSIVE PRODUCTION OF GOODS YIELDING NEGATIVE EXTERNALITIES  </vt:lpstr>
      <vt:lpstr>How Much is Too Much?</vt:lpstr>
      <vt:lpstr>EXTERNALITIES AND OVER PRODUCTION</vt:lpstr>
      <vt:lpstr>COMMON RESOURCE PROBLEM</vt:lpstr>
      <vt:lpstr>COMMON RESOURCE PROBLEM LEADS TO EXCESSIVE FISHING </vt:lpstr>
      <vt:lpstr>MARKET-BASED SOLUTIONS  TO COMMON RESOURCE </vt:lpstr>
      <vt:lpstr>MARKET EQUILIBRIUM WITH AND WITHOUT FINES </vt:lpstr>
      <vt:lpstr>EFFICIENT POLLUTION CONTROL</vt:lpstr>
      <vt:lpstr>EFFICIENT CONTROL OF POLLUTION </vt:lpstr>
      <vt:lpstr>EFFECTS OF A PIGOUVIAN TAX</vt:lpstr>
      <vt:lpstr>POLLUTION ABATEMENT SUBSIDIES </vt:lpstr>
      <vt:lpstr>POLLUTION ABATEMENT SUBSIDIES </vt:lpstr>
      <vt:lpstr>POLLUTION ABATEMENT SUBSIDIES </vt:lpstr>
      <vt:lpstr>MARKET EQUILIBRIUM WITH POLLUTION ABATEMENT SUBSIDIES </vt:lpstr>
      <vt:lpstr>PRIVATE SECTOR SOLUTIONS TO EXTERNALITIES</vt:lpstr>
      <vt:lpstr>USING COASE TO CORRECT EXTERNALITIES</vt:lpstr>
      <vt:lpstr>PRIVATE SECTOR SOLUTIONS TO EXTERNALITIES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Sector Economics</dc:title>
  <dc:creator>Bob Cropf</dc:creator>
  <cp:lastModifiedBy>Robert Cropf</cp:lastModifiedBy>
  <cp:revision>357</cp:revision>
  <dcterms:created xsi:type="dcterms:W3CDTF">2017-02-11T15:35:29Z</dcterms:created>
  <dcterms:modified xsi:type="dcterms:W3CDTF">2020-02-24T17:20:09Z</dcterms:modified>
</cp:coreProperties>
</file>